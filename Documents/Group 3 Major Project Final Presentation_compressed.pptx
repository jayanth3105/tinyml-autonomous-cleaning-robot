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 id="2147483660" r:id="rId2"/>
  </p:sldMasterIdLst>
  <p:notesMasterIdLst>
    <p:notesMasterId r:id="rId50"/>
  </p:notesMasterIdLst>
  <p:sldIdLst>
    <p:sldId id="270" r:id="rId3"/>
    <p:sldId id="277" r:id="rId4"/>
    <p:sldId id="266" r:id="rId5"/>
    <p:sldId id="316" r:id="rId6"/>
    <p:sldId id="317" r:id="rId7"/>
    <p:sldId id="312" r:id="rId8"/>
    <p:sldId id="322" r:id="rId9"/>
    <p:sldId id="323" r:id="rId10"/>
    <p:sldId id="334" r:id="rId11"/>
    <p:sldId id="341" r:id="rId12"/>
    <p:sldId id="342" r:id="rId13"/>
    <p:sldId id="343" r:id="rId14"/>
    <p:sldId id="344" r:id="rId15"/>
    <p:sldId id="345" r:id="rId16"/>
    <p:sldId id="346" r:id="rId17"/>
    <p:sldId id="335" r:id="rId18"/>
    <p:sldId id="351" r:id="rId19"/>
    <p:sldId id="321" r:id="rId20"/>
    <p:sldId id="318" r:id="rId21"/>
    <p:sldId id="305" r:id="rId22"/>
    <p:sldId id="308" r:id="rId23"/>
    <p:sldId id="325" r:id="rId24"/>
    <p:sldId id="326" r:id="rId25"/>
    <p:sldId id="347" r:id="rId26"/>
    <p:sldId id="336" r:id="rId27"/>
    <p:sldId id="352" r:id="rId28"/>
    <p:sldId id="353" r:id="rId29"/>
    <p:sldId id="354" r:id="rId30"/>
    <p:sldId id="355" r:id="rId31"/>
    <p:sldId id="337" r:id="rId32"/>
    <p:sldId id="356" r:id="rId33"/>
    <p:sldId id="357" r:id="rId34"/>
    <p:sldId id="358" r:id="rId35"/>
    <p:sldId id="359" r:id="rId36"/>
    <p:sldId id="361" r:id="rId37"/>
    <p:sldId id="360" r:id="rId38"/>
    <p:sldId id="327" r:id="rId39"/>
    <p:sldId id="328" r:id="rId40"/>
    <p:sldId id="349" r:id="rId41"/>
    <p:sldId id="350" r:id="rId42"/>
    <p:sldId id="362" r:id="rId43"/>
    <p:sldId id="338" r:id="rId44"/>
    <p:sldId id="363" r:id="rId45"/>
    <p:sldId id="303" r:id="rId46"/>
    <p:sldId id="324" r:id="rId47"/>
    <p:sldId id="348" r:id="rId48"/>
    <p:sldId id="275" r:id="rId4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mala Sweekruth" initials="NS" lastIdx="1" clrIdx="0">
    <p:extLst>
      <p:ext uri="{19B8F6BF-5375-455C-9EA6-DF929625EA0E}">
        <p15:presenceInfo xmlns:p15="http://schemas.microsoft.com/office/powerpoint/2012/main" userId="81c16e3ae77e42ea" providerId="Windows Live"/>
      </p:ext>
    </p:extLst>
  </p:cmAuthor>
  <p:cmAuthor id="2" name="SIDDARTHA ROYAL" initials="SR" lastIdx="1" clrIdx="1">
    <p:extLst>
      <p:ext uri="{19B8F6BF-5375-455C-9EA6-DF929625EA0E}">
        <p15:presenceInfo xmlns:p15="http://schemas.microsoft.com/office/powerpoint/2012/main" userId="4915368698bd44b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7F9406C-38D6-4A78-B208-37EDC5EEAE43}">
  <a:tblStyle styleId="{E7F9406C-38D6-4A78-B208-37EDC5EEAE4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0139" autoAdjust="0"/>
  </p:normalViewPr>
  <p:slideViewPr>
    <p:cSldViewPr snapToGrid="0">
      <p:cViewPr varScale="1">
        <p:scale>
          <a:sx n="102" d="100"/>
          <a:sy n="102" d="100"/>
        </p:scale>
        <p:origin x="922"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0DC60F-468F-41CF-89A0-ABFAF6EF9C01}" type="doc">
      <dgm:prSet loTypeId="urn:microsoft.com/office/officeart/2005/8/layout/process1" loCatId="process" qsTypeId="urn:microsoft.com/office/officeart/2005/8/quickstyle/simple1" qsCatId="simple" csTypeId="urn:microsoft.com/office/officeart/2005/8/colors/accent1_2" csCatId="accent1" phldr="1"/>
      <dgm:spPr/>
    </dgm:pt>
    <dgm:pt modelId="{9295FB6D-A74C-4C3D-9F4E-8BF47658AA48}" type="pres">
      <dgm:prSet presAssocID="{820DC60F-468F-41CF-89A0-ABFAF6EF9C01}" presName="Name0" presStyleCnt="0">
        <dgm:presLayoutVars>
          <dgm:dir/>
          <dgm:resizeHandles val="exact"/>
        </dgm:presLayoutVars>
      </dgm:prSet>
      <dgm:spPr/>
    </dgm:pt>
  </dgm:ptLst>
  <dgm:cxnLst>
    <dgm:cxn modelId="{B38DE4C3-A756-416A-8754-126B68DC714D}" type="presOf" srcId="{820DC60F-468F-41CF-89A0-ABFAF6EF9C01}" destId="{9295FB6D-A74C-4C3D-9F4E-8BF47658AA48}" srcOrd="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0DD808-0B8E-4B7A-A818-27B0F36FACFF}" type="doc">
      <dgm:prSet loTypeId="urn:microsoft.com/office/officeart/2009/3/layout/StepUpProcess" loCatId="process" qsTypeId="urn:microsoft.com/office/officeart/2005/8/quickstyle/simple3" qsCatId="simple" csTypeId="urn:microsoft.com/office/officeart/2005/8/colors/accent1_2" csCatId="accent1" phldr="1"/>
      <dgm:spPr/>
      <dgm:t>
        <a:bodyPr/>
        <a:lstStyle/>
        <a:p>
          <a:endParaRPr lang="en-IN"/>
        </a:p>
      </dgm:t>
    </dgm:pt>
    <dgm:pt modelId="{DEF607B0-599A-4337-894E-F694427DE11E}">
      <dgm:prSet phldrT="[Text]" custT="1"/>
      <dgm:spPr/>
      <dgm:t>
        <a:bodyPr/>
        <a:lstStyle/>
        <a:p>
          <a:r>
            <a:rPr lang="en-IN" sz="800" b="1" dirty="0"/>
            <a:t>Turning on the robot</a:t>
          </a:r>
        </a:p>
      </dgm:t>
    </dgm:pt>
    <dgm:pt modelId="{4CDB2DC8-2D1B-4B13-8234-68316F53D62E}" type="parTrans" cxnId="{420F76D9-BF8C-470B-B753-6D639D3E4A23}">
      <dgm:prSet/>
      <dgm:spPr/>
      <dgm:t>
        <a:bodyPr/>
        <a:lstStyle/>
        <a:p>
          <a:endParaRPr lang="en-IN" sz="800"/>
        </a:p>
      </dgm:t>
    </dgm:pt>
    <dgm:pt modelId="{7599F62C-493C-4980-9254-9679DB1D5E33}" type="sibTrans" cxnId="{420F76D9-BF8C-470B-B753-6D639D3E4A23}">
      <dgm:prSet custT="1"/>
      <dgm:spPr/>
      <dgm:t>
        <a:bodyPr/>
        <a:lstStyle/>
        <a:p>
          <a:endParaRPr lang="en-IN" sz="800"/>
        </a:p>
      </dgm:t>
    </dgm:pt>
    <dgm:pt modelId="{35E4D0CC-AB75-4C03-AA56-D75BC2C5D8F6}">
      <dgm:prSet phldrT="[Text]" custT="1"/>
      <dgm:spPr/>
      <dgm:t>
        <a:bodyPr/>
        <a:lstStyle/>
        <a:p>
          <a:r>
            <a:rPr lang="en-IN" sz="800" b="1" i="0" dirty="0"/>
            <a:t>Sensor Detection</a:t>
          </a:r>
        </a:p>
      </dgm:t>
    </dgm:pt>
    <dgm:pt modelId="{2442FF8F-91C7-428A-9F8C-ED91B557A012}" type="parTrans" cxnId="{28809CF0-FB6C-45D1-B3EA-D3D28FB6CF02}">
      <dgm:prSet/>
      <dgm:spPr/>
      <dgm:t>
        <a:bodyPr/>
        <a:lstStyle/>
        <a:p>
          <a:endParaRPr lang="en-IN" sz="800"/>
        </a:p>
      </dgm:t>
    </dgm:pt>
    <dgm:pt modelId="{DA82C340-0496-443E-BAE1-AC3D0E9855A6}" type="sibTrans" cxnId="{28809CF0-FB6C-45D1-B3EA-D3D28FB6CF02}">
      <dgm:prSet custT="1"/>
      <dgm:spPr/>
      <dgm:t>
        <a:bodyPr/>
        <a:lstStyle/>
        <a:p>
          <a:endParaRPr lang="en-IN" sz="800"/>
        </a:p>
      </dgm:t>
    </dgm:pt>
    <dgm:pt modelId="{CFE56808-4E8F-41C0-9962-2FAB7EE6217C}">
      <dgm:prSet phldrT="[Text]" custT="1"/>
      <dgm:spPr/>
      <dgm:t>
        <a:bodyPr/>
        <a:lstStyle/>
        <a:p>
          <a:r>
            <a:rPr lang="en-IN" sz="800" b="1" i="0" dirty="0"/>
            <a:t>Data Acquisition</a:t>
          </a:r>
          <a:endParaRPr lang="en-IN" sz="800" dirty="0"/>
        </a:p>
      </dgm:t>
    </dgm:pt>
    <dgm:pt modelId="{5F8BFBFF-0AEA-42FA-B061-11D259147EFE}" type="parTrans" cxnId="{3E056E58-CD0B-455F-98A3-25B0CA35C74F}">
      <dgm:prSet/>
      <dgm:spPr/>
      <dgm:t>
        <a:bodyPr/>
        <a:lstStyle/>
        <a:p>
          <a:endParaRPr lang="en-IN" sz="800"/>
        </a:p>
      </dgm:t>
    </dgm:pt>
    <dgm:pt modelId="{51CDB2C8-DAFA-4295-9366-6587F2AB3702}" type="sibTrans" cxnId="{3E056E58-CD0B-455F-98A3-25B0CA35C74F}">
      <dgm:prSet custT="1"/>
      <dgm:spPr/>
      <dgm:t>
        <a:bodyPr/>
        <a:lstStyle/>
        <a:p>
          <a:endParaRPr lang="en-IN" sz="800"/>
        </a:p>
      </dgm:t>
    </dgm:pt>
    <dgm:pt modelId="{1E34DD47-F77D-42EE-BF15-7237A201D09A}">
      <dgm:prSet custT="1"/>
      <dgm:spPr/>
      <dgm:t>
        <a:bodyPr/>
        <a:lstStyle/>
        <a:p>
          <a:r>
            <a:rPr lang="en-IN" sz="800" b="1" i="0" dirty="0"/>
            <a:t>Data Processing</a:t>
          </a:r>
        </a:p>
      </dgm:t>
    </dgm:pt>
    <dgm:pt modelId="{2E0E3093-9AD7-46DB-85C8-F47A2D4A81B2}" type="parTrans" cxnId="{FA744948-F78E-4FB2-905F-C66E88215126}">
      <dgm:prSet/>
      <dgm:spPr/>
      <dgm:t>
        <a:bodyPr/>
        <a:lstStyle/>
        <a:p>
          <a:endParaRPr lang="en-IN" sz="800"/>
        </a:p>
      </dgm:t>
    </dgm:pt>
    <dgm:pt modelId="{F0972B7F-3F4A-448D-84F0-8D41D0702C38}" type="sibTrans" cxnId="{FA744948-F78E-4FB2-905F-C66E88215126}">
      <dgm:prSet custT="1"/>
      <dgm:spPr/>
      <dgm:t>
        <a:bodyPr/>
        <a:lstStyle/>
        <a:p>
          <a:endParaRPr lang="en-IN" sz="800"/>
        </a:p>
      </dgm:t>
    </dgm:pt>
    <dgm:pt modelId="{59DA93FD-3CD1-44BB-9C98-FC52E0A3A11A}">
      <dgm:prSet custT="1"/>
      <dgm:spPr/>
      <dgm:t>
        <a:bodyPr/>
        <a:lstStyle/>
        <a:p>
          <a:r>
            <a:rPr lang="en-IN" sz="800" b="1" i="0" dirty="0"/>
            <a:t>Debris Detection</a:t>
          </a:r>
        </a:p>
      </dgm:t>
    </dgm:pt>
    <dgm:pt modelId="{18A36BED-8286-4E38-9E87-E0C2C56E4F6D}" type="parTrans" cxnId="{BE851A3C-DD7B-477E-9D6A-CEAED86FA5E0}">
      <dgm:prSet/>
      <dgm:spPr/>
      <dgm:t>
        <a:bodyPr/>
        <a:lstStyle/>
        <a:p>
          <a:endParaRPr lang="en-IN" sz="800"/>
        </a:p>
      </dgm:t>
    </dgm:pt>
    <dgm:pt modelId="{54235378-20C8-4DF4-A1FF-1B6EB8E413FD}" type="sibTrans" cxnId="{BE851A3C-DD7B-477E-9D6A-CEAED86FA5E0}">
      <dgm:prSet custT="1"/>
      <dgm:spPr/>
      <dgm:t>
        <a:bodyPr/>
        <a:lstStyle/>
        <a:p>
          <a:endParaRPr lang="en-IN" sz="800"/>
        </a:p>
      </dgm:t>
    </dgm:pt>
    <dgm:pt modelId="{ACD50452-C703-48B2-89C8-33A2264FC343}">
      <dgm:prSet custT="1"/>
      <dgm:spPr/>
      <dgm:t>
        <a:bodyPr/>
        <a:lstStyle/>
        <a:p>
          <a:r>
            <a:rPr lang="en-IN" sz="800" b="1" i="0" dirty="0"/>
            <a:t>Decision Making</a:t>
          </a:r>
        </a:p>
      </dgm:t>
    </dgm:pt>
    <dgm:pt modelId="{CEB04155-9C97-4254-A385-65D21922E507}" type="parTrans" cxnId="{6419ADBE-76C9-4A8D-9406-28D469AC3353}">
      <dgm:prSet/>
      <dgm:spPr/>
      <dgm:t>
        <a:bodyPr/>
        <a:lstStyle/>
        <a:p>
          <a:endParaRPr lang="en-IN" sz="800"/>
        </a:p>
      </dgm:t>
    </dgm:pt>
    <dgm:pt modelId="{CE12E334-6124-4A7A-8C3D-3F61F7DCA4CC}" type="sibTrans" cxnId="{6419ADBE-76C9-4A8D-9406-28D469AC3353}">
      <dgm:prSet custT="1"/>
      <dgm:spPr/>
      <dgm:t>
        <a:bodyPr/>
        <a:lstStyle/>
        <a:p>
          <a:endParaRPr lang="en-IN" sz="800"/>
        </a:p>
      </dgm:t>
    </dgm:pt>
    <dgm:pt modelId="{24D65A3C-D260-4B5D-B82F-AC9DA599E2B4}">
      <dgm:prSet custT="1"/>
      <dgm:spPr/>
      <dgm:t>
        <a:bodyPr/>
        <a:lstStyle/>
        <a:p>
          <a:r>
            <a:rPr lang="en-IN" sz="800" b="1" i="0" dirty="0"/>
            <a:t>Action Implementation</a:t>
          </a:r>
        </a:p>
      </dgm:t>
    </dgm:pt>
    <dgm:pt modelId="{5A9A9235-40F2-4411-AA92-1886346C07D9}" type="parTrans" cxnId="{CCDBD79E-9DCD-4EA4-8D65-C54E556E0025}">
      <dgm:prSet/>
      <dgm:spPr/>
      <dgm:t>
        <a:bodyPr/>
        <a:lstStyle/>
        <a:p>
          <a:endParaRPr lang="en-IN" sz="800"/>
        </a:p>
      </dgm:t>
    </dgm:pt>
    <dgm:pt modelId="{D29BEE16-6B1C-44AB-8461-33935C1A395F}" type="sibTrans" cxnId="{CCDBD79E-9DCD-4EA4-8D65-C54E556E0025}">
      <dgm:prSet custT="1"/>
      <dgm:spPr/>
      <dgm:t>
        <a:bodyPr/>
        <a:lstStyle/>
        <a:p>
          <a:endParaRPr lang="en-IN" sz="800"/>
        </a:p>
      </dgm:t>
    </dgm:pt>
    <dgm:pt modelId="{D82B0954-C367-4FA3-94DA-C2776F26D8FF}">
      <dgm:prSet custT="1"/>
      <dgm:spPr/>
      <dgm:t>
        <a:bodyPr/>
        <a:lstStyle/>
        <a:p>
          <a:r>
            <a:rPr lang="en-IN" sz="800" b="1" i="0" dirty="0"/>
            <a:t>Cleaning Mechanism Activation</a:t>
          </a:r>
        </a:p>
      </dgm:t>
    </dgm:pt>
    <dgm:pt modelId="{AA6CF53F-39EC-471D-926B-C02A2917059D}" type="parTrans" cxnId="{D4FCDE1D-8BC2-41B5-BEA4-68B506AB0C64}">
      <dgm:prSet/>
      <dgm:spPr/>
      <dgm:t>
        <a:bodyPr/>
        <a:lstStyle/>
        <a:p>
          <a:endParaRPr lang="en-IN" sz="800"/>
        </a:p>
      </dgm:t>
    </dgm:pt>
    <dgm:pt modelId="{6E2877E9-32A9-4449-91DF-33013A6E6675}" type="sibTrans" cxnId="{D4FCDE1D-8BC2-41B5-BEA4-68B506AB0C64}">
      <dgm:prSet custT="1"/>
      <dgm:spPr/>
      <dgm:t>
        <a:bodyPr/>
        <a:lstStyle/>
        <a:p>
          <a:endParaRPr lang="en-IN" sz="800"/>
        </a:p>
      </dgm:t>
    </dgm:pt>
    <dgm:pt modelId="{28873757-CA4A-4261-B867-E4A39149CAD9}">
      <dgm:prSet custT="1"/>
      <dgm:spPr/>
      <dgm:t>
        <a:bodyPr/>
        <a:lstStyle/>
        <a:p>
          <a:r>
            <a:rPr lang="en-IN" sz="800" b="1" i="0" dirty="0"/>
            <a:t>Cleaning Process</a:t>
          </a:r>
        </a:p>
      </dgm:t>
    </dgm:pt>
    <dgm:pt modelId="{ECCAC1CE-C7B3-4B99-932C-C5E7762E3B05}" type="parTrans" cxnId="{79A21288-4E0F-4063-BA7D-3BB22C95011F}">
      <dgm:prSet/>
      <dgm:spPr/>
      <dgm:t>
        <a:bodyPr/>
        <a:lstStyle/>
        <a:p>
          <a:endParaRPr lang="en-IN" sz="800"/>
        </a:p>
      </dgm:t>
    </dgm:pt>
    <dgm:pt modelId="{CC5AF67B-E86C-4B78-9C3E-5BD586E9E1D5}" type="sibTrans" cxnId="{79A21288-4E0F-4063-BA7D-3BB22C95011F}">
      <dgm:prSet custT="1"/>
      <dgm:spPr/>
      <dgm:t>
        <a:bodyPr/>
        <a:lstStyle/>
        <a:p>
          <a:endParaRPr lang="en-IN" sz="800"/>
        </a:p>
      </dgm:t>
    </dgm:pt>
    <dgm:pt modelId="{2BE71D20-13B1-499C-BA6C-3DEEB0F549AF}">
      <dgm:prSet custT="1"/>
      <dgm:spPr/>
      <dgm:t>
        <a:bodyPr/>
        <a:lstStyle/>
        <a:p>
          <a:r>
            <a:rPr lang="en-IN" sz="800" b="1" i="0" dirty="0"/>
            <a:t>Continuous Monitoring</a:t>
          </a:r>
        </a:p>
      </dgm:t>
    </dgm:pt>
    <dgm:pt modelId="{5FC1C323-812E-4917-85C8-630EB2D70151}" type="parTrans" cxnId="{658224C6-4744-4EEC-AA7E-5F39ADE197AE}">
      <dgm:prSet/>
      <dgm:spPr/>
      <dgm:t>
        <a:bodyPr/>
        <a:lstStyle/>
        <a:p>
          <a:endParaRPr lang="en-IN" sz="800"/>
        </a:p>
      </dgm:t>
    </dgm:pt>
    <dgm:pt modelId="{BA219D9D-6452-49BE-A80A-19E3DB6B999B}" type="sibTrans" cxnId="{658224C6-4744-4EEC-AA7E-5F39ADE197AE}">
      <dgm:prSet/>
      <dgm:spPr/>
      <dgm:t>
        <a:bodyPr/>
        <a:lstStyle/>
        <a:p>
          <a:endParaRPr lang="en-IN" sz="800"/>
        </a:p>
      </dgm:t>
    </dgm:pt>
    <dgm:pt modelId="{4462C6DF-3440-4CFB-B2C3-315C33D837F8}" type="pres">
      <dgm:prSet presAssocID="{B70DD808-0B8E-4B7A-A818-27B0F36FACFF}" presName="rootnode" presStyleCnt="0">
        <dgm:presLayoutVars>
          <dgm:chMax/>
          <dgm:chPref/>
          <dgm:dir/>
          <dgm:animLvl val="lvl"/>
        </dgm:presLayoutVars>
      </dgm:prSet>
      <dgm:spPr/>
    </dgm:pt>
    <dgm:pt modelId="{4B6277F6-7D7B-42A0-B80F-5F6C28C24EED}" type="pres">
      <dgm:prSet presAssocID="{DEF607B0-599A-4337-894E-F694427DE11E}" presName="composite" presStyleCnt="0"/>
      <dgm:spPr/>
    </dgm:pt>
    <dgm:pt modelId="{9FAC393E-A6BF-4F6B-9E07-C09BD0A59A8F}" type="pres">
      <dgm:prSet presAssocID="{DEF607B0-599A-4337-894E-F694427DE11E}" presName="LShape" presStyleLbl="alignNode1" presStyleIdx="0" presStyleCnt="19"/>
      <dgm:spPr/>
    </dgm:pt>
    <dgm:pt modelId="{AB0D87B0-4F49-4FD9-8FA2-195738A53D84}" type="pres">
      <dgm:prSet presAssocID="{DEF607B0-599A-4337-894E-F694427DE11E}" presName="ParentText" presStyleLbl="revTx" presStyleIdx="0" presStyleCnt="10">
        <dgm:presLayoutVars>
          <dgm:chMax val="0"/>
          <dgm:chPref val="0"/>
          <dgm:bulletEnabled val="1"/>
        </dgm:presLayoutVars>
      </dgm:prSet>
      <dgm:spPr/>
    </dgm:pt>
    <dgm:pt modelId="{1F211D48-827D-4E72-BAF8-ADFE83EE059C}" type="pres">
      <dgm:prSet presAssocID="{DEF607B0-599A-4337-894E-F694427DE11E}" presName="Triangle" presStyleLbl="alignNode1" presStyleIdx="1" presStyleCnt="19"/>
      <dgm:spPr/>
    </dgm:pt>
    <dgm:pt modelId="{FA9C1E83-C2B2-4689-822A-531E97AFD7CF}" type="pres">
      <dgm:prSet presAssocID="{7599F62C-493C-4980-9254-9679DB1D5E33}" presName="sibTrans" presStyleCnt="0"/>
      <dgm:spPr/>
    </dgm:pt>
    <dgm:pt modelId="{7B627982-E5FF-4792-92A3-BEA86143F235}" type="pres">
      <dgm:prSet presAssocID="{7599F62C-493C-4980-9254-9679DB1D5E33}" presName="space" presStyleCnt="0"/>
      <dgm:spPr/>
    </dgm:pt>
    <dgm:pt modelId="{C46F87D1-4DC7-4A0C-9990-F0C327EA1BA3}" type="pres">
      <dgm:prSet presAssocID="{35E4D0CC-AB75-4C03-AA56-D75BC2C5D8F6}" presName="composite" presStyleCnt="0"/>
      <dgm:spPr/>
    </dgm:pt>
    <dgm:pt modelId="{7D642EDC-C4DB-48E6-9D57-981331AAF07B}" type="pres">
      <dgm:prSet presAssocID="{35E4D0CC-AB75-4C03-AA56-D75BC2C5D8F6}" presName="LShape" presStyleLbl="alignNode1" presStyleIdx="2" presStyleCnt="19"/>
      <dgm:spPr/>
    </dgm:pt>
    <dgm:pt modelId="{27585176-B00B-4221-9196-B51E0163A097}" type="pres">
      <dgm:prSet presAssocID="{35E4D0CC-AB75-4C03-AA56-D75BC2C5D8F6}" presName="ParentText" presStyleLbl="revTx" presStyleIdx="1" presStyleCnt="10">
        <dgm:presLayoutVars>
          <dgm:chMax val="0"/>
          <dgm:chPref val="0"/>
          <dgm:bulletEnabled val="1"/>
        </dgm:presLayoutVars>
      </dgm:prSet>
      <dgm:spPr/>
    </dgm:pt>
    <dgm:pt modelId="{4EA89621-5972-4219-9DB3-A3F806896A09}" type="pres">
      <dgm:prSet presAssocID="{35E4D0CC-AB75-4C03-AA56-D75BC2C5D8F6}" presName="Triangle" presStyleLbl="alignNode1" presStyleIdx="3" presStyleCnt="19"/>
      <dgm:spPr/>
    </dgm:pt>
    <dgm:pt modelId="{2682C3B5-A3F8-407B-A3B3-6DB497724AB0}" type="pres">
      <dgm:prSet presAssocID="{DA82C340-0496-443E-BAE1-AC3D0E9855A6}" presName="sibTrans" presStyleCnt="0"/>
      <dgm:spPr/>
    </dgm:pt>
    <dgm:pt modelId="{7F5F2F7B-ABFB-4F5E-AF27-DF6DA1E5FA1A}" type="pres">
      <dgm:prSet presAssocID="{DA82C340-0496-443E-BAE1-AC3D0E9855A6}" presName="space" presStyleCnt="0"/>
      <dgm:spPr/>
    </dgm:pt>
    <dgm:pt modelId="{6D2B8D71-BE3C-4BA9-81FD-4098C20CF873}" type="pres">
      <dgm:prSet presAssocID="{CFE56808-4E8F-41C0-9962-2FAB7EE6217C}" presName="composite" presStyleCnt="0"/>
      <dgm:spPr/>
    </dgm:pt>
    <dgm:pt modelId="{82BA69F7-8561-4453-AD72-19016685C42D}" type="pres">
      <dgm:prSet presAssocID="{CFE56808-4E8F-41C0-9962-2FAB7EE6217C}" presName="LShape" presStyleLbl="alignNode1" presStyleIdx="4" presStyleCnt="19"/>
      <dgm:spPr/>
    </dgm:pt>
    <dgm:pt modelId="{AB141711-800E-47DC-8B47-CF7521F021B7}" type="pres">
      <dgm:prSet presAssocID="{CFE56808-4E8F-41C0-9962-2FAB7EE6217C}" presName="ParentText" presStyleLbl="revTx" presStyleIdx="2" presStyleCnt="10">
        <dgm:presLayoutVars>
          <dgm:chMax val="0"/>
          <dgm:chPref val="0"/>
          <dgm:bulletEnabled val="1"/>
        </dgm:presLayoutVars>
      </dgm:prSet>
      <dgm:spPr/>
    </dgm:pt>
    <dgm:pt modelId="{3B8C0799-89C8-4A7D-B2B7-BA921225F2B9}" type="pres">
      <dgm:prSet presAssocID="{CFE56808-4E8F-41C0-9962-2FAB7EE6217C}" presName="Triangle" presStyleLbl="alignNode1" presStyleIdx="5" presStyleCnt="19"/>
      <dgm:spPr/>
    </dgm:pt>
    <dgm:pt modelId="{CC0DBB79-035E-4B26-A092-A484F4F0B33E}" type="pres">
      <dgm:prSet presAssocID="{51CDB2C8-DAFA-4295-9366-6587F2AB3702}" presName="sibTrans" presStyleCnt="0"/>
      <dgm:spPr/>
    </dgm:pt>
    <dgm:pt modelId="{E85E69F5-C1FE-436E-8CBC-14DF5C76E52C}" type="pres">
      <dgm:prSet presAssocID="{51CDB2C8-DAFA-4295-9366-6587F2AB3702}" presName="space" presStyleCnt="0"/>
      <dgm:spPr/>
    </dgm:pt>
    <dgm:pt modelId="{2036D9FD-B0DA-491E-98E8-1E3765D75E76}" type="pres">
      <dgm:prSet presAssocID="{1E34DD47-F77D-42EE-BF15-7237A201D09A}" presName="composite" presStyleCnt="0"/>
      <dgm:spPr/>
    </dgm:pt>
    <dgm:pt modelId="{6B627E4E-04EB-4788-83E1-CE9A94024BED}" type="pres">
      <dgm:prSet presAssocID="{1E34DD47-F77D-42EE-BF15-7237A201D09A}" presName="LShape" presStyleLbl="alignNode1" presStyleIdx="6" presStyleCnt="19"/>
      <dgm:spPr/>
    </dgm:pt>
    <dgm:pt modelId="{DD92E0B9-D5D9-4EE9-823D-61190E97D39A}" type="pres">
      <dgm:prSet presAssocID="{1E34DD47-F77D-42EE-BF15-7237A201D09A}" presName="ParentText" presStyleLbl="revTx" presStyleIdx="3" presStyleCnt="10">
        <dgm:presLayoutVars>
          <dgm:chMax val="0"/>
          <dgm:chPref val="0"/>
          <dgm:bulletEnabled val="1"/>
        </dgm:presLayoutVars>
      </dgm:prSet>
      <dgm:spPr/>
    </dgm:pt>
    <dgm:pt modelId="{98C244C8-F615-4AEE-8728-AF521F179649}" type="pres">
      <dgm:prSet presAssocID="{1E34DD47-F77D-42EE-BF15-7237A201D09A}" presName="Triangle" presStyleLbl="alignNode1" presStyleIdx="7" presStyleCnt="19"/>
      <dgm:spPr/>
    </dgm:pt>
    <dgm:pt modelId="{5AB84022-61F2-4147-9CCD-84C691375DE4}" type="pres">
      <dgm:prSet presAssocID="{F0972B7F-3F4A-448D-84F0-8D41D0702C38}" presName="sibTrans" presStyleCnt="0"/>
      <dgm:spPr/>
    </dgm:pt>
    <dgm:pt modelId="{BE9C7A8F-C872-4C44-9957-E43BDF659649}" type="pres">
      <dgm:prSet presAssocID="{F0972B7F-3F4A-448D-84F0-8D41D0702C38}" presName="space" presStyleCnt="0"/>
      <dgm:spPr/>
    </dgm:pt>
    <dgm:pt modelId="{94E338D4-9641-4DB1-8DD4-12E3507FE5A4}" type="pres">
      <dgm:prSet presAssocID="{59DA93FD-3CD1-44BB-9C98-FC52E0A3A11A}" presName="composite" presStyleCnt="0"/>
      <dgm:spPr/>
    </dgm:pt>
    <dgm:pt modelId="{35E6D566-A3F6-4335-846C-C07E45D15FFE}" type="pres">
      <dgm:prSet presAssocID="{59DA93FD-3CD1-44BB-9C98-FC52E0A3A11A}" presName="LShape" presStyleLbl="alignNode1" presStyleIdx="8" presStyleCnt="19"/>
      <dgm:spPr/>
    </dgm:pt>
    <dgm:pt modelId="{C7EB3DDF-BF38-423E-8A0A-4A07153F2455}" type="pres">
      <dgm:prSet presAssocID="{59DA93FD-3CD1-44BB-9C98-FC52E0A3A11A}" presName="ParentText" presStyleLbl="revTx" presStyleIdx="4" presStyleCnt="10">
        <dgm:presLayoutVars>
          <dgm:chMax val="0"/>
          <dgm:chPref val="0"/>
          <dgm:bulletEnabled val="1"/>
        </dgm:presLayoutVars>
      </dgm:prSet>
      <dgm:spPr/>
    </dgm:pt>
    <dgm:pt modelId="{351FFAFA-38BE-4FF3-8C7D-E2DB3D493FA3}" type="pres">
      <dgm:prSet presAssocID="{59DA93FD-3CD1-44BB-9C98-FC52E0A3A11A}" presName="Triangle" presStyleLbl="alignNode1" presStyleIdx="9" presStyleCnt="19"/>
      <dgm:spPr/>
    </dgm:pt>
    <dgm:pt modelId="{8A7ADE84-87CD-403E-B391-674144ACC17E}" type="pres">
      <dgm:prSet presAssocID="{54235378-20C8-4DF4-A1FF-1B6EB8E413FD}" presName="sibTrans" presStyleCnt="0"/>
      <dgm:spPr/>
    </dgm:pt>
    <dgm:pt modelId="{BFEBE762-3286-4049-97B7-F1E2C9494209}" type="pres">
      <dgm:prSet presAssocID="{54235378-20C8-4DF4-A1FF-1B6EB8E413FD}" presName="space" presStyleCnt="0"/>
      <dgm:spPr/>
    </dgm:pt>
    <dgm:pt modelId="{D2553B0B-C3A6-4E59-8382-F4AC382FC7BE}" type="pres">
      <dgm:prSet presAssocID="{ACD50452-C703-48B2-89C8-33A2264FC343}" presName="composite" presStyleCnt="0"/>
      <dgm:spPr/>
    </dgm:pt>
    <dgm:pt modelId="{5B631B23-78CE-4A0E-A271-28B99F96B1A3}" type="pres">
      <dgm:prSet presAssocID="{ACD50452-C703-48B2-89C8-33A2264FC343}" presName="LShape" presStyleLbl="alignNode1" presStyleIdx="10" presStyleCnt="19"/>
      <dgm:spPr/>
    </dgm:pt>
    <dgm:pt modelId="{2D14B2FA-FFC4-4BD4-85D0-6C018772E28B}" type="pres">
      <dgm:prSet presAssocID="{ACD50452-C703-48B2-89C8-33A2264FC343}" presName="ParentText" presStyleLbl="revTx" presStyleIdx="5" presStyleCnt="10">
        <dgm:presLayoutVars>
          <dgm:chMax val="0"/>
          <dgm:chPref val="0"/>
          <dgm:bulletEnabled val="1"/>
        </dgm:presLayoutVars>
      </dgm:prSet>
      <dgm:spPr/>
    </dgm:pt>
    <dgm:pt modelId="{78F67758-9DA6-4B9C-8E1E-124B284A7325}" type="pres">
      <dgm:prSet presAssocID="{ACD50452-C703-48B2-89C8-33A2264FC343}" presName="Triangle" presStyleLbl="alignNode1" presStyleIdx="11" presStyleCnt="19"/>
      <dgm:spPr/>
    </dgm:pt>
    <dgm:pt modelId="{A4FE38C1-FEDD-42A8-9122-28AACC8AC350}" type="pres">
      <dgm:prSet presAssocID="{CE12E334-6124-4A7A-8C3D-3F61F7DCA4CC}" presName="sibTrans" presStyleCnt="0"/>
      <dgm:spPr/>
    </dgm:pt>
    <dgm:pt modelId="{8CC7A67F-4143-45D6-949C-31E8FA819A48}" type="pres">
      <dgm:prSet presAssocID="{CE12E334-6124-4A7A-8C3D-3F61F7DCA4CC}" presName="space" presStyleCnt="0"/>
      <dgm:spPr/>
    </dgm:pt>
    <dgm:pt modelId="{FF21DF03-BA31-4119-8923-DCD32745DB4D}" type="pres">
      <dgm:prSet presAssocID="{24D65A3C-D260-4B5D-B82F-AC9DA599E2B4}" presName="composite" presStyleCnt="0"/>
      <dgm:spPr/>
    </dgm:pt>
    <dgm:pt modelId="{68F938AB-D35D-4876-974B-CC3254B13A78}" type="pres">
      <dgm:prSet presAssocID="{24D65A3C-D260-4B5D-B82F-AC9DA599E2B4}" presName="LShape" presStyleLbl="alignNode1" presStyleIdx="12" presStyleCnt="19"/>
      <dgm:spPr/>
    </dgm:pt>
    <dgm:pt modelId="{A34DFDA6-915B-41BD-BD15-976092466FC9}" type="pres">
      <dgm:prSet presAssocID="{24D65A3C-D260-4B5D-B82F-AC9DA599E2B4}" presName="ParentText" presStyleLbl="revTx" presStyleIdx="6" presStyleCnt="10">
        <dgm:presLayoutVars>
          <dgm:chMax val="0"/>
          <dgm:chPref val="0"/>
          <dgm:bulletEnabled val="1"/>
        </dgm:presLayoutVars>
      </dgm:prSet>
      <dgm:spPr/>
    </dgm:pt>
    <dgm:pt modelId="{D8FA5EE2-8993-4FEC-9DED-5E2EDDCEC248}" type="pres">
      <dgm:prSet presAssocID="{24D65A3C-D260-4B5D-B82F-AC9DA599E2B4}" presName="Triangle" presStyleLbl="alignNode1" presStyleIdx="13" presStyleCnt="19"/>
      <dgm:spPr/>
    </dgm:pt>
    <dgm:pt modelId="{31F1D2BA-56D7-4D19-B9FA-B84650B8C3CA}" type="pres">
      <dgm:prSet presAssocID="{D29BEE16-6B1C-44AB-8461-33935C1A395F}" presName="sibTrans" presStyleCnt="0"/>
      <dgm:spPr/>
    </dgm:pt>
    <dgm:pt modelId="{1C54B4D1-0022-49C4-B11D-F22DDFDC753B}" type="pres">
      <dgm:prSet presAssocID="{D29BEE16-6B1C-44AB-8461-33935C1A395F}" presName="space" presStyleCnt="0"/>
      <dgm:spPr/>
    </dgm:pt>
    <dgm:pt modelId="{04C92346-32FC-4048-9BBE-6B86E1E2DCDF}" type="pres">
      <dgm:prSet presAssocID="{D82B0954-C367-4FA3-94DA-C2776F26D8FF}" presName="composite" presStyleCnt="0"/>
      <dgm:spPr/>
    </dgm:pt>
    <dgm:pt modelId="{E990502C-DB8F-49CB-B382-79A3F7ACE16E}" type="pres">
      <dgm:prSet presAssocID="{D82B0954-C367-4FA3-94DA-C2776F26D8FF}" presName="LShape" presStyleLbl="alignNode1" presStyleIdx="14" presStyleCnt="19"/>
      <dgm:spPr/>
    </dgm:pt>
    <dgm:pt modelId="{0CE70426-841C-4217-8464-9BD0F2D17F93}" type="pres">
      <dgm:prSet presAssocID="{D82B0954-C367-4FA3-94DA-C2776F26D8FF}" presName="ParentText" presStyleLbl="revTx" presStyleIdx="7" presStyleCnt="10">
        <dgm:presLayoutVars>
          <dgm:chMax val="0"/>
          <dgm:chPref val="0"/>
          <dgm:bulletEnabled val="1"/>
        </dgm:presLayoutVars>
      </dgm:prSet>
      <dgm:spPr/>
    </dgm:pt>
    <dgm:pt modelId="{0B30AD59-DAE8-4AF6-A64F-C44836B73BC4}" type="pres">
      <dgm:prSet presAssocID="{D82B0954-C367-4FA3-94DA-C2776F26D8FF}" presName="Triangle" presStyleLbl="alignNode1" presStyleIdx="15" presStyleCnt="19"/>
      <dgm:spPr/>
    </dgm:pt>
    <dgm:pt modelId="{6B4AFF70-3E41-484F-9362-D37928A796BE}" type="pres">
      <dgm:prSet presAssocID="{6E2877E9-32A9-4449-91DF-33013A6E6675}" presName="sibTrans" presStyleCnt="0"/>
      <dgm:spPr/>
    </dgm:pt>
    <dgm:pt modelId="{38D8E075-FD2F-49E6-BEDD-8698038E5E77}" type="pres">
      <dgm:prSet presAssocID="{6E2877E9-32A9-4449-91DF-33013A6E6675}" presName="space" presStyleCnt="0"/>
      <dgm:spPr/>
    </dgm:pt>
    <dgm:pt modelId="{66288942-3290-4392-8B3C-6316DF501390}" type="pres">
      <dgm:prSet presAssocID="{28873757-CA4A-4261-B867-E4A39149CAD9}" presName="composite" presStyleCnt="0"/>
      <dgm:spPr/>
    </dgm:pt>
    <dgm:pt modelId="{CAD7B151-D0E5-455A-AF77-2C5B3E667283}" type="pres">
      <dgm:prSet presAssocID="{28873757-CA4A-4261-B867-E4A39149CAD9}" presName="LShape" presStyleLbl="alignNode1" presStyleIdx="16" presStyleCnt="19"/>
      <dgm:spPr/>
    </dgm:pt>
    <dgm:pt modelId="{5F93E40D-A3E4-43B1-A6F0-7A7082CA2109}" type="pres">
      <dgm:prSet presAssocID="{28873757-CA4A-4261-B867-E4A39149CAD9}" presName="ParentText" presStyleLbl="revTx" presStyleIdx="8" presStyleCnt="10">
        <dgm:presLayoutVars>
          <dgm:chMax val="0"/>
          <dgm:chPref val="0"/>
          <dgm:bulletEnabled val="1"/>
        </dgm:presLayoutVars>
      </dgm:prSet>
      <dgm:spPr/>
    </dgm:pt>
    <dgm:pt modelId="{C0C437A3-4D50-4261-86BC-E9F68F7C8D38}" type="pres">
      <dgm:prSet presAssocID="{28873757-CA4A-4261-B867-E4A39149CAD9}" presName="Triangle" presStyleLbl="alignNode1" presStyleIdx="17" presStyleCnt="19"/>
      <dgm:spPr/>
    </dgm:pt>
    <dgm:pt modelId="{26329C70-94EC-4BDD-BC3A-29D47D5832CC}" type="pres">
      <dgm:prSet presAssocID="{CC5AF67B-E86C-4B78-9C3E-5BD586E9E1D5}" presName="sibTrans" presStyleCnt="0"/>
      <dgm:spPr/>
    </dgm:pt>
    <dgm:pt modelId="{4E56FFD4-43E0-4AD5-89DB-1CBF381F910E}" type="pres">
      <dgm:prSet presAssocID="{CC5AF67B-E86C-4B78-9C3E-5BD586E9E1D5}" presName="space" presStyleCnt="0"/>
      <dgm:spPr/>
    </dgm:pt>
    <dgm:pt modelId="{ED1873C4-FD30-4699-8A75-1C67ED0B8F55}" type="pres">
      <dgm:prSet presAssocID="{2BE71D20-13B1-499C-BA6C-3DEEB0F549AF}" presName="composite" presStyleCnt="0"/>
      <dgm:spPr/>
    </dgm:pt>
    <dgm:pt modelId="{5DB3A635-72A1-449C-977B-04EEE4B3ABD5}" type="pres">
      <dgm:prSet presAssocID="{2BE71D20-13B1-499C-BA6C-3DEEB0F549AF}" presName="LShape" presStyleLbl="alignNode1" presStyleIdx="18" presStyleCnt="19"/>
      <dgm:spPr/>
    </dgm:pt>
    <dgm:pt modelId="{59CB494A-50B7-4361-BFA1-B3D01D7CB5F3}" type="pres">
      <dgm:prSet presAssocID="{2BE71D20-13B1-499C-BA6C-3DEEB0F549AF}" presName="ParentText" presStyleLbl="revTx" presStyleIdx="9" presStyleCnt="10">
        <dgm:presLayoutVars>
          <dgm:chMax val="0"/>
          <dgm:chPref val="0"/>
          <dgm:bulletEnabled val="1"/>
        </dgm:presLayoutVars>
      </dgm:prSet>
      <dgm:spPr/>
    </dgm:pt>
  </dgm:ptLst>
  <dgm:cxnLst>
    <dgm:cxn modelId="{D4FCDE1D-8BC2-41B5-BEA4-68B506AB0C64}" srcId="{B70DD808-0B8E-4B7A-A818-27B0F36FACFF}" destId="{D82B0954-C367-4FA3-94DA-C2776F26D8FF}" srcOrd="7" destOrd="0" parTransId="{AA6CF53F-39EC-471D-926B-C02A2917059D}" sibTransId="{6E2877E9-32A9-4449-91DF-33013A6E6675}"/>
    <dgm:cxn modelId="{EA033024-F119-41E5-9E00-C648FB3257C0}" type="presOf" srcId="{1E34DD47-F77D-42EE-BF15-7237A201D09A}" destId="{DD92E0B9-D5D9-4EE9-823D-61190E97D39A}" srcOrd="0" destOrd="0" presId="urn:microsoft.com/office/officeart/2009/3/layout/StepUpProcess"/>
    <dgm:cxn modelId="{27808C2C-73B7-4156-8F88-D1CE25155C66}" type="presOf" srcId="{59DA93FD-3CD1-44BB-9C98-FC52E0A3A11A}" destId="{C7EB3DDF-BF38-423E-8A0A-4A07153F2455}" srcOrd="0" destOrd="0" presId="urn:microsoft.com/office/officeart/2009/3/layout/StepUpProcess"/>
    <dgm:cxn modelId="{BE851A3C-DD7B-477E-9D6A-CEAED86FA5E0}" srcId="{B70DD808-0B8E-4B7A-A818-27B0F36FACFF}" destId="{59DA93FD-3CD1-44BB-9C98-FC52E0A3A11A}" srcOrd="4" destOrd="0" parTransId="{18A36BED-8286-4E38-9E87-E0C2C56E4F6D}" sibTransId="{54235378-20C8-4DF4-A1FF-1B6EB8E413FD}"/>
    <dgm:cxn modelId="{62E9D866-750F-49D8-975D-66F4788686F2}" type="presOf" srcId="{B70DD808-0B8E-4B7A-A818-27B0F36FACFF}" destId="{4462C6DF-3440-4CFB-B2C3-315C33D837F8}" srcOrd="0" destOrd="0" presId="urn:microsoft.com/office/officeart/2009/3/layout/StepUpProcess"/>
    <dgm:cxn modelId="{FA744948-F78E-4FB2-905F-C66E88215126}" srcId="{B70DD808-0B8E-4B7A-A818-27B0F36FACFF}" destId="{1E34DD47-F77D-42EE-BF15-7237A201D09A}" srcOrd="3" destOrd="0" parTransId="{2E0E3093-9AD7-46DB-85C8-F47A2D4A81B2}" sibTransId="{F0972B7F-3F4A-448D-84F0-8D41D0702C38}"/>
    <dgm:cxn modelId="{C799196B-6E28-4378-835D-C8C20D7E1959}" type="presOf" srcId="{2BE71D20-13B1-499C-BA6C-3DEEB0F549AF}" destId="{59CB494A-50B7-4361-BFA1-B3D01D7CB5F3}" srcOrd="0" destOrd="0" presId="urn:microsoft.com/office/officeart/2009/3/layout/StepUpProcess"/>
    <dgm:cxn modelId="{429D716B-386B-4969-8EDC-FEA9FE1B2ECF}" type="presOf" srcId="{CFE56808-4E8F-41C0-9962-2FAB7EE6217C}" destId="{AB141711-800E-47DC-8B47-CF7521F021B7}" srcOrd="0" destOrd="0" presId="urn:microsoft.com/office/officeart/2009/3/layout/StepUpProcess"/>
    <dgm:cxn modelId="{3E056E58-CD0B-455F-98A3-25B0CA35C74F}" srcId="{B70DD808-0B8E-4B7A-A818-27B0F36FACFF}" destId="{CFE56808-4E8F-41C0-9962-2FAB7EE6217C}" srcOrd="2" destOrd="0" parTransId="{5F8BFBFF-0AEA-42FA-B061-11D259147EFE}" sibTransId="{51CDB2C8-DAFA-4295-9366-6587F2AB3702}"/>
    <dgm:cxn modelId="{25D7B37C-5FC5-4D52-A9B2-ACEA6BEDBD94}" type="presOf" srcId="{D82B0954-C367-4FA3-94DA-C2776F26D8FF}" destId="{0CE70426-841C-4217-8464-9BD0F2D17F93}" srcOrd="0" destOrd="0" presId="urn:microsoft.com/office/officeart/2009/3/layout/StepUpProcess"/>
    <dgm:cxn modelId="{E02A7C7F-7F3F-4FA2-979D-6CB1743DD0AB}" type="presOf" srcId="{28873757-CA4A-4261-B867-E4A39149CAD9}" destId="{5F93E40D-A3E4-43B1-A6F0-7A7082CA2109}" srcOrd="0" destOrd="0" presId="urn:microsoft.com/office/officeart/2009/3/layout/StepUpProcess"/>
    <dgm:cxn modelId="{79A21288-4E0F-4063-BA7D-3BB22C95011F}" srcId="{B70DD808-0B8E-4B7A-A818-27B0F36FACFF}" destId="{28873757-CA4A-4261-B867-E4A39149CAD9}" srcOrd="8" destOrd="0" parTransId="{ECCAC1CE-C7B3-4B99-932C-C5E7762E3B05}" sibTransId="{CC5AF67B-E86C-4B78-9C3E-5BD586E9E1D5}"/>
    <dgm:cxn modelId="{DA26A495-5792-4A40-9A04-C62D10F3D6C2}" type="presOf" srcId="{ACD50452-C703-48B2-89C8-33A2264FC343}" destId="{2D14B2FA-FFC4-4BD4-85D0-6C018772E28B}" srcOrd="0" destOrd="0" presId="urn:microsoft.com/office/officeart/2009/3/layout/StepUpProcess"/>
    <dgm:cxn modelId="{CCDBD79E-9DCD-4EA4-8D65-C54E556E0025}" srcId="{B70DD808-0B8E-4B7A-A818-27B0F36FACFF}" destId="{24D65A3C-D260-4B5D-B82F-AC9DA599E2B4}" srcOrd="6" destOrd="0" parTransId="{5A9A9235-40F2-4411-AA92-1886346C07D9}" sibTransId="{D29BEE16-6B1C-44AB-8461-33935C1A395F}"/>
    <dgm:cxn modelId="{13F520A0-3AD0-433C-9B92-F29BA6E12739}" type="presOf" srcId="{35E4D0CC-AB75-4C03-AA56-D75BC2C5D8F6}" destId="{27585176-B00B-4221-9196-B51E0163A097}" srcOrd="0" destOrd="0" presId="urn:microsoft.com/office/officeart/2009/3/layout/StepUpProcess"/>
    <dgm:cxn modelId="{9D0951AE-5D4E-45A6-970C-26F3ED205553}" type="presOf" srcId="{DEF607B0-599A-4337-894E-F694427DE11E}" destId="{AB0D87B0-4F49-4FD9-8FA2-195738A53D84}" srcOrd="0" destOrd="0" presId="urn:microsoft.com/office/officeart/2009/3/layout/StepUpProcess"/>
    <dgm:cxn modelId="{6419ADBE-76C9-4A8D-9406-28D469AC3353}" srcId="{B70DD808-0B8E-4B7A-A818-27B0F36FACFF}" destId="{ACD50452-C703-48B2-89C8-33A2264FC343}" srcOrd="5" destOrd="0" parTransId="{CEB04155-9C97-4254-A385-65D21922E507}" sibTransId="{CE12E334-6124-4A7A-8C3D-3F61F7DCA4CC}"/>
    <dgm:cxn modelId="{658224C6-4744-4EEC-AA7E-5F39ADE197AE}" srcId="{B70DD808-0B8E-4B7A-A818-27B0F36FACFF}" destId="{2BE71D20-13B1-499C-BA6C-3DEEB0F549AF}" srcOrd="9" destOrd="0" parTransId="{5FC1C323-812E-4917-85C8-630EB2D70151}" sibTransId="{BA219D9D-6452-49BE-A80A-19E3DB6B999B}"/>
    <dgm:cxn modelId="{420F76D9-BF8C-470B-B753-6D639D3E4A23}" srcId="{B70DD808-0B8E-4B7A-A818-27B0F36FACFF}" destId="{DEF607B0-599A-4337-894E-F694427DE11E}" srcOrd="0" destOrd="0" parTransId="{4CDB2DC8-2D1B-4B13-8234-68316F53D62E}" sibTransId="{7599F62C-493C-4980-9254-9679DB1D5E33}"/>
    <dgm:cxn modelId="{28809CF0-FB6C-45D1-B3EA-D3D28FB6CF02}" srcId="{B70DD808-0B8E-4B7A-A818-27B0F36FACFF}" destId="{35E4D0CC-AB75-4C03-AA56-D75BC2C5D8F6}" srcOrd="1" destOrd="0" parTransId="{2442FF8F-91C7-428A-9F8C-ED91B557A012}" sibTransId="{DA82C340-0496-443E-BAE1-AC3D0E9855A6}"/>
    <dgm:cxn modelId="{5742F0FF-82C1-437D-AB48-041B647822D1}" type="presOf" srcId="{24D65A3C-D260-4B5D-B82F-AC9DA599E2B4}" destId="{A34DFDA6-915B-41BD-BD15-976092466FC9}" srcOrd="0" destOrd="0" presId="urn:microsoft.com/office/officeart/2009/3/layout/StepUpProcess"/>
    <dgm:cxn modelId="{D349E0F9-F718-4E58-BE9A-B5BB5C2D03E7}" type="presParOf" srcId="{4462C6DF-3440-4CFB-B2C3-315C33D837F8}" destId="{4B6277F6-7D7B-42A0-B80F-5F6C28C24EED}" srcOrd="0" destOrd="0" presId="urn:microsoft.com/office/officeart/2009/3/layout/StepUpProcess"/>
    <dgm:cxn modelId="{B4FADC0B-EE05-418D-96EB-960EE3D4FB39}" type="presParOf" srcId="{4B6277F6-7D7B-42A0-B80F-5F6C28C24EED}" destId="{9FAC393E-A6BF-4F6B-9E07-C09BD0A59A8F}" srcOrd="0" destOrd="0" presId="urn:microsoft.com/office/officeart/2009/3/layout/StepUpProcess"/>
    <dgm:cxn modelId="{F2D9C2F1-53DF-4DB2-8EE4-4EF592A41E31}" type="presParOf" srcId="{4B6277F6-7D7B-42A0-B80F-5F6C28C24EED}" destId="{AB0D87B0-4F49-4FD9-8FA2-195738A53D84}" srcOrd="1" destOrd="0" presId="urn:microsoft.com/office/officeart/2009/3/layout/StepUpProcess"/>
    <dgm:cxn modelId="{E19B4C7D-B933-4979-8813-80A0050A407E}" type="presParOf" srcId="{4B6277F6-7D7B-42A0-B80F-5F6C28C24EED}" destId="{1F211D48-827D-4E72-BAF8-ADFE83EE059C}" srcOrd="2" destOrd="0" presId="urn:microsoft.com/office/officeart/2009/3/layout/StepUpProcess"/>
    <dgm:cxn modelId="{1C136C35-ACDF-4415-84BE-10502799FB12}" type="presParOf" srcId="{4462C6DF-3440-4CFB-B2C3-315C33D837F8}" destId="{FA9C1E83-C2B2-4689-822A-531E97AFD7CF}" srcOrd="1" destOrd="0" presId="urn:microsoft.com/office/officeart/2009/3/layout/StepUpProcess"/>
    <dgm:cxn modelId="{79438D85-0D30-4AEA-8162-7E0B0C83F5F8}" type="presParOf" srcId="{FA9C1E83-C2B2-4689-822A-531E97AFD7CF}" destId="{7B627982-E5FF-4792-92A3-BEA86143F235}" srcOrd="0" destOrd="0" presId="urn:microsoft.com/office/officeart/2009/3/layout/StepUpProcess"/>
    <dgm:cxn modelId="{505FB986-D0FB-4924-8E3A-592566FFF406}" type="presParOf" srcId="{4462C6DF-3440-4CFB-B2C3-315C33D837F8}" destId="{C46F87D1-4DC7-4A0C-9990-F0C327EA1BA3}" srcOrd="2" destOrd="0" presId="urn:microsoft.com/office/officeart/2009/3/layout/StepUpProcess"/>
    <dgm:cxn modelId="{A08B13D9-E26C-4FD4-A985-12192F1DE1E3}" type="presParOf" srcId="{C46F87D1-4DC7-4A0C-9990-F0C327EA1BA3}" destId="{7D642EDC-C4DB-48E6-9D57-981331AAF07B}" srcOrd="0" destOrd="0" presId="urn:microsoft.com/office/officeart/2009/3/layout/StepUpProcess"/>
    <dgm:cxn modelId="{78E8B1E2-C186-40EB-8F48-091AD9BFDDB4}" type="presParOf" srcId="{C46F87D1-4DC7-4A0C-9990-F0C327EA1BA3}" destId="{27585176-B00B-4221-9196-B51E0163A097}" srcOrd="1" destOrd="0" presId="urn:microsoft.com/office/officeart/2009/3/layout/StepUpProcess"/>
    <dgm:cxn modelId="{9DD503E5-8AC5-4733-864B-B986281AA266}" type="presParOf" srcId="{C46F87D1-4DC7-4A0C-9990-F0C327EA1BA3}" destId="{4EA89621-5972-4219-9DB3-A3F806896A09}" srcOrd="2" destOrd="0" presId="urn:microsoft.com/office/officeart/2009/3/layout/StepUpProcess"/>
    <dgm:cxn modelId="{3C7B52FD-22A9-4EDF-8C80-49A067221D5C}" type="presParOf" srcId="{4462C6DF-3440-4CFB-B2C3-315C33D837F8}" destId="{2682C3B5-A3F8-407B-A3B3-6DB497724AB0}" srcOrd="3" destOrd="0" presId="urn:microsoft.com/office/officeart/2009/3/layout/StepUpProcess"/>
    <dgm:cxn modelId="{0AFF67C4-80CE-48C4-A9A5-D7CC1E247B1D}" type="presParOf" srcId="{2682C3B5-A3F8-407B-A3B3-6DB497724AB0}" destId="{7F5F2F7B-ABFB-4F5E-AF27-DF6DA1E5FA1A}" srcOrd="0" destOrd="0" presId="urn:microsoft.com/office/officeart/2009/3/layout/StepUpProcess"/>
    <dgm:cxn modelId="{96FED3E3-893F-44BD-A5FB-BF16033EB2A7}" type="presParOf" srcId="{4462C6DF-3440-4CFB-B2C3-315C33D837F8}" destId="{6D2B8D71-BE3C-4BA9-81FD-4098C20CF873}" srcOrd="4" destOrd="0" presId="urn:microsoft.com/office/officeart/2009/3/layout/StepUpProcess"/>
    <dgm:cxn modelId="{C33D6BF4-2F95-4C80-8C49-E7DD0C285987}" type="presParOf" srcId="{6D2B8D71-BE3C-4BA9-81FD-4098C20CF873}" destId="{82BA69F7-8561-4453-AD72-19016685C42D}" srcOrd="0" destOrd="0" presId="urn:microsoft.com/office/officeart/2009/3/layout/StepUpProcess"/>
    <dgm:cxn modelId="{EC368AAB-7A53-4AA4-A138-4B2E38EFC29B}" type="presParOf" srcId="{6D2B8D71-BE3C-4BA9-81FD-4098C20CF873}" destId="{AB141711-800E-47DC-8B47-CF7521F021B7}" srcOrd="1" destOrd="0" presId="urn:microsoft.com/office/officeart/2009/3/layout/StepUpProcess"/>
    <dgm:cxn modelId="{42E41AF2-D081-42A8-A1F2-40D00036B49F}" type="presParOf" srcId="{6D2B8D71-BE3C-4BA9-81FD-4098C20CF873}" destId="{3B8C0799-89C8-4A7D-B2B7-BA921225F2B9}" srcOrd="2" destOrd="0" presId="urn:microsoft.com/office/officeart/2009/3/layout/StepUpProcess"/>
    <dgm:cxn modelId="{C671B54C-D864-4EDD-A4E5-B5C9BBA3DE81}" type="presParOf" srcId="{4462C6DF-3440-4CFB-B2C3-315C33D837F8}" destId="{CC0DBB79-035E-4B26-A092-A484F4F0B33E}" srcOrd="5" destOrd="0" presId="urn:microsoft.com/office/officeart/2009/3/layout/StepUpProcess"/>
    <dgm:cxn modelId="{E947790C-8BBF-4E44-B42E-B714D4F6C05E}" type="presParOf" srcId="{CC0DBB79-035E-4B26-A092-A484F4F0B33E}" destId="{E85E69F5-C1FE-436E-8CBC-14DF5C76E52C}" srcOrd="0" destOrd="0" presId="urn:microsoft.com/office/officeart/2009/3/layout/StepUpProcess"/>
    <dgm:cxn modelId="{7EE80A0B-6D50-460F-975D-6B6A829656AB}" type="presParOf" srcId="{4462C6DF-3440-4CFB-B2C3-315C33D837F8}" destId="{2036D9FD-B0DA-491E-98E8-1E3765D75E76}" srcOrd="6" destOrd="0" presId="urn:microsoft.com/office/officeart/2009/3/layout/StepUpProcess"/>
    <dgm:cxn modelId="{89B95112-19CF-44CC-B285-D696C0BDFB34}" type="presParOf" srcId="{2036D9FD-B0DA-491E-98E8-1E3765D75E76}" destId="{6B627E4E-04EB-4788-83E1-CE9A94024BED}" srcOrd="0" destOrd="0" presId="urn:microsoft.com/office/officeart/2009/3/layout/StepUpProcess"/>
    <dgm:cxn modelId="{14B09C31-A051-4520-AD83-E6314613A111}" type="presParOf" srcId="{2036D9FD-B0DA-491E-98E8-1E3765D75E76}" destId="{DD92E0B9-D5D9-4EE9-823D-61190E97D39A}" srcOrd="1" destOrd="0" presId="urn:microsoft.com/office/officeart/2009/3/layout/StepUpProcess"/>
    <dgm:cxn modelId="{C4908272-CCCF-4F19-98F5-0C515A3908B0}" type="presParOf" srcId="{2036D9FD-B0DA-491E-98E8-1E3765D75E76}" destId="{98C244C8-F615-4AEE-8728-AF521F179649}" srcOrd="2" destOrd="0" presId="urn:microsoft.com/office/officeart/2009/3/layout/StepUpProcess"/>
    <dgm:cxn modelId="{1AA0AE7D-F0C4-49C9-8237-C16731D7D7FD}" type="presParOf" srcId="{4462C6DF-3440-4CFB-B2C3-315C33D837F8}" destId="{5AB84022-61F2-4147-9CCD-84C691375DE4}" srcOrd="7" destOrd="0" presId="urn:microsoft.com/office/officeart/2009/3/layout/StepUpProcess"/>
    <dgm:cxn modelId="{EC7F73C4-FAEA-4A5C-A71F-0913BE01DAC6}" type="presParOf" srcId="{5AB84022-61F2-4147-9CCD-84C691375DE4}" destId="{BE9C7A8F-C872-4C44-9957-E43BDF659649}" srcOrd="0" destOrd="0" presId="urn:microsoft.com/office/officeart/2009/3/layout/StepUpProcess"/>
    <dgm:cxn modelId="{41DEF06B-CE2D-45C6-8284-B3F27F6C008B}" type="presParOf" srcId="{4462C6DF-3440-4CFB-B2C3-315C33D837F8}" destId="{94E338D4-9641-4DB1-8DD4-12E3507FE5A4}" srcOrd="8" destOrd="0" presId="urn:microsoft.com/office/officeart/2009/3/layout/StepUpProcess"/>
    <dgm:cxn modelId="{1CBC4C95-0D47-488E-AD9F-358CF2914C5C}" type="presParOf" srcId="{94E338D4-9641-4DB1-8DD4-12E3507FE5A4}" destId="{35E6D566-A3F6-4335-846C-C07E45D15FFE}" srcOrd="0" destOrd="0" presId="urn:microsoft.com/office/officeart/2009/3/layout/StepUpProcess"/>
    <dgm:cxn modelId="{19EB9D20-08FC-40C7-88F8-7E6A8A87A7F4}" type="presParOf" srcId="{94E338D4-9641-4DB1-8DD4-12E3507FE5A4}" destId="{C7EB3DDF-BF38-423E-8A0A-4A07153F2455}" srcOrd="1" destOrd="0" presId="urn:microsoft.com/office/officeart/2009/3/layout/StepUpProcess"/>
    <dgm:cxn modelId="{CC005FE7-2C86-4BC6-B849-CDC14B6A9F3F}" type="presParOf" srcId="{94E338D4-9641-4DB1-8DD4-12E3507FE5A4}" destId="{351FFAFA-38BE-4FF3-8C7D-E2DB3D493FA3}" srcOrd="2" destOrd="0" presId="urn:microsoft.com/office/officeart/2009/3/layout/StepUpProcess"/>
    <dgm:cxn modelId="{5D9291AD-75F0-4337-864E-8A70D7D5A06E}" type="presParOf" srcId="{4462C6DF-3440-4CFB-B2C3-315C33D837F8}" destId="{8A7ADE84-87CD-403E-B391-674144ACC17E}" srcOrd="9" destOrd="0" presId="urn:microsoft.com/office/officeart/2009/3/layout/StepUpProcess"/>
    <dgm:cxn modelId="{40240780-D44A-446A-A8A6-45E3F557C219}" type="presParOf" srcId="{8A7ADE84-87CD-403E-B391-674144ACC17E}" destId="{BFEBE762-3286-4049-97B7-F1E2C9494209}" srcOrd="0" destOrd="0" presId="urn:microsoft.com/office/officeart/2009/3/layout/StepUpProcess"/>
    <dgm:cxn modelId="{5BC52060-4811-4E95-9ED8-863057AD624A}" type="presParOf" srcId="{4462C6DF-3440-4CFB-B2C3-315C33D837F8}" destId="{D2553B0B-C3A6-4E59-8382-F4AC382FC7BE}" srcOrd="10" destOrd="0" presId="urn:microsoft.com/office/officeart/2009/3/layout/StepUpProcess"/>
    <dgm:cxn modelId="{E36ED631-65D5-4119-BE1E-A3B791B07B3A}" type="presParOf" srcId="{D2553B0B-C3A6-4E59-8382-F4AC382FC7BE}" destId="{5B631B23-78CE-4A0E-A271-28B99F96B1A3}" srcOrd="0" destOrd="0" presId="urn:microsoft.com/office/officeart/2009/3/layout/StepUpProcess"/>
    <dgm:cxn modelId="{77E5E558-70E2-43E2-9B8F-530D4CD521A3}" type="presParOf" srcId="{D2553B0B-C3A6-4E59-8382-F4AC382FC7BE}" destId="{2D14B2FA-FFC4-4BD4-85D0-6C018772E28B}" srcOrd="1" destOrd="0" presId="urn:microsoft.com/office/officeart/2009/3/layout/StepUpProcess"/>
    <dgm:cxn modelId="{26FE46D1-FE50-4F00-8C02-21205C72C713}" type="presParOf" srcId="{D2553B0B-C3A6-4E59-8382-F4AC382FC7BE}" destId="{78F67758-9DA6-4B9C-8E1E-124B284A7325}" srcOrd="2" destOrd="0" presId="urn:microsoft.com/office/officeart/2009/3/layout/StepUpProcess"/>
    <dgm:cxn modelId="{EB0D6262-F184-4F2F-B8A5-F33D85C6D116}" type="presParOf" srcId="{4462C6DF-3440-4CFB-B2C3-315C33D837F8}" destId="{A4FE38C1-FEDD-42A8-9122-28AACC8AC350}" srcOrd="11" destOrd="0" presId="urn:microsoft.com/office/officeart/2009/3/layout/StepUpProcess"/>
    <dgm:cxn modelId="{2474CC4A-81B8-4DE9-B3CA-6A9589E42F83}" type="presParOf" srcId="{A4FE38C1-FEDD-42A8-9122-28AACC8AC350}" destId="{8CC7A67F-4143-45D6-949C-31E8FA819A48}" srcOrd="0" destOrd="0" presId="urn:microsoft.com/office/officeart/2009/3/layout/StepUpProcess"/>
    <dgm:cxn modelId="{F3B472FA-B735-4A74-B555-D46A5E390ADC}" type="presParOf" srcId="{4462C6DF-3440-4CFB-B2C3-315C33D837F8}" destId="{FF21DF03-BA31-4119-8923-DCD32745DB4D}" srcOrd="12" destOrd="0" presId="urn:microsoft.com/office/officeart/2009/3/layout/StepUpProcess"/>
    <dgm:cxn modelId="{53E00F68-547C-4E39-AAAC-DCC92C2467F8}" type="presParOf" srcId="{FF21DF03-BA31-4119-8923-DCD32745DB4D}" destId="{68F938AB-D35D-4876-974B-CC3254B13A78}" srcOrd="0" destOrd="0" presId="urn:microsoft.com/office/officeart/2009/3/layout/StepUpProcess"/>
    <dgm:cxn modelId="{F51FA6BB-990F-4258-8D1D-9A5ED1D08740}" type="presParOf" srcId="{FF21DF03-BA31-4119-8923-DCD32745DB4D}" destId="{A34DFDA6-915B-41BD-BD15-976092466FC9}" srcOrd="1" destOrd="0" presId="urn:microsoft.com/office/officeart/2009/3/layout/StepUpProcess"/>
    <dgm:cxn modelId="{EC430846-C31A-43BB-B3F0-90EEFD10257C}" type="presParOf" srcId="{FF21DF03-BA31-4119-8923-DCD32745DB4D}" destId="{D8FA5EE2-8993-4FEC-9DED-5E2EDDCEC248}" srcOrd="2" destOrd="0" presId="urn:microsoft.com/office/officeart/2009/3/layout/StepUpProcess"/>
    <dgm:cxn modelId="{36449E0D-43DC-4CE9-AC52-517B12D33E84}" type="presParOf" srcId="{4462C6DF-3440-4CFB-B2C3-315C33D837F8}" destId="{31F1D2BA-56D7-4D19-B9FA-B84650B8C3CA}" srcOrd="13" destOrd="0" presId="urn:microsoft.com/office/officeart/2009/3/layout/StepUpProcess"/>
    <dgm:cxn modelId="{A0F6D863-E730-4D7C-817D-0E60D0843EF0}" type="presParOf" srcId="{31F1D2BA-56D7-4D19-B9FA-B84650B8C3CA}" destId="{1C54B4D1-0022-49C4-B11D-F22DDFDC753B}" srcOrd="0" destOrd="0" presId="urn:microsoft.com/office/officeart/2009/3/layout/StepUpProcess"/>
    <dgm:cxn modelId="{43B51208-ED58-4FF9-9C88-ED3CA7FE7864}" type="presParOf" srcId="{4462C6DF-3440-4CFB-B2C3-315C33D837F8}" destId="{04C92346-32FC-4048-9BBE-6B86E1E2DCDF}" srcOrd="14" destOrd="0" presId="urn:microsoft.com/office/officeart/2009/3/layout/StepUpProcess"/>
    <dgm:cxn modelId="{C8EF96A1-0AD5-4388-812F-6B112972FB7F}" type="presParOf" srcId="{04C92346-32FC-4048-9BBE-6B86E1E2DCDF}" destId="{E990502C-DB8F-49CB-B382-79A3F7ACE16E}" srcOrd="0" destOrd="0" presId="urn:microsoft.com/office/officeart/2009/3/layout/StepUpProcess"/>
    <dgm:cxn modelId="{E0C8B8D5-3919-4C5F-A0F9-BB79C308B106}" type="presParOf" srcId="{04C92346-32FC-4048-9BBE-6B86E1E2DCDF}" destId="{0CE70426-841C-4217-8464-9BD0F2D17F93}" srcOrd="1" destOrd="0" presId="urn:microsoft.com/office/officeart/2009/3/layout/StepUpProcess"/>
    <dgm:cxn modelId="{2D5A9A4B-5371-4D2D-9B8C-D037CF6E5135}" type="presParOf" srcId="{04C92346-32FC-4048-9BBE-6B86E1E2DCDF}" destId="{0B30AD59-DAE8-4AF6-A64F-C44836B73BC4}" srcOrd="2" destOrd="0" presId="urn:microsoft.com/office/officeart/2009/3/layout/StepUpProcess"/>
    <dgm:cxn modelId="{F8101EBA-728F-4984-9C7D-5B303164519E}" type="presParOf" srcId="{4462C6DF-3440-4CFB-B2C3-315C33D837F8}" destId="{6B4AFF70-3E41-484F-9362-D37928A796BE}" srcOrd="15" destOrd="0" presId="urn:microsoft.com/office/officeart/2009/3/layout/StepUpProcess"/>
    <dgm:cxn modelId="{67187539-60AA-423C-B448-E7505882F0DF}" type="presParOf" srcId="{6B4AFF70-3E41-484F-9362-D37928A796BE}" destId="{38D8E075-FD2F-49E6-BEDD-8698038E5E77}" srcOrd="0" destOrd="0" presId="urn:microsoft.com/office/officeart/2009/3/layout/StepUpProcess"/>
    <dgm:cxn modelId="{43F76016-CFEE-4A80-9F72-1B9E930AD698}" type="presParOf" srcId="{4462C6DF-3440-4CFB-B2C3-315C33D837F8}" destId="{66288942-3290-4392-8B3C-6316DF501390}" srcOrd="16" destOrd="0" presId="urn:microsoft.com/office/officeart/2009/3/layout/StepUpProcess"/>
    <dgm:cxn modelId="{51AB9A98-9AA3-49F5-8932-ACD53F975E12}" type="presParOf" srcId="{66288942-3290-4392-8B3C-6316DF501390}" destId="{CAD7B151-D0E5-455A-AF77-2C5B3E667283}" srcOrd="0" destOrd="0" presId="urn:microsoft.com/office/officeart/2009/3/layout/StepUpProcess"/>
    <dgm:cxn modelId="{3AADDF82-7EEB-4524-9109-B07BF338F3A2}" type="presParOf" srcId="{66288942-3290-4392-8B3C-6316DF501390}" destId="{5F93E40D-A3E4-43B1-A6F0-7A7082CA2109}" srcOrd="1" destOrd="0" presId="urn:microsoft.com/office/officeart/2009/3/layout/StepUpProcess"/>
    <dgm:cxn modelId="{1325E978-1A81-421D-A62A-46BA14DFBF46}" type="presParOf" srcId="{66288942-3290-4392-8B3C-6316DF501390}" destId="{C0C437A3-4D50-4261-86BC-E9F68F7C8D38}" srcOrd="2" destOrd="0" presId="urn:microsoft.com/office/officeart/2009/3/layout/StepUpProcess"/>
    <dgm:cxn modelId="{C976198C-2198-4D52-AD01-7EA7C5793856}" type="presParOf" srcId="{4462C6DF-3440-4CFB-B2C3-315C33D837F8}" destId="{26329C70-94EC-4BDD-BC3A-29D47D5832CC}" srcOrd="17" destOrd="0" presId="urn:microsoft.com/office/officeart/2009/3/layout/StepUpProcess"/>
    <dgm:cxn modelId="{FDA7E2FB-3213-488E-820A-B345ECF324D4}" type="presParOf" srcId="{26329C70-94EC-4BDD-BC3A-29D47D5832CC}" destId="{4E56FFD4-43E0-4AD5-89DB-1CBF381F910E}" srcOrd="0" destOrd="0" presId="urn:microsoft.com/office/officeart/2009/3/layout/StepUpProcess"/>
    <dgm:cxn modelId="{370D430E-937A-4F18-AD21-D30BC8B066DB}" type="presParOf" srcId="{4462C6DF-3440-4CFB-B2C3-315C33D837F8}" destId="{ED1873C4-FD30-4699-8A75-1C67ED0B8F55}" srcOrd="18" destOrd="0" presId="urn:microsoft.com/office/officeart/2009/3/layout/StepUpProcess"/>
    <dgm:cxn modelId="{70A98F7A-63B9-4651-A06F-7579DC30A371}" type="presParOf" srcId="{ED1873C4-FD30-4699-8A75-1C67ED0B8F55}" destId="{5DB3A635-72A1-449C-977B-04EEE4B3ABD5}" srcOrd="0" destOrd="0" presId="urn:microsoft.com/office/officeart/2009/3/layout/StepUpProcess"/>
    <dgm:cxn modelId="{59AAE157-8DA9-41AB-AA1E-D04DFE98A9C8}" type="presParOf" srcId="{ED1873C4-FD30-4699-8A75-1C67ED0B8F55}" destId="{59CB494A-50B7-4361-BFA1-B3D01D7CB5F3}" srcOrd="1" destOrd="0" presId="urn:microsoft.com/office/officeart/2009/3/layout/StepUpProces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AC393E-A6BF-4F6B-9E07-C09BD0A59A8F}">
      <dsp:nvSpPr>
        <dsp:cNvPr id="0" name=""/>
        <dsp:cNvSpPr/>
      </dsp:nvSpPr>
      <dsp:spPr>
        <a:xfrm rot="5400000">
          <a:off x="155252" y="2699203"/>
          <a:ext cx="454530" cy="756327"/>
        </a:xfrm>
        <a:prstGeom prst="corner">
          <a:avLst>
            <a:gd name="adj1" fmla="val 16120"/>
            <a:gd name="adj2" fmla="val 1611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AB0D87B0-4F49-4FD9-8FA2-195738A53D84}">
      <dsp:nvSpPr>
        <dsp:cNvPr id="0" name=""/>
        <dsp:cNvSpPr/>
      </dsp:nvSpPr>
      <dsp:spPr>
        <a:xfrm>
          <a:off x="79380" y="2925182"/>
          <a:ext cx="682816" cy="598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kern="1200" dirty="0"/>
            <a:t>Turning on the robot</a:t>
          </a:r>
        </a:p>
      </dsp:txBody>
      <dsp:txXfrm>
        <a:off x="79380" y="2925182"/>
        <a:ext cx="682816" cy="598529"/>
      </dsp:txXfrm>
    </dsp:sp>
    <dsp:sp modelId="{1F211D48-827D-4E72-BAF8-ADFE83EE059C}">
      <dsp:nvSpPr>
        <dsp:cNvPr id="0" name=""/>
        <dsp:cNvSpPr/>
      </dsp:nvSpPr>
      <dsp:spPr>
        <a:xfrm>
          <a:off x="633364" y="2643521"/>
          <a:ext cx="128833" cy="128833"/>
        </a:xfrm>
        <a:prstGeom prst="triangle">
          <a:avLst>
            <a:gd name="adj" fmla="val 1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7D642EDC-C4DB-48E6-9D57-981331AAF07B}">
      <dsp:nvSpPr>
        <dsp:cNvPr id="0" name=""/>
        <dsp:cNvSpPr/>
      </dsp:nvSpPr>
      <dsp:spPr>
        <a:xfrm rot="5400000">
          <a:off x="991154" y="2492358"/>
          <a:ext cx="454530" cy="756327"/>
        </a:xfrm>
        <a:prstGeom prst="corner">
          <a:avLst>
            <a:gd name="adj1" fmla="val 16120"/>
            <a:gd name="adj2" fmla="val 1611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27585176-B00B-4221-9196-B51E0163A097}">
      <dsp:nvSpPr>
        <dsp:cNvPr id="0" name=""/>
        <dsp:cNvSpPr/>
      </dsp:nvSpPr>
      <dsp:spPr>
        <a:xfrm>
          <a:off x="915281" y="2718337"/>
          <a:ext cx="682816" cy="598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i="0" kern="1200" dirty="0"/>
            <a:t>Sensor Detection</a:t>
          </a:r>
        </a:p>
      </dsp:txBody>
      <dsp:txXfrm>
        <a:off x="915281" y="2718337"/>
        <a:ext cx="682816" cy="598529"/>
      </dsp:txXfrm>
    </dsp:sp>
    <dsp:sp modelId="{4EA89621-5972-4219-9DB3-A3F806896A09}">
      <dsp:nvSpPr>
        <dsp:cNvPr id="0" name=""/>
        <dsp:cNvSpPr/>
      </dsp:nvSpPr>
      <dsp:spPr>
        <a:xfrm>
          <a:off x="1469265" y="2436676"/>
          <a:ext cx="128833" cy="128833"/>
        </a:xfrm>
        <a:prstGeom prst="triangle">
          <a:avLst>
            <a:gd name="adj" fmla="val 1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82BA69F7-8561-4453-AD72-19016685C42D}">
      <dsp:nvSpPr>
        <dsp:cNvPr id="0" name=""/>
        <dsp:cNvSpPr/>
      </dsp:nvSpPr>
      <dsp:spPr>
        <a:xfrm rot="5400000">
          <a:off x="1827055" y="2285514"/>
          <a:ext cx="454530" cy="756327"/>
        </a:xfrm>
        <a:prstGeom prst="corner">
          <a:avLst>
            <a:gd name="adj1" fmla="val 16120"/>
            <a:gd name="adj2" fmla="val 1611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AB141711-800E-47DC-8B47-CF7521F021B7}">
      <dsp:nvSpPr>
        <dsp:cNvPr id="0" name=""/>
        <dsp:cNvSpPr/>
      </dsp:nvSpPr>
      <dsp:spPr>
        <a:xfrm>
          <a:off x="1751183" y="2511493"/>
          <a:ext cx="682816" cy="598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i="0" kern="1200" dirty="0"/>
            <a:t>Data Acquisition</a:t>
          </a:r>
          <a:endParaRPr lang="en-IN" sz="800" kern="1200" dirty="0"/>
        </a:p>
      </dsp:txBody>
      <dsp:txXfrm>
        <a:off x="1751183" y="2511493"/>
        <a:ext cx="682816" cy="598529"/>
      </dsp:txXfrm>
    </dsp:sp>
    <dsp:sp modelId="{3B8C0799-89C8-4A7D-B2B7-BA921225F2B9}">
      <dsp:nvSpPr>
        <dsp:cNvPr id="0" name=""/>
        <dsp:cNvSpPr/>
      </dsp:nvSpPr>
      <dsp:spPr>
        <a:xfrm>
          <a:off x="2305166" y="2229832"/>
          <a:ext cx="128833" cy="128833"/>
        </a:xfrm>
        <a:prstGeom prst="triangle">
          <a:avLst>
            <a:gd name="adj" fmla="val 1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6B627E4E-04EB-4788-83E1-CE9A94024BED}">
      <dsp:nvSpPr>
        <dsp:cNvPr id="0" name=""/>
        <dsp:cNvSpPr/>
      </dsp:nvSpPr>
      <dsp:spPr>
        <a:xfrm rot="5400000">
          <a:off x="2662956" y="2078669"/>
          <a:ext cx="454530" cy="756327"/>
        </a:xfrm>
        <a:prstGeom prst="corner">
          <a:avLst>
            <a:gd name="adj1" fmla="val 16120"/>
            <a:gd name="adj2" fmla="val 1611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DD92E0B9-D5D9-4EE9-823D-61190E97D39A}">
      <dsp:nvSpPr>
        <dsp:cNvPr id="0" name=""/>
        <dsp:cNvSpPr/>
      </dsp:nvSpPr>
      <dsp:spPr>
        <a:xfrm>
          <a:off x="2587084" y="2304648"/>
          <a:ext cx="682816" cy="598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i="0" kern="1200" dirty="0"/>
            <a:t>Data Processing</a:t>
          </a:r>
        </a:p>
      </dsp:txBody>
      <dsp:txXfrm>
        <a:off x="2587084" y="2304648"/>
        <a:ext cx="682816" cy="598529"/>
      </dsp:txXfrm>
    </dsp:sp>
    <dsp:sp modelId="{98C244C8-F615-4AEE-8728-AF521F179649}">
      <dsp:nvSpPr>
        <dsp:cNvPr id="0" name=""/>
        <dsp:cNvSpPr/>
      </dsp:nvSpPr>
      <dsp:spPr>
        <a:xfrm>
          <a:off x="3141067" y="2022987"/>
          <a:ext cx="128833" cy="128833"/>
        </a:xfrm>
        <a:prstGeom prst="triangle">
          <a:avLst>
            <a:gd name="adj" fmla="val 1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35E6D566-A3F6-4335-846C-C07E45D15FFE}">
      <dsp:nvSpPr>
        <dsp:cNvPr id="0" name=""/>
        <dsp:cNvSpPr/>
      </dsp:nvSpPr>
      <dsp:spPr>
        <a:xfrm rot="5400000">
          <a:off x="3498858" y="1871824"/>
          <a:ext cx="454530" cy="756327"/>
        </a:xfrm>
        <a:prstGeom prst="corner">
          <a:avLst>
            <a:gd name="adj1" fmla="val 16120"/>
            <a:gd name="adj2" fmla="val 1611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C7EB3DDF-BF38-423E-8A0A-4A07153F2455}">
      <dsp:nvSpPr>
        <dsp:cNvPr id="0" name=""/>
        <dsp:cNvSpPr/>
      </dsp:nvSpPr>
      <dsp:spPr>
        <a:xfrm>
          <a:off x="3422985" y="2097803"/>
          <a:ext cx="682816" cy="598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i="0" kern="1200" dirty="0"/>
            <a:t>Debris Detection</a:t>
          </a:r>
        </a:p>
      </dsp:txBody>
      <dsp:txXfrm>
        <a:off x="3422985" y="2097803"/>
        <a:ext cx="682816" cy="598529"/>
      </dsp:txXfrm>
    </dsp:sp>
    <dsp:sp modelId="{351FFAFA-38BE-4FF3-8C7D-E2DB3D493FA3}">
      <dsp:nvSpPr>
        <dsp:cNvPr id="0" name=""/>
        <dsp:cNvSpPr/>
      </dsp:nvSpPr>
      <dsp:spPr>
        <a:xfrm>
          <a:off x="3976969" y="1816143"/>
          <a:ext cx="128833" cy="128833"/>
        </a:xfrm>
        <a:prstGeom prst="triangle">
          <a:avLst>
            <a:gd name="adj" fmla="val 1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B631B23-78CE-4A0E-A271-28B99F96B1A3}">
      <dsp:nvSpPr>
        <dsp:cNvPr id="0" name=""/>
        <dsp:cNvSpPr/>
      </dsp:nvSpPr>
      <dsp:spPr>
        <a:xfrm rot="5400000">
          <a:off x="4334759" y="1664980"/>
          <a:ext cx="454530" cy="756327"/>
        </a:xfrm>
        <a:prstGeom prst="corner">
          <a:avLst>
            <a:gd name="adj1" fmla="val 16120"/>
            <a:gd name="adj2" fmla="val 1611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2D14B2FA-FFC4-4BD4-85D0-6C018772E28B}">
      <dsp:nvSpPr>
        <dsp:cNvPr id="0" name=""/>
        <dsp:cNvSpPr/>
      </dsp:nvSpPr>
      <dsp:spPr>
        <a:xfrm>
          <a:off x="4258886" y="1890959"/>
          <a:ext cx="682816" cy="598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i="0" kern="1200" dirty="0"/>
            <a:t>Decision Making</a:t>
          </a:r>
        </a:p>
      </dsp:txBody>
      <dsp:txXfrm>
        <a:off x="4258886" y="1890959"/>
        <a:ext cx="682816" cy="598529"/>
      </dsp:txXfrm>
    </dsp:sp>
    <dsp:sp modelId="{78F67758-9DA6-4B9C-8E1E-124B284A7325}">
      <dsp:nvSpPr>
        <dsp:cNvPr id="0" name=""/>
        <dsp:cNvSpPr/>
      </dsp:nvSpPr>
      <dsp:spPr>
        <a:xfrm>
          <a:off x="4812870" y="1609298"/>
          <a:ext cx="128833" cy="128833"/>
        </a:xfrm>
        <a:prstGeom prst="triangle">
          <a:avLst>
            <a:gd name="adj" fmla="val 1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68F938AB-D35D-4876-974B-CC3254B13A78}">
      <dsp:nvSpPr>
        <dsp:cNvPr id="0" name=""/>
        <dsp:cNvSpPr/>
      </dsp:nvSpPr>
      <dsp:spPr>
        <a:xfrm rot="5400000">
          <a:off x="5170660" y="1458135"/>
          <a:ext cx="454530" cy="756327"/>
        </a:xfrm>
        <a:prstGeom prst="corner">
          <a:avLst>
            <a:gd name="adj1" fmla="val 16120"/>
            <a:gd name="adj2" fmla="val 1611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A34DFDA6-915B-41BD-BD15-976092466FC9}">
      <dsp:nvSpPr>
        <dsp:cNvPr id="0" name=""/>
        <dsp:cNvSpPr/>
      </dsp:nvSpPr>
      <dsp:spPr>
        <a:xfrm>
          <a:off x="5094788" y="1684114"/>
          <a:ext cx="682816" cy="598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i="0" kern="1200" dirty="0"/>
            <a:t>Action Implementation</a:t>
          </a:r>
        </a:p>
      </dsp:txBody>
      <dsp:txXfrm>
        <a:off x="5094788" y="1684114"/>
        <a:ext cx="682816" cy="598529"/>
      </dsp:txXfrm>
    </dsp:sp>
    <dsp:sp modelId="{D8FA5EE2-8993-4FEC-9DED-5E2EDDCEC248}">
      <dsp:nvSpPr>
        <dsp:cNvPr id="0" name=""/>
        <dsp:cNvSpPr/>
      </dsp:nvSpPr>
      <dsp:spPr>
        <a:xfrm>
          <a:off x="5648771" y="1402453"/>
          <a:ext cx="128833" cy="128833"/>
        </a:xfrm>
        <a:prstGeom prst="triangle">
          <a:avLst>
            <a:gd name="adj" fmla="val 1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E990502C-DB8F-49CB-B382-79A3F7ACE16E}">
      <dsp:nvSpPr>
        <dsp:cNvPr id="0" name=""/>
        <dsp:cNvSpPr/>
      </dsp:nvSpPr>
      <dsp:spPr>
        <a:xfrm rot="5400000">
          <a:off x="6006561" y="1251291"/>
          <a:ext cx="454530" cy="756327"/>
        </a:xfrm>
        <a:prstGeom prst="corner">
          <a:avLst>
            <a:gd name="adj1" fmla="val 16120"/>
            <a:gd name="adj2" fmla="val 1611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0CE70426-841C-4217-8464-9BD0F2D17F93}">
      <dsp:nvSpPr>
        <dsp:cNvPr id="0" name=""/>
        <dsp:cNvSpPr/>
      </dsp:nvSpPr>
      <dsp:spPr>
        <a:xfrm>
          <a:off x="5930689" y="1477270"/>
          <a:ext cx="682816" cy="598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i="0" kern="1200" dirty="0"/>
            <a:t>Cleaning Mechanism Activation</a:t>
          </a:r>
        </a:p>
      </dsp:txBody>
      <dsp:txXfrm>
        <a:off x="5930689" y="1477270"/>
        <a:ext cx="682816" cy="598529"/>
      </dsp:txXfrm>
    </dsp:sp>
    <dsp:sp modelId="{0B30AD59-DAE8-4AF6-A64F-C44836B73BC4}">
      <dsp:nvSpPr>
        <dsp:cNvPr id="0" name=""/>
        <dsp:cNvSpPr/>
      </dsp:nvSpPr>
      <dsp:spPr>
        <a:xfrm>
          <a:off x="6484673" y="1195609"/>
          <a:ext cx="128833" cy="128833"/>
        </a:xfrm>
        <a:prstGeom prst="triangle">
          <a:avLst>
            <a:gd name="adj" fmla="val 1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CAD7B151-D0E5-455A-AF77-2C5B3E667283}">
      <dsp:nvSpPr>
        <dsp:cNvPr id="0" name=""/>
        <dsp:cNvSpPr/>
      </dsp:nvSpPr>
      <dsp:spPr>
        <a:xfrm rot="5400000">
          <a:off x="6842463" y="1044446"/>
          <a:ext cx="454530" cy="756327"/>
        </a:xfrm>
        <a:prstGeom prst="corner">
          <a:avLst>
            <a:gd name="adj1" fmla="val 16120"/>
            <a:gd name="adj2" fmla="val 1611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F93E40D-A3E4-43B1-A6F0-7A7082CA2109}">
      <dsp:nvSpPr>
        <dsp:cNvPr id="0" name=""/>
        <dsp:cNvSpPr/>
      </dsp:nvSpPr>
      <dsp:spPr>
        <a:xfrm>
          <a:off x="6766590" y="1270425"/>
          <a:ext cx="682816" cy="598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i="0" kern="1200" dirty="0"/>
            <a:t>Cleaning Process</a:t>
          </a:r>
        </a:p>
      </dsp:txBody>
      <dsp:txXfrm>
        <a:off x="6766590" y="1270425"/>
        <a:ext cx="682816" cy="598529"/>
      </dsp:txXfrm>
    </dsp:sp>
    <dsp:sp modelId="{C0C437A3-4D50-4261-86BC-E9F68F7C8D38}">
      <dsp:nvSpPr>
        <dsp:cNvPr id="0" name=""/>
        <dsp:cNvSpPr/>
      </dsp:nvSpPr>
      <dsp:spPr>
        <a:xfrm>
          <a:off x="7320574" y="988764"/>
          <a:ext cx="128833" cy="128833"/>
        </a:xfrm>
        <a:prstGeom prst="triangle">
          <a:avLst>
            <a:gd name="adj" fmla="val 1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DB3A635-72A1-449C-977B-04EEE4B3ABD5}">
      <dsp:nvSpPr>
        <dsp:cNvPr id="0" name=""/>
        <dsp:cNvSpPr/>
      </dsp:nvSpPr>
      <dsp:spPr>
        <a:xfrm rot="5400000">
          <a:off x="7678364" y="837601"/>
          <a:ext cx="454530" cy="756327"/>
        </a:xfrm>
        <a:prstGeom prst="corner">
          <a:avLst>
            <a:gd name="adj1" fmla="val 16120"/>
            <a:gd name="adj2" fmla="val 1611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9CB494A-50B7-4361-BFA1-B3D01D7CB5F3}">
      <dsp:nvSpPr>
        <dsp:cNvPr id="0" name=""/>
        <dsp:cNvSpPr/>
      </dsp:nvSpPr>
      <dsp:spPr>
        <a:xfrm>
          <a:off x="7602492" y="1063580"/>
          <a:ext cx="682816" cy="598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IN" sz="800" b="1" i="0" kern="1200" dirty="0"/>
            <a:t>Continuous Monitoring</a:t>
          </a:r>
        </a:p>
      </dsp:txBody>
      <dsp:txXfrm>
        <a:off x="7602492" y="1063580"/>
        <a:ext cx="682816" cy="59852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8214705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42776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75035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60955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69385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81131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5"/>
        <p:cNvGrpSpPr/>
        <p:nvPr/>
      </p:nvGrpSpPr>
      <p:grpSpPr>
        <a:xfrm>
          <a:off x="0" y="0"/>
          <a:ext cx="0" cy="0"/>
          <a:chOff x="0" y="0"/>
          <a:chExt cx="0" cy="0"/>
        </a:xfrm>
      </p:grpSpPr>
      <p:sp>
        <p:nvSpPr>
          <p:cNvPr id="16" name="Google Shape;16;p2"/>
          <p:cNvSpPr/>
          <p:nvPr/>
        </p:nvSpPr>
        <p:spPr>
          <a:xfrm>
            <a:off x="0" y="1"/>
            <a:ext cx="8348870" cy="716672"/>
          </a:xfrm>
          <a:prstGeom prst="rect">
            <a:avLst/>
          </a:prstGeom>
          <a:solidFill>
            <a:srgbClr val="0098DA"/>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r>
              <a:rPr lang="en-US" sz="2100" b="0" i="0" u="none" strike="noStrike" cap="none">
                <a:solidFill>
                  <a:schemeClr val="lt1"/>
                </a:solidFill>
                <a:latin typeface="Times New Roman"/>
                <a:ea typeface="Times New Roman"/>
                <a:cs typeface="Times New Roman"/>
                <a:sym typeface="Times New Roman"/>
              </a:rPr>
              <a:t>NATIONAL INSTITUTE OF TECHNOLOGY GOA</a:t>
            </a:r>
            <a:endParaRPr sz="2100" b="0" i="0" u="none" strike="noStrike" cap="none">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100" b="0" i="0" u="none" strike="noStrike" cap="none">
                <a:solidFill>
                  <a:schemeClr val="lt1"/>
                </a:solidFill>
                <a:latin typeface="Calibri"/>
                <a:ea typeface="Calibri"/>
                <a:cs typeface="Calibri"/>
                <a:sym typeface="Calibri"/>
              </a:rPr>
              <a:t>राष्ट्रीय प्रौधोगिकी संस्थान गोवा</a:t>
            </a:r>
            <a:endParaRPr sz="2100" b="0" i="0" u="none" strike="noStrike" cap="none">
              <a:solidFill>
                <a:schemeClr val="lt1"/>
              </a:solidFill>
              <a:latin typeface="Calibri"/>
              <a:ea typeface="Calibri"/>
              <a:cs typeface="Calibri"/>
              <a:sym typeface="Calibri"/>
            </a:endParaRPr>
          </a:p>
        </p:txBody>
      </p:sp>
      <p:pic>
        <p:nvPicPr>
          <p:cNvPr id="17" name="Google Shape;17;p2" descr="Image result for nit goa logo"/>
          <p:cNvPicPr preferRelativeResize="0"/>
          <p:nvPr/>
        </p:nvPicPr>
        <p:blipFill rotWithShape="1">
          <a:blip r:embed="rId2">
            <a:alphaModFix/>
          </a:blip>
          <a:srcRect/>
          <a:stretch/>
        </p:blipFill>
        <p:spPr>
          <a:xfrm>
            <a:off x="8402257" y="19879"/>
            <a:ext cx="711926" cy="716672"/>
          </a:xfrm>
          <a:prstGeom prst="rect">
            <a:avLst/>
          </a:prstGeom>
          <a:noFill/>
          <a:ln>
            <a:noFill/>
          </a:ln>
        </p:spPr>
      </p:pic>
    </p:spTree>
    <p:extLst>
      <p:ext uri="{BB962C8B-B14F-4D97-AF65-F5344CB8AC3E}">
        <p14:creationId xmlns:p14="http://schemas.microsoft.com/office/powerpoint/2010/main" val="3126513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5"/>
        <p:cNvGrpSpPr/>
        <p:nvPr/>
      </p:nvGrpSpPr>
      <p:grpSpPr>
        <a:xfrm>
          <a:off x="0" y="0"/>
          <a:ext cx="0" cy="0"/>
          <a:chOff x="0" y="0"/>
          <a:chExt cx="0" cy="0"/>
        </a:xfrm>
      </p:grpSpPr>
      <p:pic>
        <p:nvPicPr>
          <p:cNvPr id="26" name="Google Shape;26;p4" descr="Image result for nit goa logo"/>
          <p:cNvPicPr preferRelativeResize="0"/>
          <p:nvPr/>
        </p:nvPicPr>
        <p:blipFill rotWithShape="1">
          <a:blip r:embed="rId2">
            <a:alphaModFix/>
          </a:blip>
          <a:srcRect/>
          <a:stretch/>
        </p:blipFill>
        <p:spPr>
          <a:xfrm>
            <a:off x="8451952" y="38502"/>
            <a:ext cx="633962" cy="638189"/>
          </a:xfrm>
          <a:prstGeom prst="rect">
            <a:avLst/>
          </a:prstGeom>
          <a:noFill/>
          <a:ln>
            <a:noFill/>
          </a:ln>
        </p:spPr>
      </p:pic>
      <p:cxnSp>
        <p:nvCxnSpPr>
          <p:cNvPr id="27" name="Google Shape;27;p4"/>
          <p:cNvCxnSpPr/>
          <p:nvPr/>
        </p:nvCxnSpPr>
        <p:spPr>
          <a:xfrm>
            <a:off x="0" y="742950"/>
            <a:ext cx="9144000" cy="0"/>
          </a:xfrm>
          <a:prstGeom prst="straightConnector1">
            <a:avLst/>
          </a:prstGeom>
          <a:noFill/>
          <a:ln w="50800" cap="flat" cmpd="sng">
            <a:solidFill>
              <a:srgbClr val="0098DA"/>
            </a:solidFill>
            <a:prstDash val="solid"/>
            <a:miter lim="800000"/>
            <a:headEnd type="none" w="sm" len="sm"/>
            <a:tailEnd type="none" w="sm" len="sm"/>
          </a:ln>
        </p:spPr>
      </p:cxnSp>
      <p:cxnSp>
        <p:nvCxnSpPr>
          <p:cNvPr id="28" name="Google Shape;28;p4"/>
          <p:cNvCxnSpPr/>
          <p:nvPr/>
        </p:nvCxnSpPr>
        <p:spPr>
          <a:xfrm>
            <a:off x="0" y="5067300"/>
            <a:ext cx="9144000" cy="0"/>
          </a:xfrm>
          <a:prstGeom prst="straightConnector1">
            <a:avLst/>
          </a:prstGeom>
          <a:noFill/>
          <a:ln w="222250" cap="flat" cmpd="sng">
            <a:solidFill>
              <a:srgbClr val="0098DA"/>
            </a:solidFill>
            <a:prstDash val="solid"/>
            <a:miter lim="800000"/>
            <a:headEnd type="none" w="sm" len="sm"/>
            <a:tailEnd type="none" w="sm" len="sm"/>
          </a:ln>
        </p:spPr>
      </p:cxnSp>
      <p:sp>
        <p:nvSpPr>
          <p:cNvPr id="29" name="Google Shape;29;p4"/>
          <p:cNvSpPr txBox="1"/>
          <p:nvPr/>
        </p:nvSpPr>
        <p:spPr>
          <a:xfrm>
            <a:off x="8386354" y="4984297"/>
            <a:ext cx="679682" cy="159203"/>
          </a:xfrm>
          <a:prstGeom prst="rect">
            <a:avLst/>
          </a:prstGeom>
          <a:noFill/>
          <a:ln>
            <a:noFill/>
          </a:ln>
        </p:spPr>
        <p:txBody>
          <a:bodyPr spcFirstLastPara="1" wrap="square" lIns="68569" tIns="34275" rIns="68569" bIns="34275" anchor="ctr" anchorCtr="0">
            <a:noAutofit/>
          </a:bodyPr>
          <a:lstStyle/>
          <a:p>
            <a:pPr algn="r"/>
            <a:fld id="{00000000-1234-1234-1234-123412341234}" type="slidenum">
              <a:rPr lang="en-US" sz="1100">
                <a:solidFill>
                  <a:srgbClr val="FFFFFF"/>
                </a:solidFill>
                <a:latin typeface="Times New Roman"/>
                <a:ea typeface="Times New Roman"/>
                <a:cs typeface="Times New Roman"/>
                <a:sym typeface="Times New Roman"/>
              </a:rPr>
              <a:pPr algn="r"/>
              <a:t>‹#›</a:t>
            </a:fld>
            <a:endParaRPr sz="1100">
              <a:solidFill>
                <a:srgbClr val="FFFFFF"/>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8490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271054" y="53992"/>
            <a:ext cx="4980472" cy="608690"/>
          </a:xfrm>
          <a:prstGeom prst="rect">
            <a:avLst/>
          </a:prstGeom>
          <a:noFill/>
          <a:ln>
            <a:noFill/>
          </a:ln>
        </p:spPr>
        <p:txBody>
          <a:bodyPr spcFirstLastPara="1" wrap="square" lIns="68569" tIns="34275" rIns="68569" bIns="34275" anchor="ctr" anchorCtr="0">
            <a:normAutofit/>
          </a:bodyPr>
          <a:lstStyle>
            <a:lvl1pPr lvl="0" algn="l">
              <a:lnSpc>
                <a:spcPct val="90000"/>
              </a:lnSpc>
              <a:spcBef>
                <a:spcPts val="0"/>
              </a:spcBef>
              <a:spcAft>
                <a:spcPts val="0"/>
              </a:spcAft>
              <a:buClr>
                <a:schemeClr val="dk1"/>
              </a:buClr>
              <a:buSzPts val="4000"/>
              <a:buFont typeface="Times New Roman"/>
              <a:buNone/>
              <a:defRPr sz="3000" b="1">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628650" y="837498"/>
            <a:ext cx="3886200" cy="3934384"/>
          </a:xfrm>
          <a:prstGeom prst="rect">
            <a:avLst/>
          </a:prstGeom>
          <a:noFill/>
          <a:ln>
            <a:noFill/>
          </a:ln>
        </p:spPr>
        <p:txBody>
          <a:bodyPr spcFirstLastPara="1" wrap="square" lIns="68569" tIns="34275" rIns="68569" bIns="34275" anchor="t" anchorCtr="0">
            <a:normAutofit/>
          </a:bodyPr>
          <a:lstStyle>
            <a:lvl1pPr marL="342900" lvl="0" indent="-285750" algn="l">
              <a:lnSpc>
                <a:spcPct val="90000"/>
              </a:lnSpc>
              <a:spcBef>
                <a:spcPts val="750"/>
              </a:spcBef>
              <a:spcAft>
                <a:spcPts val="0"/>
              </a:spcAft>
              <a:buClr>
                <a:schemeClr val="dk1"/>
              </a:buClr>
              <a:buSzPts val="2400"/>
              <a:buChar char="•"/>
              <a:defRPr b="0">
                <a:latin typeface="Times New Roman"/>
                <a:ea typeface="Times New Roman"/>
                <a:cs typeface="Times New Roman"/>
                <a:sym typeface="Times New Roman"/>
              </a:defRPr>
            </a:lvl1pPr>
            <a:lvl2pPr marL="685800" lvl="1" indent="-266700" algn="l">
              <a:lnSpc>
                <a:spcPct val="90000"/>
              </a:lnSpc>
              <a:spcBef>
                <a:spcPts val="375"/>
              </a:spcBef>
              <a:spcAft>
                <a:spcPts val="0"/>
              </a:spcAft>
              <a:buClr>
                <a:schemeClr val="dk1"/>
              </a:buClr>
              <a:buSzPts val="2000"/>
              <a:buChar char="•"/>
              <a:defRPr>
                <a:latin typeface="Times New Roman"/>
                <a:ea typeface="Times New Roman"/>
                <a:cs typeface="Times New Roman"/>
                <a:sym typeface="Times New Roman"/>
              </a:defRPr>
            </a:lvl2pPr>
            <a:lvl3pPr marL="1028700" lvl="2" indent="-257175" algn="l">
              <a:lnSpc>
                <a:spcPct val="90000"/>
              </a:lnSpc>
              <a:spcBef>
                <a:spcPts val="375"/>
              </a:spcBef>
              <a:spcAft>
                <a:spcPts val="0"/>
              </a:spcAft>
              <a:buClr>
                <a:schemeClr val="dk1"/>
              </a:buClr>
              <a:buSzPts val="1800"/>
              <a:buChar char="•"/>
              <a:defRPr>
                <a:latin typeface="Times New Roman"/>
                <a:ea typeface="Times New Roman"/>
                <a:cs typeface="Times New Roman"/>
                <a:sym typeface="Times New Roman"/>
              </a:defRPr>
            </a:lvl3pPr>
            <a:lvl4pPr marL="1371600" lvl="3" indent="-247650" algn="l">
              <a:lnSpc>
                <a:spcPct val="90000"/>
              </a:lnSpc>
              <a:spcBef>
                <a:spcPts val="375"/>
              </a:spcBef>
              <a:spcAft>
                <a:spcPts val="0"/>
              </a:spcAft>
              <a:buClr>
                <a:schemeClr val="dk1"/>
              </a:buClr>
              <a:buSzPts val="1600"/>
              <a:buChar char="•"/>
              <a:defRPr>
                <a:latin typeface="Times New Roman"/>
                <a:ea typeface="Times New Roman"/>
                <a:cs typeface="Times New Roman"/>
                <a:sym typeface="Times New Roman"/>
              </a:defRPr>
            </a:lvl4pPr>
            <a:lvl5pPr marL="1714500" lvl="4" indent="-257175" algn="l">
              <a:lnSpc>
                <a:spcPct val="90000"/>
              </a:lnSpc>
              <a:spcBef>
                <a:spcPts val="375"/>
              </a:spcBef>
              <a:spcAft>
                <a:spcPts val="0"/>
              </a:spcAft>
              <a:buClr>
                <a:schemeClr val="dk1"/>
              </a:buClr>
              <a:buSzPts val="1800"/>
              <a:buChar char="•"/>
              <a:defRPr>
                <a:latin typeface="Times New Roman"/>
                <a:ea typeface="Times New Roman"/>
                <a:cs typeface="Times New Roman"/>
                <a:sym typeface="Times New Roman"/>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body" idx="2"/>
          </p:nvPr>
        </p:nvSpPr>
        <p:spPr>
          <a:xfrm>
            <a:off x="4629150" y="837498"/>
            <a:ext cx="3886200" cy="3934384"/>
          </a:xfrm>
          <a:prstGeom prst="rect">
            <a:avLst/>
          </a:prstGeom>
          <a:noFill/>
          <a:ln>
            <a:noFill/>
          </a:ln>
        </p:spPr>
        <p:txBody>
          <a:bodyPr spcFirstLastPara="1" wrap="square" lIns="68569" tIns="34275" rIns="68569" bIns="34275" anchor="t" anchorCtr="0">
            <a:normAutofit/>
          </a:bodyPr>
          <a:lstStyle>
            <a:lvl1pPr marL="342900" lvl="0" indent="-285750" algn="l">
              <a:lnSpc>
                <a:spcPct val="90000"/>
              </a:lnSpc>
              <a:spcBef>
                <a:spcPts val="750"/>
              </a:spcBef>
              <a:spcAft>
                <a:spcPts val="0"/>
              </a:spcAft>
              <a:buClr>
                <a:schemeClr val="dk1"/>
              </a:buClr>
              <a:buSzPts val="2400"/>
              <a:buChar char="•"/>
              <a:defRPr b="0">
                <a:latin typeface="Times New Roman"/>
                <a:ea typeface="Times New Roman"/>
                <a:cs typeface="Times New Roman"/>
                <a:sym typeface="Times New Roman"/>
              </a:defRPr>
            </a:lvl1pPr>
            <a:lvl2pPr marL="685800" lvl="1" indent="-266700" algn="l">
              <a:lnSpc>
                <a:spcPct val="90000"/>
              </a:lnSpc>
              <a:spcBef>
                <a:spcPts val="375"/>
              </a:spcBef>
              <a:spcAft>
                <a:spcPts val="0"/>
              </a:spcAft>
              <a:buClr>
                <a:schemeClr val="dk1"/>
              </a:buClr>
              <a:buSzPts val="2000"/>
              <a:buChar char="•"/>
              <a:defRPr>
                <a:latin typeface="Times New Roman"/>
                <a:ea typeface="Times New Roman"/>
                <a:cs typeface="Times New Roman"/>
                <a:sym typeface="Times New Roman"/>
              </a:defRPr>
            </a:lvl2pPr>
            <a:lvl3pPr marL="1028700" lvl="2" indent="-257175" algn="l">
              <a:lnSpc>
                <a:spcPct val="90000"/>
              </a:lnSpc>
              <a:spcBef>
                <a:spcPts val="375"/>
              </a:spcBef>
              <a:spcAft>
                <a:spcPts val="0"/>
              </a:spcAft>
              <a:buClr>
                <a:schemeClr val="dk1"/>
              </a:buClr>
              <a:buSzPts val="1800"/>
              <a:buChar char="•"/>
              <a:defRPr>
                <a:latin typeface="Times New Roman"/>
                <a:ea typeface="Times New Roman"/>
                <a:cs typeface="Times New Roman"/>
                <a:sym typeface="Times New Roman"/>
              </a:defRPr>
            </a:lvl3pPr>
            <a:lvl4pPr marL="1371600" lvl="3" indent="-247650" algn="l">
              <a:lnSpc>
                <a:spcPct val="90000"/>
              </a:lnSpc>
              <a:spcBef>
                <a:spcPts val="375"/>
              </a:spcBef>
              <a:spcAft>
                <a:spcPts val="0"/>
              </a:spcAft>
              <a:buClr>
                <a:schemeClr val="dk1"/>
              </a:buClr>
              <a:buSzPts val="1600"/>
              <a:buChar char="•"/>
              <a:defRPr>
                <a:latin typeface="Times New Roman"/>
                <a:ea typeface="Times New Roman"/>
                <a:cs typeface="Times New Roman"/>
                <a:sym typeface="Times New Roman"/>
              </a:defRPr>
            </a:lvl4pPr>
            <a:lvl5pPr marL="1714500" lvl="4" indent="-257175" algn="l">
              <a:lnSpc>
                <a:spcPct val="90000"/>
              </a:lnSpc>
              <a:spcBef>
                <a:spcPts val="375"/>
              </a:spcBef>
              <a:spcAft>
                <a:spcPts val="0"/>
              </a:spcAft>
              <a:buClr>
                <a:schemeClr val="dk1"/>
              </a:buClr>
              <a:buSzPts val="1800"/>
              <a:buChar char="•"/>
              <a:defRPr>
                <a:latin typeface="Times New Roman"/>
                <a:ea typeface="Times New Roman"/>
                <a:cs typeface="Times New Roman"/>
                <a:sym typeface="Times New Roman"/>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cxnSp>
        <p:nvCxnSpPr>
          <p:cNvPr id="34" name="Google Shape;34;p5"/>
          <p:cNvCxnSpPr/>
          <p:nvPr/>
        </p:nvCxnSpPr>
        <p:spPr>
          <a:xfrm>
            <a:off x="0" y="742950"/>
            <a:ext cx="9144000" cy="0"/>
          </a:xfrm>
          <a:prstGeom prst="straightConnector1">
            <a:avLst/>
          </a:prstGeom>
          <a:noFill/>
          <a:ln w="50800" cap="flat" cmpd="sng">
            <a:solidFill>
              <a:srgbClr val="0098DA"/>
            </a:solidFill>
            <a:prstDash val="solid"/>
            <a:miter lim="800000"/>
            <a:headEnd type="none" w="sm" len="sm"/>
            <a:tailEnd type="none" w="sm" len="sm"/>
          </a:ln>
        </p:spPr>
      </p:cxnSp>
      <p:cxnSp>
        <p:nvCxnSpPr>
          <p:cNvPr id="35" name="Google Shape;35;p5"/>
          <p:cNvCxnSpPr/>
          <p:nvPr/>
        </p:nvCxnSpPr>
        <p:spPr>
          <a:xfrm>
            <a:off x="0" y="5067300"/>
            <a:ext cx="9144000" cy="0"/>
          </a:xfrm>
          <a:prstGeom prst="straightConnector1">
            <a:avLst/>
          </a:prstGeom>
          <a:noFill/>
          <a:ln w="222250" cap="flat" cmpd="sng">
            <a:solidFill>
              <a:srgbClr val="0098DA"/>
            </a:solidFill>
            <a:prstDash val="solid"/>
            <a:miter lim="800000"/>
            <a:headEnd type="none" w="sm" len="sm"/>
            <a:tailEnd type="none" w="sm" len="sm"/>
          </a:ln>
        </p:spPr>
      </p:cxnSp>
      <p:sp>
        <p:nvSpPr>
          <p:cNvPr id="36" name="Google Shape;36;p5"/>
          <p:cNvSpPr txBox="1"/>
          <p:nvPr/>
        </p:nvSpPr>
        <p:spPr>
          <a:xfrm>
            <a:off x="8386354" y="4984297"/>
            <a:ext cx="679682" cy="159203"/>
          </a:xfrm>
          <a:prstGeom prst="rect">
            <a:avLst/>
          </a:prstGeom>
          <a:noFill/>
          <a:ln>
            <a:noFill/>
          </a:ln>
        </p:spPr>
        <p:txBody>
          <a:bodyPr spcFirstLastPara="1" wrap="square" lIns="68569" tIns="34275" rIns="68569" bIns="34275" anchor="ctr" anchorCtr="0">
            <a:noAutofit/>
          </a:bodyPr>
          <a:lstStyle/>
          <a:p>
            <a:pPr algn="r"/>
            <a:fld id="{00000000-1234-1234-1234-123412341234}" type="slidenum">
              <a:rPr lang="en-US" sz="1100">
                <a:solidFill>
                  <a:srgbClr val="FFFFFF"/>
                </a:solidFill>
                <a:latin typeface="Times New Roman"/>
                <a:ea typeface="Times New Roman"/>
                <a:cs typeface="Times New Roman"/>
                <a:sym typeface="Times New Roman"/>
              </a:rPr>
              <a:pPr algn="r"/>
              <a:t>‹#›</a:t>
            </a:fld>
            <a:endParaRPr sz="1100">
              <a:solidFill>
                <a:srgbClr val="FFFFFF"/>
              </a:solidFill>
              <a:latin typeface="Times New Roman"/>
              <a:ea typeface="Times New Roman"/>
              <a:cs typeface="Times New Roman"/>
              <a:sym typeface="Times New Roman"/>
            </a:endParaRPr>
          </a:p>
        </p:txBody>
      </p:sp>
      <p:pic>
        <p:nvPicPr>
          <p:cNvPr id="37" name="Google Shape;37;p5" descr="Image result for nit goa logo"/>
          <p:cNvPicPr preferRelativeResize="0"/>
          <p:nvPr/>
        </p:nvPicPr>
        <p:blipFill rotWithShape="1">
          <a:blip r:embed="rId2">
            <a:alphaModFix/>
          </a:blip>
          <a:srcRect/>
          <a:stretch/>
        </p:blipFill>
        <p:spPr>
          <a:xfrm>
            <a:off x="8451952" y="38502"/>
            <a:ext cx="633962" cy="638189"/>
          </a:xfrm>
          <a:prstGeom prst="rect">
            <a:avLst/>
          </a:prstGeom>
          <a:noFill/>
          <a:ln>
            <a:noFill/>
          </a:ln>
        </p:spPr>
      </p:pic>
    </p:spTree>
    <p:extLst>
      <p:ext uri="{BB962C8B-B14F-4D97-AF65-F5344CB8AC3E}">
        <p14:creationId xmlns:p14="http://schemas.microsoft.com/office/powerpoint/2010/main" val="88367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st Page">
  <p:cSld name="Last Page">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3741694" y="2028411"/>
            <a:ext cx="2410628" cy="533400"/>
          </a:xfrm>
          <a:prstGeom prst="rect">
            <a:avLst/>
          </a:prstGeom>
          <a:noFill/>
          <a:ln>
            <a:noFill/>
          </a:ln>
        </p:spPr>
        <p:txBody>
          <a:bodyPr spcFirstLastPara="1" wrap="square" lIns="68569" tIns="34275" rIns="68569" bIns="34275" anchor="t" anchorCtr="0">
            <a:normAutofit/>
          </a:bodyPr>
          <a:lstStyle>
            <a:lvl1pPr lvl="0" algn="ctr">
              <a:lnSpc>
                <a:spcPct val="90000"/>
              </a:lnSpc>
              <a:spcBef>
                <a:spcPts val="0"/>
              </a:spcBef>
              <a:spcAft>
                <a:spcPts val="0"/>
              </a:spcAft>
              <a:buClr>
                <a:schemeClr val="dk1"/>
              </a:buClr>
              <a:buSzPts val="3600"/>
              <a:buFont typeface="Times New Roman"/>
              <a:buNone/>
              <a:defRPr sz="2700" b="1" cap="none">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40" name="Google Shape;40;p6"/>
          <p:cNvCxnSpPr/>
          <p:nvPr/>
        </p:nvCxnSpPr>
        <p:spPr>
          <a:xfrm>
            <a:off x="4203637" y="2474455"/>
            <a:ext cx="1507165" cy="0"/>
          </a:xfrm>
          <a:prstGeom prst="straightConnector1">
            <a:avLst/>
          </a:prstGeom>
          <a:noFill/>
          <a:ln w="50800" cap="flat" cmpd="sng">
            <a:solidFill>
              <a:srgbClr val="248BD0"/>
            </a:solidFill>
            <a:prstDash val="solid"/>
            <a:miter lim="800000"/>
            <a:headEnd type="none" w="sm" len="sm"/>
            <a:tailEnd type="none" w="sm" len="sm"/>
          </a:ln>
        </p:spPr>
      </p:cxnSp>
    </p:spTree>
    <p:extLst>
      <p:ext uri="{BB962C8B-B14F-4D97-AF65-F5344CB8AC3E}">
        <p14:creationId xmlns:p14="http://schemas.microsoft.com/office/powerpoint/2010/main" val="2514841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6" r:id="rId6"/>
    <p:sldLayoutId id="2147483657" r:id="rId7"/>
    <p:sldLayoutId id="2147483666" r:id="rId8"/>
  </p:sldLayoutIdLst>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172"/>
          </a:xfrm>
          <a:prstGeom prst="rect">
            <a:avLst/>
          </a:prstGeom>
          <a:noFill/>
          <a:ln>
            <a:noFill/>
          </a:ln>
        </p:spPr>
        <p:txBody>
          <a:bodyPr spcFirstLastPara="1" wrap="square" lIns="68569" tIns="34275" rIns="68569" bIns="34275" anchor="ctr" anchorCtr="0">
            <a:normAutofit/>
          </a:bodyPr>
          <a:lstStyle>
            <a:lvl1pPr marR="0" lvl="0" algn="l" rtl="0">
              <a:lnSpc>
                <a:spcPct val="90000"/>
              </a:lnSpc>
              <a:spcBef>
                <a:spcPts val="0"/>
              </a:spcBef>
              <a:spcAft>
                <a:spcPts val="0"/>
              </a:spcAft>
              <a:buClr>
                <a:schemeClr val="dk1"/>
              </a:buClr>
              <a:buSzPts val="4400"/>
              <a:buFont typeface="Times New Roman"/>
              <a:buNone/>
              <a:defRPr sz="4400"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68569" tIns="34275" rIns="68569" bIns="34275" anchor="t" anchorCtr="0">
            <a:normAutofit/>
          </a:bodyPr>
          <a:lstStyle>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4767263"/>
            <a:ext cx="2057400" cy="273844"/>
          </a:xfrm>
          <a:prstGeom prst="rect">
            <a:avLst/>
          </a:prstGeom>
          <a:noFill/>
          <a:ln>
            <a:noFill/>
          </a:ln>
        </p:spPr>
        <p:txBody>
          <a:bodyPr spcFirstLastPara="1" wrap="square" lIns="68569" tIns="34275" rIns="68569" bIns="34275"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68569" tIns="34275" rIns="68569" bIns="34275"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68569" tIns="34275" rIns="68569"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197875624"/>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0.xml"/><Relationship Id="rId5" Type="http://schemas.openxmlformats.org/officeDocument/2006/relationships/image" Target="../media/image9.JPG"/><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0.xml"/><Relationship Id="rId6" Type="http://schemas.openxmlformats.org/officeDocument/2006/relationships/image" Target="../media/image14.jpeg"/><Relationship Id="rId5" Type="http://schemas.openxmlformats.org/officeDocument/2006/relationships/image" Target="../media/image13.jpg"/><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7.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image" Target="../media/image18.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e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Layout" Target="../slideLayouts/slideLayout10.xml"/><Relationship Id="rId4" Type="http://schemas.microsoft.com/office/2007/relationships/hdphoto" Target="../media/hdphoto2.wdp"/></Relationships>
</file>

<file path=ppt/slides/_rels/slide3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7"/>
          <p:cNvSpPr txBox="1">
            <a:spLocks noGrp="1"/>
          </p:cNvSpPr>
          <p:nvPr>
            <p:ph type="ctrTitle" idx="4294967295"/>
          </p:nvPr>
        </p:nvSpPr>
        <p:spPr>
          <a:xfrm>
            <a:off x="122981" y="1579155"/>
            <a:ext cx="8941500" cy="1299825"/>
          </a:xfrm>
          <a:prstGeom prst="rect">
            <a:avLst/>
          </a:prstGeom>
          <a:noFill/>
          <a:ln>
            <a:noFill/>
          </a:ln>
        </p:spPr>
        <p:txBody>
          <a:bodyPr spcFirstLastPara="1" wrap="square" lIns="68569" tIns="34275" rIns="68569" bIns="34275" anchor="ctr" anchorCtr="0">
            <a:noAutofit/>
          </a:bodyPr>
          <a:lstStyle/>
          <a:p>
            <a:pPr algn="ctr">
              <a:lnSpc>
                <a:spcPct val="90000"/>
              </a:lnSpc>
              <a:spcBef>
                <a:spcPts val="900"/>
              </a:spcBef>
              <a:buClr>
                <a:srgbClr val="C00000"/>
              </a:buClr>
              <a:buSzPts val="3240"/>
            </a:pPr>
            <a:r>
              <a:rPr lang="en-IN" sz="2000" b="1" dirty="0">
                <a:solidFill>
                  <a:srgbClr val="C00000"/>
                </a:solidFill>
                <a:latin typeface="Times New Roman"/>
                <a:ea typeface="Times New Roman"/>
                <a:cs typeface="Times New Roman"/>
                <a:sym typeface="Times New Roman"/>
              </a:rPr>
              <a:t>AUTONOMOUS HOUSE CLEANING ROBOT </a:t>
            </a:r>
            <a:r>
              <a:rPr lang="en-IN" sz="2000" b="1" i="0" dirty="0">
                <a:solidFill>
                  <a:srgbClr val="C00000"/>
                </a:solidFill>
                <a:effectLst/>
                <a:highlight>
                  <a:srgbClr val="FFFFFF"/>
                </a:highlight>
                <a:latin typeface="Times New Roman" panose="02020603050405020304" pitchFamily="18" charset="0"/>
                <a:cs typeface="Times New Roman" panose="02020603050405020304" pitchFamily="18" charset="0"/>
              </a:rPr>
              <a:t>WITH DEBRIS</a:t>
            </a:r>
            <a:br>
              <a:rPr lang="en-IN" sz="2000" b="1" dirty="0">
                <a:solidFill>
                  <a:srgbClr val="C00000"/>
                </a:solidFill>
                <a:latin typeface="Times New Roman" panose="02020603050405020304" pitchFamily="18" charset="0"/>
                <a:cs typeface="Times New Roman" panose="02020603050405020304" pitchFamily="18" charset="0"/>
              </a:rPr>
            </a:br>
            <a:r>
              <a:rPr lang="en-IN" sz="2000" b="1" i="0" dirty="0">
                <a:solidFill>
                  <a:srgbClr val="C00000"/>
                </a:solidFill>
                <a:effectLst/>
                <a:highlight>
                  <a:srgbClr val="FFFFFF"/>
                </a:highlight>
                <a:latin typeface="Times New Roman" panose="02020603050405020304" pitchFamily="18" charset="0"/>
                <a:cs typeface="Times New Roman" panose="02020603050405020304" pitchFamily="18" charset="0"/>
              </a:rPr>
              <a:t>CLASSIFICATION FEATURE USING ADVANCED ML</a:t>
            </a:r>
            <a:br>
              <a:rPr lang="en-IN" sz="2000" b="1" dirty="0">
                <a:solidFill>
                  <a:srgbClr val="C00000"/>
                </a:solidFill>
                <a:latin typeface="Times New Roman" panose="02020603050405020304" pitchFamily="18" charset="0"/>
                <a:cs typeface="Times New Roman" panose="02020603050405020304" pitchFamily="18" charset="0"/>
              </a:rPr>
            </a:br>
            <a:r>
              <a:rPr lang="en-IN" sz="2000" b="1" i="0" dirty="0">
                <a:solidFill>
                  <a:srgbClr val="C00000"/>
                </a:solidFill>
                <a:effectLst/>
                <a:highlight>
                  <a:srgbClr val="FFFFFF"/>
                </a:highlight>
                <a:latin typeface="Times New Roman" panose="02020603050405020304" pitchFamily="18" charset="0"/>
                <a:cs typeface="Times New Roman" panose="02020603050405020304" pitchFamily="18" charset="0"/>
              </a:rPr>
              <a:t>ALGORITHMS</a:t>
            </a:r>
            <a:endParaRPr sz="2000" b="1"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7" name="Google Shape;47;p7"/>
          <p:cNvSpPr txBox="1"/>
          <p:nvPr/>
        </p:nvSpPr>
        <p:spPr>
          <a:xfrm>
            <a:off x="292126" y="3190202"/>
            <a:ext cx="2144475" cy="1004807"/>
          </a:xfrm>
          <a:prstGeom prst="rect">
            <a:avLst/>
          </a:prstGeom>
          <a:noFill/>
          <a:ln>
            <a:noFill/>
          </a:ln>
        </p:spPr>
        <p:txBody>
          <a:bodyPr spcFirstLastPara="1" wrap="square" lIns="68569" tIns="34275" rIns="68569" bIns="34275" anchor="t" anchorCtr="0">
            <a:noAutofit/>
          </a:bodyPr>
          <a:lstStyle/>
          <a:p>
            <a:pPr>
              <a:spcBef>
                <a:spcPts val="900"/>
              </a:spcBef>
              <a:buClr>
                <a:schemeClr val="dk1"/>
              </a:buClr>
              <a:buSzPts val="935"/>
            </a:pPr>
            <a:r>
              <a:rPr lang="en-US" sz="1200" b="1" dirty="0">
                <a:solidFill>
                  <a:schemeClr val="dk1"/>
                </a:solidFill>
                <a:latin typeface="Times New Roman" panose="02020603050405020304" pitchFamily="18" charset="0"/>
                <a:ea typeface="Times New Roman"/>
                <a:cs typeface="Times New Roman" panose="02020603050405020304" pitchFamily="18" charset="0"/>
                <a:sym typeface="Times New Roman"/>
              </a:rPr>
              <a:t>Advisor:</a:t>
            </a:r>
          </a:p>
          <a:p>
            <a:pPr>
              <a:spcBef>
                <a:spcPts val="900"/>
              </a:spcBef>
              <a:buClr>
                <a:schemeClr val="dk1"/>
              </a:buClr>
              <a:buSzPts val="935"/>
            </a:pPr>
            <a:r>
              <a:rPr lang="en-US" sz="1200" dirty="0">
                <a:solidFill>
                  <a:schemeClr val="dk1"/>
                </a:solidFill>
                <a:latin typeface="Times New Roman" panose="02020603050405020304" pitchFamily="18" charset="0"/>
                <a:ea typeface="Times New Roman"/>
                <a:cs typeface="Times New Roman" panose="02020603050405020304" pitchFamily="18" charset="0"/>
                <a:sym typeface="Times New Roman"/>
              </a:rPr>
              <a:t>Dr. Gaurang Ruhela</a:t>
            </a:r>
          </a:p>
          <a:p>
            <a:pPr>
              <a:spcBef>
                <a:spcPts val="900"/>
              </a:spcBef>
              <a:buClr>
                <a:schemeClr val="dk1"/>
              </a:buClr>
              <a:buSzPts val="935"/>
            </a:pPr>
            <a:endParaRPr lang="en-US"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a:lnSpc>
                <a:spcPct val="70000"/>
              </a:lnSpc>
              <a:spcBef>
                <a:spcPts val="900"/>
              </a:spcBef>
              <a:buClr>
                <a:schemeClr val="dk1"/>
              </a:buClr>
              <a:buSzPts val="1275"/>
            </a:pPr>
            <a:endParaRPr sz="1600" dirty="0">
              <a:solidFill>
                <a:schemeClr val="dk1"/>
              </a:solidFill>
              <a:latin typeface="Times New Roman"/>
              <a:ea typeface="Times New Roman"/>
              <a:cs typeface="Times New Roman"/>
              <a:sym typeface="Times New Roman"/>
            </a:endParaRPr>
          </a:p>
        </p:txBody>
      </p:sp>
      <p:cxnSp>
        <p:nvCxnSpPr>
          <p:cNvPr id="48" name="Google Shape;48;p7"/>
          <p:cNvCxnSpPr/>
          <p:nvPr/>
        </p:nvCxnSpPr>
        <p:spPr>
          <a:xfrm>
            <a:off x="21375" y="2916377"/>
            <a:ext cx="9122625" cy="11250"/>
          </a:xfrm>
          <a:prstGeom prst="straightConnector1">
            <a:avLst/>
          </a:prstGeom>
          <a:noFill/>
          <a:ln w="38100" cap="flat" cmpd="sng">
            <a:solidFill>
              <a:schemeClr val="accent5"/>
            </a:solidFill>
            <a:prstDash val="solid"/>
            <a:round/>
            <a:headEnd type="none" w="med" len="med"/>
            <a:tailEnd type="none" w="med" len="med"/>
          </a:ln>
        </p:spPr>
      </p:cxnSp>
      <p:sp>
        <p:nvSpPr>
          <p:cNvPr id="50" name="Google Shape;50;p7"/>
          <p:cNvSpPr txBox="1"/>
          <p:nvPr/>
        </p:nvSpPr>
        <p:spPr>
          <a:xfrm>
            <a:off x="51202" y="4483097"/>
            <a:ext cx="9019192" cy="538587"/>
          </a:xfrm>
          <a:prstGeom prst="rect">
            <a:avLst/>
          </a:prstGeom>
          <a:noFill/>
          <a:ln>
            <a:noFill/>
          </a:ln>
        </p:spPr>
        <p:txBody>
          <a:bodyPr spcFirstLastPara="1" wrap="square" lIns="68569" tIns="68569" rIns="68569" bIns="68569" anchor="t" anchorCtr="0">
            <a:spAutoFit/>
          </a:bodyPr>
          <a:lstStyle/>
          <a:p>
            <a:pPr lvl="0" algn="ctr"/>
            <a:r>
              <a:rPr lang="en-US" b="1" dirty="0">
                <a:latin typeface="Times New Roman" panose="02020603050405020304" pitchFamily="18" charset="0"/>
                <a:cs typeface="Times New Roman" panose="02020603050405020304" pitchFamily="18" charset="0"/>
              </a:rPr>
              <a:t>DEPARTMENT OF MECHANICAL ENGINEERING</a:t>
            </a:r>
          </a:p>
          <a:p>
            <a:pPr lvl="0" algn="ctr"/>
            <a:r>
              <a:rPr lang="en-US" sz="1200" dirty="0">
                <a:latin typeface="Times New Roman" panose="02020603050405020304" pitchFamily="18" charset="0"/>
                <a:cs typeface="Times New Roman" panose="02020603050405020304" pitchFamily="18" charset="0"/>
              </a:rPr>
              <a:t>17</a:t>
            </a:r>
            <a:r>
              <a:rPr lang="en-US" sz="1200" baseline="30000" dirty="0">
                <a:latin typeface="Times New Roman" panose="02020603050405020304" pitchFamily="18" charset="0"/>
                <a:ea typeface="Times New Roman"/>
                <a:cs typeface="Times New Roman" panose="02020603050405020304" pitchFamily="18" charset="0"/>
                <a:sym typeface="Times New Roman"/>
              </a:rPr>
              <a:t> </a:t>
            </a:r>
            <a:r>
              <a:rPr lang="en-US" sz="1200" baseline="30000" dirty="0" err="1">
                <a:latin typeface="Times New Roman" panose="02020603050405020304" pitchFamily="18" charset="0"/>
                <a:ea typeface="Times New Roman"/>
                <a:cs typeface="Times New Roman" panose="02020603050405020304" pitchFamily="18" charset="0"/>
                <a:sym typeface="Times New Roman"/>
              </a:rPr>
              <a:t>th</a:t>
            </a:r>
            <a:r>
              <a:rPr lang="en-US" sz="1200" dirty="0">
                <a:latin typeface="Times New Roman" panose="02020603050405020304" pitchFamily="18" charset="0"/>
                <a:ea typeface="Times New Roman"/>
                <a:cs typeface="Times New Roman" panose="02020603050405020304" pitchFamily="18" charset="0"/>
                <a:sym typeface="Times New Roman"/>
              </a:rPr>
              <a:t> May 2024</a:t>
            </a:r>
            <a:endParaRPr sz="1200" dirty="0">
              <a:latin typeface="Times New Roman" panose="02020603050405020304" pitchFamily="18" charset="0"/>
              <a:ea typeface="Times New Roman"/>
              <a:cs typeface="Times New Roman" panose="02020603050405020304" pitchFamily="18" charset="0"/>
              <a:sym typeface="Times New Roman"/>
            </a:endParaRPr>
          </a:p>
        </p:txBody>
      </p:sp>
      <p:sp>
        <p:nvSpPr>
          <p:cNvPr id="2" name="TextBox 1"/>
          <p:cNvSpPr txBox="1"/>
          <p:nvPr/>
        </p:nvSpPr>
        <p:spPr>
          <a:xfrm>
            <a:off x="187742" y="948491"/>
            <a:ext cx="8768515" cy="879087"/>
          </a:xfrm>
          <a:prstGeom prst="rect">
            <a:avLst/>
          </a:prstGeom>
          <a:noFill/>
        </p:spPr>
        <p:txBody>
          <a:bodyPr wrap="square" rtlCol="0">
            <a:spAutoFit/>
          </a:bodyPr>
          <a:lstStyle/>
          <a:p>
            <a:pPr algn="ctr">
              <a:lnSpc>
                <a:spcPct val="150000"/>
              </a:lnSpc>
            </a:pPr>
            <a:r>
              <a:rPr lang="en-US" sz="2000" b="1" dirty="0">
                <a:latin typeface="Times New Roman" panose="02020603050405020304" pitchFamily="18" charset="0"/>
                <a:ea typeface="Times New Roman"/>
                <a:cs typeface="Times New Roman" panose="02020603050405020304" pitchFamily="18" charset="0"/>
                <a:sym typeface="Times New Roman"/>
              </a:rPr>
              <a:t>MAJOR PROJECT</a:t>
            </a:r>
          </a:p>
          <a:p>
            <a:pPr algn="ctr">
              <a:lnSpc>
                <a:spcPct val="150000"/>
              </a:lnSpc>
            </a:pPr>
            <a:r>
              <a:rPr lang="en-US" sz="1600" dirty="0">
                <a:latin typeface="Times New Roman" panose="02020603050405020304" pitchFamily="18" charset="0"/>
                <a:ea typeface="Times New Roman"/>
                <a:cs typeface="Times New Roman" panose="02020603050405020304" pitchFamily="18" charset="0"/>
                <a:sym typeface="Times New Roman"/>
              </a:rPr>
              <a:t>on</a:t>
            </a:r>
            <a:endParaRPr lang="en-US" sz="1800" dirty="0">
              <a:latin typeface="Times New Roman" panose="02020603050405020304" pitchFamily="18" charset="0"/>
              <a:ea typeface="Times New Roman"/>
              <a:cs typeface="Times New Roman" panose="02020603050405020304" pitchFamily="18" charset="0"/>
              <a:sym typeface="Times New Roman"/>
            </a:endParaRPr>
          </a:p>
        </p:txBody>
      </p:sp>
      <p:sp>
        <p:nvSpPr>
          <p:cNvPr id="3" name="Google Shape;47;p7">
            <a:extLst>
              <a:ext uri="{FF2B5EF4-FFF2-40B4-BE49-F238E27FC236}">
                <a16:creationId xmlns:a16="http://schemas.microsoft.com/office/drawing/2014/main" id="{691ED055-77A4-49A7-5477-639B566F9AB5}"/>
              </a:ext>
            </a:extLst>
          </p:cNvPr>
          <p:cNvSpPr txBox="1"/>
          <p:nvPr/>
        </p:nvSpPr>
        <p:spPr>
          <a:xfrm>
            <a:off x="6137475" y="3105220"/>
            <a:ext cx="2714399" cy="1142950"/>
          </a:xfrm>
          <a:prstGeom prst="rect">
            <a:avLst/>
          </a:prstGeom>
          <a:noFill/>
          <a:ln>
            <a:noFill/>
          </a:ln>
        </p:spPr>
        <p:txBody>
          <a:bodyPr spcFirstLastPara="1" wrap="square" lIns="68569" tIns="34275" rIns="68569" bIns="34275" anchor="t" anchorCtr="0">
            <a:noAutofit/>
          </a:bodyPr>
          <a:lstStyle/>
          <a:p>
            <a:pPr algn="r">
              <a:spcBef>
                <a:spcPts val="900"/>
              </a:spcBef>
              <a:buClr>
                <a:schemeClr val="dk1"/>
              </a:buClr>
              <a:buSzPts val="935"/>
            </a:pPr>
            <a:r>
              <a:rPr lang="en-US" sz="1200" b="1" dirty="0">
                <a:solidFill>
                  <a:schemeClr val="dk1"/>
                </a:solidFill>
                <a:latin typeface="Times New Roman" panose="02020603050405020304" pitchFamily="18" charset="0"/>
                <a:ea typeface="Times New Roman"/>
                <a:cs typeface="Times New Roman" panose="02020603050405020304" pitchFamily="18" charset="0"/>
                <a:sym typeface="Times New Roman"/>
              </a:rPr>
              <a:t>Presented By:</a:t>
            </a:r>
          </a:p>
          <a:p>
            <a:pPr algn="r">
              <a:spcBef>
                <a:spcPts val="900"/>
              </a:spcBef>
              <a:buClr>
                <a:schemeClr val="dk1"/>
              </a:buClr>
              <a:buSzPts val="935"/>
            </a:pPr>
            <a:r>
              <a:rPr lang="en-US" sz="1200" dirty="0">
                <a:solidFill>
                  <a:schemeClr val="dk1"/>
                </a:solidFill>
                <a:latin typeface="Times New Roman" panose="02020603050405020304" pitchFamily="18" charset="0"/>
                <a:ea typeface="Times New Roman"/>
                <a:cs typeface="Times New Roman" panose="02020603050405020304" pitchFamily="18" charset="0"/>
                <a:sym typeface="Times New Roman"/>
              </a:rPr>
              <a:t>Siddartha Royal (20MCE1009)</a:t>
            </a:r>
          </a:p>
          <a:p>
            <a:pPr algn="r">
              <a:spcBef>
                <a:spcPts val="900"/>
              </a:spcBef>
              <a:buClr>
                <a:schemeClr val="dk1"/>
              </a:buClr>
              <a:buSzPts val="935"/>
            </a:pPr>
            <a:r>
              <a:rPr lang="en-US" sz="1200" dirty="0">
                <a:solidFill>
                  <a:schemeClr val="dk1"/>
                </a:solidFill>
                <a:latin typeface="Times New Roman" panose="02020603050405020304" pitchFamily="18" charset="0"/>
                <a:ea typeface="Times New Roman"/>
                <a:cs typeface="Times New Roman" panose="02020603050405020304" pitchFamily="18" charset="0"/>
                <a:sym typeface="Times New Roman"/>
              </a:rPr>
              <a:t>Jayanth MS (20MCE1011)</a:t>
            </a:r>
          </a:p>
          <a:p>
            <a:pPr algn="r">
              <a:spcBef>
                <a:spcPts val="900"/>
              </a:spcBef>
              <a:buClr>
                <a:schemeClr val="dk1"/>
              </a:buClr>
              <a:buSzPts val="935"/>
            </a:pPr>
            <a:r>
              <a:rPr lang="en-US" sz="1200" dirty="0">
                <a:solidFill>
                  <a:schemeClr val="dk1"/>
                </a:solidFill>
                <a:latin typeface="Times New Roman" panose="02020603050405020304" pitchFamily="18" charset="0"/>
                <a:ea typeface="Times New Roman"/>
                <a:cs typeface="Times New Roman" panose="02020603050405020304" pitchFamily="18" charset="0"/>
                <a:sym typeface="Times New Roman"/>
              </a:rPr>
              <a:t>Jayanth K (20MCE1013)</a:t>
            </a:r>
          </a:p>
          <a:p>
            <a:pPr>
              <a:lnSpc>
                <a:spcPct val="70000"/>
              </a:lnSpc>
              <a:spcBef>
                <a:spcPts val="900"/>
              </a:spcBef>
              <a:buClr>
                <a:schemeClr val="dk1"/>
              </a:buClr>
              <a:buSzPts val="1275"/>
            </a:pPr>
            <a:endParaRPr sz="16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50770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3;p14">
            <a:extLst>
              <a:ext uri="{FF2B5EF4-FFF2-40B4-BE49-F238E27FC236}">
                <a16:creationId xmlns:a16="http://schemas.microsoft.com/office/drawing/2014/main" id="{DA6D6D92-D0CB-0AD1-1117-76B831915EB1}"/>
              </a:ext>
            </a:extLst>
          </p:cNvPr>
          <p:cNvSpPr txBox="1">
            <a:spLocks/>
          </p:cNvSpPr>
          <p:nvPr/>
        </p:nvSpPr>
        <p:spPr>
          <a:xfrm>
            <a:off x="0" y="84765"/>
            <a:ext cx="9144001" cy="590843"/>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9pPr>
          </a:lstStyle>
          <a:p>
            <a:pPr lvl="6">
              <a:buSzPts val="990"/>
            </a:pPr>
            <a:r>
              <a:rPr lang="en-IN" sz="2800" b="1" dirty="0">
                <a:solidFill>
                  <a:schemeClr val="accent1">
                    <a:lumMod val="75000"/>
                  </a:schemeClr>
                </a:solidFill>
                <a:latin typeface="Times New Roman" panose="02020603050405020304" pitchFamily="18" charset="0"/>
                <a:cs typeface="Times New Roman" panose="02020603050405020304" pitchFamily="18" charset="0"/>
              </a:rPr>
              <a:t>  Index:</a:t>
            </a:r>
          </a:p>
        </p:txBody>
      </p:sp>
      <p:graphicFrame>
        <p:nvGraphicFramePr>
          <p:cNvPr id="5" name="Table 4">
            <a:extLst>
              <a:ext uri="{FF2B5EF4-FFF2-40B4-BE49-F238E27FC236}">
                <a16:creationId xmlns:a16="http://schemas.microsoft.com/office/drawing/2014/main" id="{92978F7A-0913-9B26-5941-AA4ABDEADCAB}"/>
              </a:ext>
            </a:extLst>
          </p:cNvPr>
          <p:cNvGraphicFramePr>
            <a:graphicFrameLocks noGrp="1"/>
          </p:cNvGraphicFramePr>
          <p:nvPr>
            <p:extLst>
              <p:ext uri="{D42A27DB-BD31-4B8C-83A1-F6EECF244321}">
                <p14:modId xmlns:p14="http://schemas.microsoft.com/office/powerpoint/2010/main" val="1135086776"/>
              </p:ext>
            </p:extLst>
          </p:nvPr>
        </p:nvGraphicFramePr>
        <p:xfrm>
          <a:off x="270935" y="993563"/>
          <a:ext cx="8490817" cy="3701860"/>
        </p:xfrm>
        <a:graphic>
          <a:graphicData uri="http://schemas.openxmlformats.org/drawingml/2006/table">
            <a:tbl>
              <a:tblPr firstRow="1" firstCol="1" bandRow="1">
                <a:tableStyleId>{E7F9406C-38D6-4A78-B208-37EDC5EEAE43}</a:tableStyleId>
              </a:tblPr>
              <a:tblGrid>
                <a:gridCol w="1436291">
                  <a:extLst>
                    <a:ext uri="{9D8B030D-6E8A-4147-A177-3AD203B41FA5}">
                      <a16:colId xmlns:a16="http://schemas.microsoft.com/office/drawing/2014/main" val="663352194"/>
                    </a:ext>
                  </a:extLst>
                </a:gridCol>
                <a:gridCol w="5371059">
                  <a:extLst>
                    <a:ext uri="{9D8B030D-6E8A-4147-A177-3AD203B41FA5}">
                      <a16:colId xmlns:a16="http://schemas.microsoft.com/office/drawing/2014/main" val="3270828832"/>
                    </a:ext>
                  </a:extLst>
                </a:gridCol>
                <a:gridCol w="1683467">
                  <a:extLst>
                    <a:ext uri="{9D8B030D-6E8A-4147-A177-3AD203B41FA5}">
                      <a16:colId xmlns:a16="http://schemas.microsoft.com/office/drawing/2014/main" val="3422830872"/>
                    </a:ext>
                  </a:extLst>
                </a:gridCol>
              </a:tblGrid>
              <a:tr h="339431">
                <a:tc>
                  <a:txBody>
                    <a:bodyPr/>
                    <a:lstStyle/>
                    <a:p>
                      <a:pPr algn="ctr">
                        <a:lnSpc>
                          <a:spcPct val="150000"/>
                        </a:lnSpc>
                      </a:pPr>
                      <a:r>
                        <a:rPr lang="en-IN" sz="1400" b="1" dirty="0">
                          <a:latin typeface="Times New Roman" panose="02020603050405020304" pitchFamily="18" charset="0"/>
                          <a:cs typeface="Times New Roman" panose="02020603050405020304" pitchFamily="18" charset="0"/>
                        </a:rPr>
                        <a:t>S.No</a:t>
                      </a:r>
                    </a:p>
                  </a:txBody>
                  <a:tcPr>
                    <a:solidFill>
                      <a:schemeClr val="bg2">
                        <a:lumMod val="20000"/>
                        <a:lumOff val="80000"/>
                      </a:schemeClr>
                    </a:solidFill>
                  </a:tcPr>
                </a:tc>
                <a:tc>
                  <a:txBody>
                    <a:bodyPr/>
                    <a:lstStyle/>
                    <a:p>
                      <a:pPr algn="l">
                        <a:lnSpc>
                          <a:spcPct val="150000"/>
                        </a:lnSpc>
                      </a:pPr>
                      <a:r>
                        <a:rPr lang="en-IN" sz="1400" b="1" dirty="0">
                          <a:latin typeface="Times New Roman" panose="02020603050405020304" pitchFamily="18" charset="0"/>
                          <a:cs typeface="Times New Roman" panose="02020603050405020304" pitchFamily="18" charset="0"/>
                        </a:rPr>
                        <a:t>Content</a:t>
                      </a:r>
                    </a:p>
                  </a:txBody>
                  <a:tcPr>
                    <a:solidFill>
                      <a:schemeClr val="bg2">
                        <a:lumMod val="20000"/>
                        <a:lumOff val="80000"/>
                      </a:schemeClr>
                    </a:solidFill>
                  </a:tcPr>
                </a:tc>
                <a:tc>
                  <a:txBody>
                    <a:bodyPr/>
                    <a:lstStyle/>
                    <a:p>
                      <a:pPr algn="ctr">
                        <a:lnSpc>
                          <a:spcPct val="150000"/>
                        </a:lnSpc>
                      </a:pPr>
                      <a:r>
                        <a:rPr lang="en-IN" sz="1400" b="1" dirty="0">
                          <a:latin typeface="Times New Roman" panose="02020603050405020304" pitchFamily="18" charset="0"/>
                          <a:cs typeface="Times New Roman" panose="02020603050405020304" pitchFamily="18" charset="0"/>
                        </a:rPr>
                        <a:t>Slide No.</a:t>
                      </a:r>
                    </a:p>
                  </a:txBody>
                  <a:tcPr>
                    <a:solidFill>
                      <a:schemeClr val="bg2">
                        <a:lumMod val="20000"/>
                        <a:lumOff val="80000"/>
                      </a:schemeClr>
                    </a:solidFill>
                  </a:tcPr>
                </a:tc>
                <a:extLst>
                  <a:ext uri="{0D108BD9-81ED-4DB2-BD59-A6C34878D82A}">
                    <a16:rowId xmlns:a16="http://schemas.microsoft.com/office/drawing/2014/main" val="3435007482"/>
                  </a:ext>
                </a:extLst>
              </a:tr>
              <a:tr h="302755">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1</a:t>
                      </a:r>
                    </a:p>
                  </a:txBody>
                  <a:tcPr/>
                </a:tc>
                <a:tc>
                  <a:txBody>
                    <a:bodyPr/>
                    <a:lstStyle/>
                    <a:p>
                      <a:pPr algn="l">
                        <a:lnSpc>
                          <a:spcPct val="150000"/>
                        </a:lnSpc>
                      </a:pPr>
                      <a:r>
                        <a:rPr lang="en-IN" sz="1200" dirty="0">
                          <a:latin typeface="Times New Roman" panose="02020603050405020304" pitchFamily="18" charset="0"/>
                          <a:cs typeface="Times New Roman" panose="02020603050405020304" pitchFamily="18" charset="0"/>
                        </a:rPr>
                        <a:t>      Introduction</a:t>
                      </a:r>
                    </a:p>
                  </a:txBody>
                  <a:tcPr/>
                </a:tc>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3905222270"/>
                  </a:ext>
                </a:extLst>
              </a:tr>
              <a:tr h="302755">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2</a:t>
                      </a:r>
                    </a:p>
                  </a:txBody>
                  <a:tcPr/>
                </a:tc>
                <a:tc>
                  <a:txBody>
                    <a:bodyPr/>
                    <a:lstStyle/>
                    <a:p>
                      <a:pPr lvl="1" algn="l">
                        <a:lnSpc>
                          <a:spcPct val="150000"/>
                        </a:lnSpc>
                      </a:pPr>
                      <a:r>
                        <a:rPr lang="en-IN" sz="1200" dirty="0">
                          <a:latin typeface="Times New Roman" panose="02020603050405020304" pitchFamily="18" charset="0"/>
                          <a:cs typeface="Times New Roman" panose="02020603050405020304" pitchFamily="18" charset="0"/>
                        </a:rPr>
                        <a:t>      Problem statement &amp; Objectives</a:t>
                      </a:r>
                    </a:p>
                  </a:txBody>
                  <a:tcPr/>
                </a:tc>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3696572243"/>
                  </a:ext>
                </a:extLst>
              </a:tr>
              <a:tr h="302755">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3</a:t>
                      </a:r>
                    </a:p>
                  </a:txBody>
                  <a:tcPr/>
                </a:tc>
                <a:tc>
                  <a:txBody>
                    <a:bodyPr/>
                    <a:lstStyle/>
                    <a:p>
                      <a:pPr algn="l">
                        <a:lnSpc>
                          <a:spcPct val="150000"/>
                        </a:lnSpc>
                      </a:pPr>
                      <a:r>
                        <a:rPr lang="en-IN" sz="1200" dirty="0">
                          <a:latin typeface="Times New Roman" panose="02020603050405020304" pitchFamily="18" charset="0"/>
                          <a:cs typeface="Times New Roman" panose="02020603050405020304" pitchFamily="18" charset="0"/>
                        </a:rPr>
                        <a:t>      Literature Review</a:t>
                      </a:r>
                    </a:p>
                  </a:txBody>
                  <a:tcPr/>
                </a:tc>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6</a:t>
                      </a:r>
                    </a:p>
                  </a:txBody>
                  <a:tcPr/>
                </a:tc>
                <a:extLst>
                  <a:ext uri="{0D108BD9-81ED-4DB2-BD59-A6C34878D82A}">
                    <a16:rowId xmlns:a16="http://schemas.microsoft.com/office/drawing/2014/main" val="1675054602"/>
                  </a:ext>
                </a:extLst>
              </a:tr>
              <a:tr h="302755">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4</a:t>
                      </a:r>
                    </a:p>
                  </a:txBody>
                  <a:tcPr/>
                </a:tc>
                <a:tc>
                  <a:txBody>
                    <a:bodyPr/>
                    <a:lstStyle/>
                    <a:p>
                      <a:pPr algn="l">
                        <a:lnSpc>
                          <a:spcPct val="150000"/>
                        </a:lnSpc>
                      </a:pPr>
                      <a:r>
                        <a:rPr lang="en-IN" sz="1200" dirty="0">
                          <a:latin typeface="Times New Roman" panose="02020603050405020304" pitchFamily="18" charset="0"/>
                          <a:cs typeface="Times New Roman" panose="02020603050405020304" pitchFamily="18" charset="0"/>
                        </a:rPr>
                        <a:t>      Hardware and software components</a:t>
                      </a:r>
                    </a:p>
                  </a:txBody>
                  <a:tcPr/>
                </a:tc>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16</a:t>
                      </a:r>
                    </a:p>
                  </a:txBody>
                  <a:tcPr/>
                </a:tc>
                <a:extLst>
                  <a:ext uri="{0D108BD9-81ED-4DB2-BD59-A6C34878D82A}">
                    <a16:rowId xmlns:a16="http://schemas.microsoft.com/office/drawing/2014/main" val="2171245442"/>
                  </a:ext>
                </a:extLst>
              </a:tr>
              <a:tr h="302755">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5</a:t>
                      </a:r>
                    </a:p>
                  </a:txBody>
                  <a:tcPr/>
                </a:tc>
                <a:tc>
                  <a:txBody>
                    <a:bodyPr/>
                    <a:lstStyle/>
                    <a:p>
                      <a:pPr algn="l">
                        <a:lnSpc>
                          <a:spcPct val="150000"/>
                        </a:lnSpc>
                      </a:pPr>
                      <a:r>
                        <a:rPr lang="en-IN" sz="1200" dirty="0">
                          <a:latin typeface="Times New Roman" panose="02020603050405020304" pitchFamily="18" charset="0"/>
                          <a:cs typeface="Times New Roman" panose="02020603050405020304" pitchFamily="18" charset="0"/>
                        </a:rPr>
                        <a:t>      Methodology and System Architecture</a:t>
                      </a:r>
                    </a:p>
                  </a:txBody>
                  <a:tcPr/>
                </a:tc>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19</a:t>
                      </a:r>
                    </a:p>
                  </a:txBody>
                  <a:tcPr/>
                </a:tc>
                <a:extLst>
                  <a:ext uri="{0D108BD9-81ED-4DB2-BD59-A6C34878D82A}">
                    <a16:rowId xmlns:a16="http://schemas.microsoft.com/office/drawing/2014/main" val="1471264730"/>
                  </a:ext>
                </a:extLst>
              </a:tr>
              <a:tr h="302755">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6</a:t>
                      </a:r>
                    </a:p>
                  </a:txBody>
                  <a:tcPr/>
                </a:tc>
                <a:tc>
                  <a:txBody>
                    <a:bodyPr/>
                    <a:lstStyle/>
                    <a:p>
                      <a:pPr algn="l">
                        <a:lnSpc>
                          <a:spcPct val="150000"/>
                        </a:lnSpc>
                      </a:pPr>
                      <a:r>
                        <a:rPr lang="en-IN" sz="1200" dirty="0">
                          <a:latin typeface="Times New Roman" panose="02020603050405020304" pitchFamily="18" charset="0"/>
                          <a:cs typeface="Times New Roman" panose="02020603050405020304" pitchFamily="18" charset="0"/>
                        </a:rPr>
                        <a:t>      Detailed Workflow and Training ML model</a:t>
                      </a:r>
                    </a:p>
                  </a:txBody>
                  <a:tcPr/>
                </a:tc>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22</a:t>
                      </a:r>
                    </a:p>
                  </a:txBody>
                  <a:tcPr/>
                </a:tc>
                <a:extLst>
                  <a:ext uri="{0D108BD9-81ED-4DB2-BD59-A6C34878D82A}">
                    <a16:rowId xmlns:a16="http://schemas.microsoft.com/office/drawing/2014/main" val="2526047711"/>
                  </a:ext>
                </a:extLst>
              </a:tr>
              <a:tr h="302755">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7</a:t>
                      </a:r>
                    </a:p>
                  </a:txBody>
                  <a:tcPr/>
                </a:tc>
                <a:tc>
                  <a:txBody>
                    <a:bodyPr/>
                    <a:lstStyle/>
                    <a:p>
                      <a:pPr algn="l">
                        <a:lnSpc>
                          <a:spcPct val="150000"/>
                        </a:lnSpc>
                      </a:pPr>
                      <a:r>
                        <a:rPr lang="en-US" sz="1200" dirty="0">
                          <a:latin typeface="Times New Roman" panose="02020603050405020304" pitchFamily="18" charset="0"/>
                          <a:cs typeface="Times New Roman" panose="02020603050405020304" pitchFamily="18" charset="0"/>
                        </a:rPr>
                        <a:t>      R</a:t>
                      </a:r>
                      <a:r>
                        <a:rPr lang="en-IN" sz="1200" dirty="0" err="1">
                          <a:latin typeface="Times New Roman" panose="02020603050405020304" pitchFamily="18" charset="0"/>
                          <a:cs typeface="Times New Roman" panose="02020603050405020304" pitchFamily="18" charset="0"/>
                        </a:rPr>
                        <a:t>obot</a:t>
                      </a:r>
                      <a:r>
                        <a:rPr lang="en-IN" sz="1200" dirty="0">
                          <a:latin typeface="Times New Roman" panose="02020603050405020304" pitchFamily="18" charset="0"/>
                          <a:cs typeface="Times New Roman" panose="02020603050405020304" pitchFamily="18" charset="0"/>
                        </a:rPr>
                        <a:t> layout design and Assembly</a:t>
                      </a:r>
                    </a:p>
                  </a:txBody>
                  <a:tcPr/>
                </a:tc>
                <a:tc>
                  <a:txBody>
                    <a:bodyPr/>
                    <a:lstStyle/>
                    <a:p>
                      <a:pPr algn="ctr">
                        <a:lnSpc>
                          <a:spcPct val="150000"/>
                        </a:lnSpc>
                      </a:pPr>
                      <a:r>
                        <a:rPr lang="en-US" sz="1200" dirty="0">
                          <a:latin typeface="Times New Roman" panose="02020603050405020304" pitchFamily="18" charset="0"/>
                          <a:cs typeface="Times New Roman" panose="02020603050405020304" pitchFamily="18" charset="0"/>
                        </a:rPr>
                        <a:t>3</a:t>
                      </a:r>
                      <a:r>
                        <a:rPr lang="en-IN" sz="1200" dirty="0">
                          <a:latin typeface="Times New Roman" panose="02020603050405020304" pitchFamily="18" charset="0"/>
                          <a:cs typeface="Times New Roman" panose="02020603050405020304" pitchFamily="18" charset="0"/>
                        </a:rPr>
                        <a:t>7</a:t>
                      </a:r>
                    </a:p>
                  </a:txBody>
                  <a:tcPr/>
                </a:tc>
                <a:extLst>
                  <a:ext uri="{0D108BD9-81ED-4DB2-BD59-A6C34878D82A}">
                    <a16:rowId xmlns:a16="http://schemas.microsoft.com/office/drawing/2014/main" val="1450552901"/>
                  </a:ext>
                </a:extLst>
              </a:tr>
              <a:tr h="302755">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8</a:t>
                      </a:r>
                    </a:p>
                  </a:txBody>
                  <a:tcPr/>
                </a:tc>
                <a:tc>
                  <a:txBody>
                    <a:bodyPr/>
                    <a:lstStyle/>
                    <a:p>
                      <a:pPr algn="l">
                        <a:lnSpc>
                          <a:spcPct val="150000"/>
                        </a:lnSpc>
                      </a:pPr>
                      <a:r>
                        <a:rPr lang="en-IN" sz="1200" dirty="0">
                          <a:latin typeface="Times New Roman" panose="02020603050405020304" pitchFamily="18" charset="0"/>
                          <a:cs typeface="Times New Roman" panose="02020603050405020304" pitchFamily="18" charset="0"/>
                        </a:rPr>
                        <a:t>      Arduino Setup</a:t>
                      </a:r>
                    </a:p>
                  </a:txBody>
                  <a:tcPr/>
                </a:tc>
                <a:tc>
                  <a:txBody>
                    <a:bodyPr/>
                    <a:lstStyle/>
                    <a:p>
                      <a:pPr algn="ctr">
                        <a:lnSpc>
                          <a:spcPct val="150000"/>
                        </a:lnSpc>
                      </a:pPr>
                      <a:r>
                        <a:rPr lang="en-US" sz="1200" dirty="0">
                          <a:latin typeface="Times New Roman" panose="02020603050405020304" pitchFamily="18" charset="0"/>
                          <a:cs typeface="Times New Roman" panose="02020603050405020304" pitchFamily="18" charset="0"/>
                        </a:rPr>
                        <a:t>4</a:t>
                      </a:r>
                      <a:r>
                        <a:rPr lang="en-IN" sz="1200" dirty="0">
                          <a:latin typeface="Times New Roman" panose="02020603050405020304" pitchFamily="18" charset="0"/>
                          <a:cs typeface="Times New Roman" panose="02020603050405020304" pitchFamily="18" charset="0"/>
                        </a:rPr>
                        <a:t>2</a:t>
                      </a:r>
                    </a:p>
                  </a:txBody>
                  <a:tcPr/>
                </a:tc>
                <a:extLst>
                  <a:ext uri="{0D108BD9-81ED-4DB2-BD59-A6C34878D82A}">
                    <a16:rowId xmlns:a16="http://schemas.microsoft.com/office/drawing/2014/main" val="977215294"/>
                  </a:ext>
                </a:extLst>
              </a:tr>
              <a:tr h="235013">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9</a:t>
                      </a:r>
                    </a:p>
                  </a:txBody>
                  <a:tcPr/>
                </a:tc>
                <a:tc>
                  <a:txBody>
                    <a:bodyPr/>
                    <a:lstStyle/>
                    <a:p>
                      <a:pPr algn="l">
                        <a:lnSpc>
                          <a:spcPct val="150000"/>
                        </a:lnSpc>
                      </a:pPr>
                      <a:r>
                        <a:rPr lang="en-IN" sz="1200" dirty="0">
                          <a:latin typeface="Times New Roman" panose="02020603050405020304" pitchFamily="18" charset="0"/>
                          <a:cs typeface="Times New Roman" panose="02020603050405020304" pitchFamily="18" charset="0"/>
                        </a:rPr>
                        <a:t>      Conclusion</a:t>
                      </a:r>
                    </a:p>
                  </a:txBody>
                  <a:tcPr/>
                </a:tc>
                <a:tc>
                  <a:txBody>
                    <a:bodyPr/>
                    <a:lstStyle/>
                    <a:p>
                      <a:pPr algn="ctr">
                        <a:lnSpc>
                          <a:spcPct val="150000"/>
                        </a:lnSpc>
                      </a:pPr>
                      <a:r>
                        <a:rPr lang="en-US" sz="1200" dirty="0">
                          <a:latin typeface="Times New Roman" panose="02020603050405020304" pitchFamily="18" charset="0"/>
                          <a:cs typeface="Times New Roman" panose="02020603050405020304" pitchFamily="18" charset="0"/>
                        </a:rPr>
                        <a:t>4</a:t>
                      </a:r>
                      <a:r>
                        <a:rPr lang="en-IN" sz="1200" dirty="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2313451262"/>
                  </a:ext>
                </a:extLst>
              </a:tr>
              <a:tr h="235013">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10</a:t>
                      </a:r>
                    </a:p>
                  </a:txBody>
                  <a:tcPr/>
                </a:tc>
                <a:tc>
                  <a:txBody>
                    <a:bodyPr/>
                    <a:lstStyle/>
                    <a:p>
                      <a:pPr algn="l">
                        <a:lnSpc>
                          <a:spcPct val="150000"/>
                        </a:lnSpc>
                      </a:pPr>
                      <a:r>
                        <a:rPr lang="en-IN" sz="1200" dirty="0">
                          <a:latin typeface="Times New Roman" panose="02020603050405020304" pitchFamily="18" charset="0"/>
                          <a:cs typeface="Times New Roman" panose="02020603050405020304" pitchFamily="18" charset="0"/>
                        </a:rPr>
                        <a:t>      References</a:t>
                      </a:r>
                    </a:p>
                  </a:txBody>
                  <a:tcPr/>
                </a:tc>
                <a:tc>
                  <a:txBody>
                    <a:bodyPr/>
                    <a:lstStyle/>
                    <a:p>
                      <a:pPr algn="ctr">
                        <a:lnSpc>
                          <a:spcPct val="150000"/>
                        </a:lnSpc>
                      </a:pPr>
                      <a:r>
                        <a:rPr lang="en-US" sz="1200" dirty="0">
                          <a:latin typeface="Times New Roman" panose="02020603050405020304" pitchFamily="18" charset="0"/>
                          <a:cs typeface="Times New Roman" panose="02020603050405020304" pitchFamily="18" charset="0"/>
                        </a:rPr>
                        <a:t>4</a:t>
                      </a:r>
                      <a:r>
                        <a:rPr lang="en-IN" sz="1200" dirty="0">
                          <a:latin typeface="Times New Roman" panose="02020603050405020304" pitchFamily="18" charset="0"/>
                          <a:cs typeface="Times New Roman" panose="02020603050405020304" pitchFamily="18" charset="0"/>
                        </a:rPr>
                        <a:t>4</a:t>
                      </a:r>
                    </a:p>
                  </a:txBody>
                  <a:tcPr/>
                </a:tc>
                <a:extLst>
                  <a:ext uri="{0D108BD9-81ED-4DB2-BD59-A6C34878D82A}">
                    <a16:rowId xmlns:a16="http://schemas.microsoft.com/office/drawing/2014/main" val="2848123557"/>
                  </a:ext>
                </a:extLst>
              </a:tr>
            </a:tbl>
          </a:graphicData>
        </a:graphic>
      </p:graphicFrame>
    </p:spTree>
    <p:extLst>
      <p:ext uri="{BB962C8B-B14F-4D97-AF65-F5344CB8AC3E}">
        <p14:creationId xmlns:p14="http://schemas.microsoft.com/office/powerpoint/2010/main" val="1365390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3;p17"/>
          <p:cNvSpPr txBox="1">
            <a:spLocks/>
          </p:cNvSpPr>
          <p:nvPr/>
        </p:nvSpPr>
        <p:spPr>
          <a:xfrm>
            <a:off x="174024" y="905282"/>
            <a:ext cx="8845618" cy="374878"/>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990"/>
            </a:pPr>
            <a:endParaRPr lang="en-IN" sz="1800" b="1" dirty="0">
              <a:latin typeface="Times New Roman" panose="02020603050405020304" pitchFamily="18" charset="0"/>
              <a:cs typeface="Times New Roman" panose="02020603050405020304" pitchFamily="18" charset="0"/>
            </a:endParaRPr>
          </a:p>
        </p:txBody>
      </p:sp>
      <p:sp>
        <p:nvSpPr>
          <p:cNvPr id="4" name="Google Shape;91;p17"/>
          <p:cNvSpPr txBox="1">
            <a:spLocks/>
          </p:cNvSpPr>
          <p:nvPr/>
        </p:nvSpPr>
        <p:spPr>
          <a:xfrm>
            <a:off x="174024" y="905282"/>
            <a:ext cx="5066190" cy="391993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ts val="275"/>
            </a:pPr>
            <a:endParaRPr lang="en-IN" sz="700" dirty="0"/>
          </a:p>
        </p:txBody>
      </p:sp>
      <p:sp>
        <p:nvSpPr>
          <p:cNvPr id="5" name="Google Shape;63;p14">
            <a:extLst>
              <a:ext uri="{FF2B5EF4-FFF2-40B4-BE49-F238E27FC236}">
                <a16:creationId xmlns:a16="http://schemas.microsoft.com/office/drawing/2014/main" id="{73B69FED-0189-DA97-BB32-AAADB61380E6}"/>
              </a:ext>
            </a:extLst>
          </p:cNvPr>
          <p:cNvSpPr txBox="1">
            <a:spLocks/>
          </p:cNvSpPr>
          <p:nvPr/>
        </p:nvSpPr>
        <p:spPr>
          <a:xfrm>
            <a:off x="-3" y="91538"/>
            <a:ext cx="9144001" cy="590843"/>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9pPr>
          </a:lstStyle>
          <a:p>
            <a:pPr lvl="6">
              <a:buSzPts val="990"/>
            </a:pPr>
            <a:r>
              <a:rPr lang="en-IN" sz="2800" b="1" dirty="0">
                <a:latin typeface="Times New Roman" panose="02020603050405020304" pitchFamily="18" charset="0"/>
                <a:cs typeface="Times New Roman" panose="02020603050405020304" pitchFamily="18" charset="0"/>
              </a:rPr>
              <a:t>  </a:t>
            </a:r>
            <a:r>
              <a:rPr lang="en-IN" sz="2800" b="1" dirty="0">
                <a:solidFill>
                  <a:schemeClr val="accent1">
                    <a:lumMod val="75000"/>
                  </a:schemeClr>
                </a:solidFill>
                <a:latin typeface="Times New Roman" panose="02020603050405020304" pitchFamily="18" charset="0"/>
                <a:cs typeface="Times New Roman" panose="02020603050405020304" pitchFamily="18" charset="0"/>
              </a:rPr>
              <a:t>Introduction</a:t>
            </a:r>
            <a:r>
              <a:rPr lang="en-IN" sz="2800" b="1" dirty="0">
                <a:latin typeface="Times New Roman" panose="02020603050405020304" pitchFamily="18" charset="0"/>
                <a:cs typeface="Times New Roman" panose="02020603050405020304" pitchFamily="18" charset="0"/>
              </a:rPr>
              <a:t> :</a:t>
            </a:r>
          </a:p>
        </p:txBody>
      </p:sp>
      <p:sp>
        <p:nvSpPr>
          <p:cNvPr id="8" name="TextBox 7">
            <a:extLst>
              <a:ext uri="{FF2B5EF4-FFF2-40B4-BE49-F238E27FC236}">
                <a16:creationId xmlns:a16="http://schemas.microsoft.com/office/drawing/2014/main" id="{644AF314-84B0-11EE-9653-A3184D3B82CE}"/>
              </a:ext>
            </a:extLst>
          </p:cNvPr>
          <p:cNvSpPr txBox="1"/>
          <p:nvPr/>
        </p:nvSpPr>
        <p:spPr>
          <a:xfrm>
            <a:off x="439369" y="1503061"/>
            <a:ext cx="4491618" cy="2062103"/>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      Autonomous machines are self-operating systems or devices capable of making decisions and performing tasks without human intervention. They rely on sensors, </a:t>
            </a:r>
            <a:r>
              <a:rPr lang="en-US" sz="1600" b="1" dirty="0">
                <a:latin typeface="Times New Roman" panose="02020603050405020304" pitchFamily="18" charset="0"/>
                <a:cs typeface="Times New Roman" panose="02020603050405020304" pitchFamily="18" charset="0"/>
              </a:rPr>
              <a:t>Machine learning </a:t>
            </a:r>
            <a:r>
              <a:rPr lang="en-US" sz="1600" dirty="0">
                <a:latin typeface="Times New Roman" panose="02020603050405020304" pitchFamily="18" charset="0"/>
                <a:cs typeface="Times New Roman" panose="02020603050405020304" pitchFamily="18" charset="0"/>
              </a:rPr>
              <a:t>algorithms, and artificial intelligence to navigate, analyze data, and execute actions, making them valuable in various fields such as robotics, transportation, and manufacturing. </a:t>
            </a:r>
            <a:endParaRPr lang="en-IN" sz="1600" dirty="0">
              <a:latin typeface="Times New Roman" panose="02020603050405020304" pitchFamily="18" charset="0"/>
              <a:cs typeface="Times New Roman" panose="02020603050405020304" pitchFamily="18" charset="0"/>
            </a:endParaRPr>
          </a:p>
        </p:txBody>
      </p:sp>
      <p:pic>
        <p:nvPicPr>
          <p:cNvPr id="5122" name="Picture 2" descr="Machine Learning Books: Best Machine Learning Books: Inspire Your  Technological Journey with Expert Knowledge - The Economic Times">
            <a:extLst>
              <a:ext uri="{FF2B5EF4-FFF2-40B4-BE49-F238E27FC236}">
                <a16:creationId xmlns:a16="http://schemas.microsoft.com/office/drawing/2014/main" id="{407C5E24-AE31-82A2-C087-51D15CD42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0790" y="1503060"/>
            <a:ext cx="3141287" cy="197165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15FEE30-2528-F3B4-31A8-A6A3BA5E0DE6}"/>
              </a:ext>
            </a:extLst>
          </p:cNvPr>
          <p:cNvSpPr txBox="1"/>
          <p:nvPr/>
        </p:nvSpPr>
        <p:spPr>
          <a:xfrm>
            <a:off x="6999714" y="3762531"/>
            <a:ext cx="383438" cy="307777"/>
          </a:xfrm>
          <a:prstGeom prst="rect">
            <a:avLst/>
          </a:prstGeom>
          <a:noFill/>
        </p:spPr>
        <p:txBody>
          <a:bodyPr wrap="none" rtlCol="0">
            <a:spAutoFit/>
          </a:bodyPr>
          <a:lstStyle/>
          <a:p>
            <a:r>
              <a:rPr lang="en-IN" dirty="0"/>
              <a:t>[1]</a:t>
            </a:r>
          </a:p>
        </p:txBody>
      </p:sp>
    </p:spTree>
    <p:extLst>
      <p:ext uri="{BB962C8B-B14F-4D97-AF65-F5344CB8AC3E}">
        <p14:creationId xmlns:p14="http://schemas.microsoft.com/office/powerpoint/2010/main" val="1302522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334EA-615A-DC8C-910B-68D812B8BD21}"/>
              </a:ext>
            </a:extLst>
          </p:cNvPr>
          <p:cNvSpPr>
            <a:spLocks noGrp="1"/>
          </p:cNvSpPr>
          <p:nvPr>
            <p:ph type="title"/>
          </p:nvPr>
        </p:nvSpPr>
        <p:spPr/>
        <p:txBody>
          <a:bodyPr/>
          <a:lstStyle/>
          <a:p>
            <a:r>
              <a:rPr lang="en-IN" dirty="0">
                <a:solidFill>
                  <a:schemeClr val="accent1">
                    <a:lumMod val="75000"/>
                  </a:schemeClr>
                </a:solidFill>
              </a:rPr>
              <a:t>Problem Statement</a:t>
            </a:r>
          </a:p>
        </p:txBody>
      </p:sp>
      <p:sp>
        <p:nvSpPr>
          <p:cNvPr id="3" name="Text Placeholder 2">
            <a:extLst>
              <a:ext uri="{FF2B5EF4-FFF2-40B4-BE49-F238E27FC236}">
                <a16:creationId xmlns:a16="http://schemas.microsoft.com/office/drawing/2014/main" id="{C53516F4-0389-0BA3-CDF6-25138C3ADBB7}"/>
              </a:ext>
            </a:extLst>
          </p:cNvPr>
          <p:cNvSpPr>
            <a:spLocks noGrp="1"/>
          </p:cNvSpPr>
          <p:nvPr>
            <p:ph type="body" idx="1"/>
          </p:nvPr>
        </p:nvSpPr>
        <p:spPr>
          <a:xfrm>
            <a:off x="623147" y="1266613"/>
            <a:ext cx="7424843" cy="4101322"/>
          </a:xfrm>
        </p:spPr>
        <p:txBody>
          <a:bodyPr>
            <a:normAutofit/>
          </a:bodyPr>
          <a:lstStyle/>
          <a:p>
            <a:pPr marL="57150" indent="0" algn="just">
              <a:buNone/>
            </a:pPr>
            <a:r>
              <a:rPr lang="en-US" sz="1800" dirty="0"/>
              <a:t>In today's fast-paced modern lifestyles, time is precious. Automation and autonomy in daily tasks has become pivotal. In this era, the relentless pace of life leaves little time, emphasizing the need for efficiency and time-saving innovations. Despite having hectic lifestyle, maintaining cleanliness and hygiene is mandatory for peaceful environment. So, </a:t>
            </a:r>
            <a:r>
              <a:rPr lang="en-US" sz="1800" b="1" dirty="0"/>
              <a:t>A house cleaning robot</a:t>
            </a:r>
            <a:r>
              <a:rPr lang="en-US" sz="1800" dirty="0"/>
              <a:t>, offering autonomy in household chores, becomes indispensable. </a:t>
            </a:r>
            <a:endParaRPr lang="en-IN" sz="1800" dirty="0"/>
          </a:p>
        </p:txBody>
      </p:sp>
      <p:pic>
        <p:nvPicPr>
          <p:cNvPr id="6148" name="Picture 4" descr="Problem Statement Vector Icon Isolated on Transparent Background, Problem  Statement Logo Design Stock Illustration - Illustration of transparency,  person: 118977172">
            <a:extLst>
              <a:ext uri="{FF2B5EF4-FFF2-40B4-BE49-F238E27FC236}">
                <a16:creationId xmlns:a16="http://schemas.microsoft.com/office/drawing/2014/main" id="{1622541E-6DF1-58F1-77CF-82F9F2C93E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0591" y="2632623"/>
            <a:ext cx="2293409" cy="2293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1476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9866C-A782-1A5C-814E-2E27F8966E26}"/>
              </a:ext>
            </a:extLst>
          </p:cNvPr>
          <p:cNvSpPr>
            <a:spLocks noGrp="1"/>
          </p:cNvSpPr>
          <p:nvPr>
            <p:ph type="title"/>
          </p:nvPr>
        </p:nvSpPr>
        <p:spPr/>
        <p:txBody>
          <a:bodyPr/>
          <a:lstStyle/>
          <a:p>
            <a:r>
              <a:rPr lang="en-IN" dirty="0">
                <a:solidFill>
                  <a:schemeClr val="accent1">
                    <a:lumMod val="75000"/>
                  </a:schemeClr>
                </a:solidFill>
              </a:rPr>
              <a:t>Objectives</a:t>
            </a:r>
          </a:p>
        </p:txBody>
      </p:sp>
      <p:sp>
        <p:nvSpPr>
          <p:cNvPr id="3" name="Text Placeholder 2">
            <a:extLst>
              <a:ext uri="{FF2B5EF4-FFF2-40B4-BE49-F238E27FC236}">
                <a16:creationId xmlns:a16="http://schemas.microsoft.com/office/drawing/2014/main" id="{15E12856-0861-250E-8FDA-4409109012A1}"/>
              </a:ext>
            </a:extLst>
          </p:cNvPr>
          <p:cNvSpPr>
            <a:spLocks noGrp="1"/>
          </p:cNvSpPr>
          <p:nvPr>
            <p:ph type="body" idx="1"/>
          </p:nvPr>
        </p:nvSpPr>
        <p:spPr>
          <a:xfrm>
            <a:off x="743795" y="1209116"/>
            <a:ext cx="7228417" cy="3934384"/>
          </a:xfrm>
        </p:spPr>
        <p:txBody>
          <a:bodyPr>
            <a:normAutofit/>
          </a:bodyPr>
          <a:lstStyle/>
          <a:p>
            <a:pPr marL="57150" indent="0" algn="just">
              <a:buNone/>
            </a:pPr>
            <a:r>
              <a:rPr lang="en-US" sz="1800" dirty="0"/>
              <a:t>             The objective of this project is to design and develop an autonomous house cleaning robot that efficiently cleans various surfaces, navigates obstacles, and enhances household convenience. It is also accustomed with following features:</a:t>
            </a:r>
          </a:p>
          <a:p>
            <a:r>
              <a:rPr lang="en-US" sz="1600" dirty="0"/>
              <a:t> Automated Spill Detection</a:t>
            </a:r>
          </a:p>
          <a:p>
            <a:r>
              <a:rPr lang="en-US" sz="1600" dirty="0"/>
              <a:t> </a:t>
            </a:r>
            <a:r>
              <a:rPr lang="en-US" sz="1600" b="1" dirty="0"/>
              <a:t>Debris classification</a:t>
            </a:r>
          </a:p>
          <a:p>
            <a:r>
              <a:rPr lang="en-US" sz="1600" dirty="0"/>
              <a:t> Effective Cleaning Actions </a:t>
            </a:r>
          </a:p>
          <a:p>
            <a:r>
              <a:rPr lang="en-US" sz="1600" dirty="0"/>
              <a:t> Real-Time Responsiveness</a:t>
            </a:r>
          </a:p>
          <a:p>
            <a:r>
              <a:rPr lang="en-US" sz="1600" dirty="0"/>
              <a:t> Compact size</a:t>
            </a:r>
          </a:p>
        </p:txBody>
      </p:sp>
    </p:spTree>
    <p:extLst>
      <p:ext uri="{BB962C8B-B14F-4D97-AF65-F5344CB8AC3E}">
        <p14:creationId xmlns:p14="http://schemas.microsoft.com/office/powerpoint/2010/main" val="600234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6CC6-7D28-A36C-8084-F967D98FC3CB}"/>
              </a:ext>
            </a:extLst>
          </p:cNvPr>
          <p:cNvSpPr>
            <a:spLocks noGrp="1"/>
          </p:cNvSpPr>
          <p:nvPr>
            <p:ph type="title"/>
          </p:nvPr>
        </p:nvSpPr>
        <p:spPr/>
        <p:txBody>
          <a:bodyPr/>
          <a:lstStyle/>
          <a:p>
            <a:r>
              <a:rPr lang="en-IN" dirty="0">
                <a:solidFill>
                  <a:schemeClr val="accent1">
                    <a:lumMod val="75000"/>
                  </a:schemeClr>
                </a:solidFill>
              </a:rPr>
              <a:t>Literature</a:t>
            </a:r>
            <a:r>
              <a:rPr lang="en-IN" dirty="0"/>
              <a:t> </a:t>
            </a:r>
            <a:r>
              <a:rPr lang="en-IN" dirty="0">
                <a:solidFill>
                  <a:schemeClr val="accent1">
                    <a:lumMod val="75000"/>
                  </a:schemeClr>
                </a:solidFill>
              </a:rPr>
              <a:t>survey</a:t>
            </a:r>
            <a:r>
              <a:rPr lang="en-IN" dirty="0"/>
              <a:t>:</a:t>
            </a:r>
          </a:p>
        </p:txBody>
      </p:sp>
      <p:graphicFrame>
        <p:nvGraphicFramePr>
          <p:cNvPr id="5" name="Table 5">
            <a:extLst>
              <a:ext uri="{FF2B5EF4-FFF2-40B4-BE49-F238E27FC236}">
                <a16:creationId xmlns:a16="http://schemas.microsoft.com/office/drawing/2014/main" id="{A5997212-C5A1-A9CE-0F1E-7E3ECB8054C1}"/>
              </a:ext>
            </a:extLst>
          </p:cNvPr>
          <p:cNvGraphicFramePr>
            <a:graphicFrameLocks noGrp="1"/>
          </p:cNvGraphicFramePr>
          <p:nvPr>
            <p:extLst>
              <p:ext uri="{D42A27DB-BD31-4B8C-83A1-F6EECF244321}">
                <p14:modId xmlns:p14="http://schemas.microsoft.com/office/powerpoint/2010/main" val="1147936554"/>
              </p:ext>
            </p:extLst>
          </p:nvPr>
        </p:nvGraphicFramePr>
        <p:xfrm>
          <a:off x="355601" y="938620"/>
          <a:ext cx="8422640" cy="3795940"/>
        </p:xfrm>
        <a:graphic>
          <a:graphicData uri="http://schemas.openxmlformats.org/drawingml/2006/table">
            <a:tbl>
              <a:tblPr firstRow="1" bandRow="1">
                <a:tableStyleId>{E7F9406C-38D6-4A78-B208-37EDC5EEAE43}</a:tableStyleId>
              </a:tblPr>
              <a:tblGrid>
                <a:gridCol w="538479">
                  <a:extLst>
                    <a:ext uri="{9D8B030D-6E8A-4147-A177-3AD203B41FA5}">
                      <a16:colId xmlns:a16="http://schemas.microsoft.com/office/drawing/2014/main" val="1358835150"/>
                    </a:ext>
                  </a:extLst>
                </a:gridCol>
                <a:gridCol w="2255520">
                  <a:extLst>
                    <a:ext uri="{9D8B030D-6E8A-4147-A177-3AD203B41FA5}">
                      <a16:colId xmlns:a16="http://schemas.microsoft.com/office/drawing/2014/main" val="3885316134"/>
                    </a:ext>
                  </a:extLst>
                </a:gridCol>
                <a:gridCol w="2018453">
                  <a:extLst>
                    <a:ext uri="{9D8B030D-6E8A-4147-A177-3AD203B41FA5}">
                      <a16:colId xmlns:a16="http://schemas.microsoft.com/office/drawing/2014/main" val="2840104167"/>
                    </a:ext>
                  </a:extLst>
                </a:gridCol>
                <a:gridCol w="3610188">
                  <a:extLst>
                    <a:ext uri="{9D8B030D-6E8A-4147-A177-3AD203B41FA5}">
                      <a16:colId xmlns:a16="http://schemas.microsoft.com/office/drawing/2014/main" val="813668558"/>
                    </a:ext>
                  </a:extLst>
                </a:gridCol>
              </a:tblGrid>
              <a:tr h="425588">
                <a:tc>
                  <a:txBody>
                    <a:bodyPr/>
                    <a:lstStyle/>
                    <a:p>
                      <a:pPr algn="ctr"/>
                      <a:r>
                        <a:rPr lang="en-IN" sz="1100" b="1" dirty="0">
                          <a:latin typeface="Times New Roman" panose="02020603050405020304" pitchFamily="18" charset="0"/>
                          <a:cs typeface="Times New Roman" panose="02020603050405020304" pitchFamily="18" charset="0"/>
                        </a:rPr>
                        <a:t>No</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Title/ Author</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Source</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Key Points</a:t>
                      </a:r>
                    </a:p>
                  </a:txBody>
                  <a:tcPr>
                    <a:solidFill>
                      <a:schemeClr val="bg2">
                        <a:lumMod val="20000"/>
                        <a:lumOff val="80000"/>
                      </a:schemeClr>
                    </a:solidFill>
                  </a:tcPr>
                </a:tc>
                <a:extLst>
                  <a:ext uri="{0D108BD9-81ED-4DB2-BD59-A6C34878D82A}">
                    <a16:rowId xmlns:a16="http://schemas.microsoft.com/office/drawing/2014/main" val="982197707"/>
                  </a:ext>
                </a:extLst>
              </a:tr>
              <a:tr h="1602512">
                <a:tc>
                  <a:txBody>
                    <a:bodyPr/>
                    <a:lstStyle/>
                    <a:p>
                      <a:r>
                        <a:rPr lang="en-US" sz="1100" b="1" dirty="0">
                          <a:latin typeface="Times New Roman" panose="02020603050405020304" pitchFamily="18" charset="0"/>
                          <a:cs typeface="Times New Roman" panose="02020603050405020304" pitchFamily="18" charset="0"/>
                        </a:rPr>
                        <a:t>1.</a:t>
                      </a:r>
                      <a:endParaRPr lang="en-IN" sz="1100" b="1"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Cascaded Machine-Learning Technique for Debris Classification in Floor-Cleaning Robot Application.</a:t>
                      </a:r>
                      <a:r>
                        <a:rPr lang="en-IN" sz="1100" dirty="0">
                          <a:latin typeface="Times New Roman" panose="02020603050405020304" pitchFamily="18" charset="0"/>
                          <a:cs typeface="Times New Roman" panose="02020603050405020304" pitchFamily="18" charset="0"/>
                        </a:rPr>
                        <a:t> </a:t>
                      </a:r>
                      <a:r>
                        <a:rPr lang="en-IN" sz="1100" b="1" dirty="0">
                          <a:latin typeface="Times New Roman" panose="02020603050405020304" pitchFamily="18" charset="0"/>
                          <a:cs typeface="Times New Roman" panose="02020603050405020304" pitchFamily="18" charset="0"/>
                        </a:rPr>
                        <a:t>Balakrishnan Ramalingam</a:t>
                      </a:r>
                      <a:r>
                        <a:rPr lang="en-IN" sz="1100" dirty="0">
                          <a:latin typeface="Times New Roman" panose="02020603050405020304" pitchFamily="18" charset="0"/>
                          <a:cs typeface="Times New Roman" panose="02020603050405020304" pitchFamily="18" charset="0"/>
                        </a:rPr>
                        <a:t>, et al.(2018)</a:t>
                      </a:r>
                    </a:p>
                  </a:txBody>
                  <a:tcPr/>
                </a:tc>
                <a:tc>
                  <a:txBody>
                    <a:bodyPr/>
                    <a:lstStyle/>
                    <a:p>
                      <a:r>
                        <a:rPr lang="en-IN" sz="1100" dirty="0">
                          <a:latin typeface="Times New Roman" panose="02020603050405020304" pitchFamily="18" charset="0"/>
                          <a:cs typeface="Times New Roman" panose="02020603050405020304" pitchFamily="18" charset="0"/>
                        </a:rPr>
                        <a:t>APPLIED SCIENCES, Multidisciplinary Digital Publishing Institute.</a:t>
                      </a:r>
                    </a:p>
                  </a:txBody>
                  <a:tcPr/>
                </a:tc>
                <a:tc>
                  <a:txBody>
                    <a:bodyPr/>
                    <a:lstStyle/>
                    <a:p>
                      <a:pPr marL="171450" indent="-171450" algn="jus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The study presents a novel debris detection and classification approach for autonomous floor-cleaning robots, utilizing a cascaded method combining a deep Convolutional Neural Network (CNN) and Support Vector Machine (SVM). </a:t>
                      </a:r>
                    </a:p>
                    <a:p>
                      <a:pPr marL="171450" indent="-171450" algn="jus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Results show high accuracy (95.5%) in identifying and classifying solid and liquid spillage debris, with superior performance compared to existing techniques. </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5465592"/>
                  </a:ext>
                </a:extLst>
              </a:tr>
              <a:tr h="1653813">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2.</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Table Cleaning Task by Human Support Robot Using Deep Learning Technique.</a:t>
                      </a:r>
                      <a:r>
                        <a:rPr lang="en-IN" sz="1100" b="1" dirty="0">
                          <a:latin typeface="Times New Roman" panose="02020603050405020304" pitchFamily="18" charset="0"/>
                          <a:cs typeface="Times New Roman" panose="02020603050405020304" pitchFamily="18" charset="0"/>
                        </a:rPr>
                        <a:t>Jia Yin</a:t>
                      </a:r>
                      <a:r>
                        <a:rPr lang="en-IN" sz="1100" dirty="0">
                          <a:latin typeface="Times New Roman" panose="02020603050405020304" pitchFamily="18" charset="0"/>
                          <a:cs typeface="Times New Roman" panose="02020603050405020304" pitchFamily="18" charset="0"/>
                        </a:rPr>
                        <a:t>, et al.(2019)</a:t>
                      </a:r>
                    </a:p>
                  </a:txBody>
                  <a:tcPr/>
                </a:tc>
                <a:tc>
                  <a:txBody>
                    <a:bodyPr/>
                    <a:lstStyle/>
                    <a:p>
                      <a:r>
                        <a:rPr lang="en-IN" sz="1100" dirty="0">
                          <a:latin typeface="Times New Roman" panose="02020603050405020304" pitchFamily="18" charset="0"/>
                          <a:cs typeface="Times New Roman" panose="02020603050405020304" pitchFamily="18" charset="0"/>
                        </a:rPr>
                        <a:t>Sensors, Multidisciplinary Digital Publishing Institute</a:t>
                      </a:r>
                    </a:p>
                  </a:txBody>
                  <a:tcPr/>
                </a:tc>
                <a:tc>
                  <a:txBody>
                    <a:bodyPr/>
                    <a:lstStyle/>
                    <a:p>
                      <a:pPr marL="171450" indent="-171450" algn="jus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This study introduces a table cleaning and inspection method employing a Human Support Robot in a real-world food court setting. </a:t>
                      </a:r>
                    </a:p>
                    <a:p>
                      <a:pPr marL="171450" indent="-171450" algn="just">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It utilizes a lightweight Deep Convolutional Neural Network (CNN) for food litter recognition and a planner framework for cleaning path generation. The food litter detection module achieves an impressive 96% detection accuracy, facilitating cleanliness inspections and different cleaning modes.</a:t>
                      </a:r>
                    </a:p>
                    <a:p>
                      <a:pPr marL="0" indent="0" algn="just">
                        <a:buFont typeface="Arial" panose="020B0604020202020204" pitchFamily="34" charset="0"/>
                        <a:buNone/>
                      </a:pP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1114967"/>
                  </a:ext>
                </a:extLst>
              </a:tr>
            </a:tbl>
          </a:graphicData>
        </a:graphic>
      </p:graphicFrame>
      <p:pic>
        <p:nvPicPr>
          <p:cNvPr id="7170" name="Picture 2" descr="Literature review - Free education icons">
            <a:extLst>
              <a:ext uri="{FF2B5EF4-FFF2-40B4-BE49-F238E27FC236}">
                <a16:creationId xmlns:a16="http://schemas.microsoft.com/office/drawing/2014/main" id="{65243468-C3C4-F373-69D8-C212DA34CE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1952" y="53992"/>
            <a:ext cx="606848" cy="606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935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FDA4C317-1BB7-4C78-06C3-8D4105E56065}"/>
              </a:ext>
            </a:extLst>
          </p:cNvPr>
          <p:cNvGraphicFramePr>
            <a:graphicFrameLocks noGrp="1"/>
          </p:cNvGraphicFramePr>
          <p:nvPr>
            <p:extLst>
              <p:ext uri="{D42A27DB-BD31-4B8C-83A1-F6EECF244321}">
                <p14:modId xmlns:p14="http://schemas.microsoft.com/office/powerpoint/2010/main" val="3402531629"/>
              </p:ext>
            </p:extLst>
          </p:nvPr>
        </p:nvGraphicFramePr>
        <p:xfrm>
          <a:off x="365760" y="934720"/>
          <a:ext cx="8412481" cy="3766819"/>
        </p:xfrm>
        <a:graphic>
          <a:graphicData uri="http://schemas.openxmlformats.org/drawingml/2006/table">
            <a:tbl>
              <a:tblPr firstRow="1" bandRow="1">
                <a:tableStyleId>{E7F9406C-38D6-4A78-B208-37EDC5EEAE43}</a:tableStyleId>
              </a:tblPr>
              <a:tblGrid>
                <a:gridCol w="537830">
                  <a:extLst>
                    <a:ext uri="{9D8B030D-6E8A-4147-A177-3AD203B41FA5}">
                      <a16:colId xmlns:a16="http://schemas.microsoft.com/office/drawing/2014/main" val="1358835150"/>
                    </a:ext>
                  </a:extLst>
                </a:gridCol>
                <a:gridCol w="2252799">
                  <a:extLst>
                    <a:ext uri="{9D8B030D-6E8A-4147-A177-3AD203B41FA5}">
                      <a16:colId xmlns:a16="http://schemas.microsoft.com/office/drawing/2014/main" val="3885316134"/>
                    </a:ext>
                  </a:extLst>
                </a:gridCol>
                <a:gridCol w="1948367">
                  <a:extLst>
                    <a:ext uri="{9D8B030D-6E8A-4147-A177-3AD203B41FA5}">
                      <a16:colId xmlns:a16="http://schemas.microsoft.com/office/drawing/2014/main" val="2840104167"/>
                    </a:ext>
                  </a:extLst>
                </a:gridCol>
                <a:gridCol w="3673485">
                  <a:extLst>
                    <a:ext uri="{9D8B030D-6E8A-4147-A177-3AD203B41FA5}">
                      <a16:colId xmlns:a16="http://schemas.microsoft.com/office/drawing/2014/main" val="813668558"/>
                    </a:ext>
                  </a:extLst>
                </a:gridCol>
              </a:tblGrid>
              <a:tr h="404745">
                <a:tc>
                  <a:txBody>
                    <a:bodyPr/>
                    <a:lstStyle/>
                    <a:p>
                      <a:pPr algn="ctr"/>
                      <a:r>
                        <a:rPr lang="en-IN" sz="1100" b="1" dirty="0">
                          <a:latin typeface="Times New Roman" panose="02020603050405020304" pitchFamily="18" charset="0"/>
                          <a:cs typeface="Times New Roman" panose="02020603050405020304" pitchFamily="18" charset="0"/>
                        </a:rPr>
                        <a:t>No</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Title/ Author</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Source</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Key Points</a:t>
                      </a:r>
                    </a:p>
                  </a:txBody>
                  <a:tcPr>
                    <a:solidFill>
                      <a:schemeClr val="bg2">
                        <a:lumMod val="20000"/>
                        <a:lumOff val="80000"/>
                      </a:schemeClr>
                    </a:solidFill>
                  </a:tcPr>
                </a:tc>
                <a:extLst>
                  <a:ext uri="{0D108BD9-81ED-4DB2-BD59-A6C34878D82A}">
                    <a16:rowId xmlns:a16="http://schemas.microsoft.com/office/drawing/2014/main" val="982197707"/>
                  </a:ext>
                </a:extLst>
              </a:tr>
              <a:tr h="1679544">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3.</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Design and Development of Controller Based Automatic Ground Cleaning Robot.</a:t>
                      </a:r>
                      <a:r>
                        <a:rPr lang="en-IN" sz="1100" dirty="0">
                          <a:latin typeface="Times New Roman" panose="02020603050405020304" pitchFamily="18" charset="0"/>
                          <a:cs typeface="Times New Roman" panose="02020603050405020304" pitchFamily="18" charset="0"/>
                        </a:rPr>
                        <a:t> </a:t>
                      </a:r>
                      <a:r>
                        <a:rPr lang="en-IN" sz="1100" b="1" dirty="0">
                          <a:latin typeface="Times New Roman" panose="02020603050405020304" pitchFamily="18" charset="0"/>
                          <a:cs typeface="Times New Roman" panose="02020603050405020304" pitchFamily="18" charset="0"/>
                        </a:rPr>
                        <a:t>R.Gopalakrishnan.</a:t>
                      </a:r>
                      <a:r>
                        <a:rPr lang="en-IN" sz="1100" dirty="0">
                          <a:latin typeface="Times New Roman" panose="02020603050405020304" pitchFamily="18" charset="0"/>
                          <a:cs typeface="Times New Roman" panose="02020603050405020304" pitchFamily="18" charset="0"/>
                        </a:rPr>
                        <a:t>et.al(2022).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latin typeface="Times New Roman" panose="02020603050405020304" pitchFamily="18" charset="0"/>
                          <a:cs typeface="Times New Roman" panose="02020603050405020304" pitchFamily="18" charset="0"/>
                        </a:rPr>
                        <a:t>Scientific </a:t>
                      </a:r>
                      <a:r>
                        <a:rPr lang="en-US" sz="1100" dirty="0" err="1">
                          <a:latin typeface="Times New Roman" panose="02020603050405020304" pitchFamily="18" charset="0"/>
                          <a:cs typeface="Times New Roman" panose="02020603050405020304" pitchFamily="18" charset="0"/>
                        </a:rPr>
                        <a:t>report,IEEE</a:t>
                      </a:r>
                      <a:endParaRPr lang="en-IN" sz="1100" dirty="0">
                        <a:latin typeface="Times New Roman" panose="02020603050405020304" pitchFamily="18" charset="0"/>
                        <a:cs typeface="Times New Roman" panose="02020603050405020304" pitchFamily="18" charset="0"/>
                      </a:endParaRPr>
                    </a:p>
                    <a:p>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US"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The major findings of this research involve the development of an Automatic Floor Cleaning Robot using Arduino UNO, Bluetooth module, and other components for dry, wet, and UV cleaning. </a:t>
                      </a:r>
                    </a:p>
                    <a:p>
                      <a:pPr marL="171450" indent="-171450" algn="just">
                        <a:buFont typeface="Arial" panose="020B0604020202020204" pitchFamily="34" charset="0"/>
                        <a:buChar char="•"/>
                      </a:pPr>
                      <a:r>
                        <a:rPr lang="en-US"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The compact design here is the main point, allows the robot to access tight spaces, and further improvements can be made to maximize its cleaning contact with the floor.</a:t>
                      </a:r>
                      <a:endParaRPr lang="en-US"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endParaRPr>
                    </a:p>
                  </a:txBody>
                  <a:tcPr/>
                </a:tc>
                <a:extLst>
                  <a:ext uri="{0D108BD9-81ED-4DB2-BD59-A6C34878D82A}">
                    <a16:rowId xmlns:a16="http://schemas.microsoft.com/office/drawing/2014/main" val="1495465592"/>
                  </a:ext>
                </a:extLst>
              </a:tr>
              <a:tr h="1682530">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latin typeface="Times New Roman" panose="02020603050405020304" pitchFamily="18" charset="0"/>
                          <a:cs typeface="Times New Roman" panose="02020603050405020304" pitchFamily="18" charset="0"/>
                        </a:rPr>
                        <a:t>A Short History of Cleaning Robots.</a:t>
                      </a:r>
                      <a:r>
                        <a:rPr lang="en-IN" sz="1100" dirty="0">
                          <a:latin typeface="Times New Roman" panose="02020603050405020304" pitchFamily="18" charset="0"/>
                          <a:cs typeface="Times New Roman" panose="02020603050405020304" pitchFamily="18" charset="0"/>
                        </a:rPr>
                        <a:t> </a:t>
                      </a:r>
                      <a:r>
                        <a:rPr lang="en-IN" sz="1100" b="1" dirty="0">
                          <a:latin typeface="Times New Roman" panose="02020603050405020304" pitchFamily="18" charset="0"/>
                          <a:cs typeface="Times New Roman" panose="02020603050405020304" pitchFamily="18" charset="0"/>
                        </a:rPr>
                        <a:t>Erwin Prassller</a:t>
                      </a:r>
                      <a:r>
                        <a:rPr lang="en-IN" sz="1100" dirty="0">
                          <a:latin typeface="Times New Roman" panose="02020603050405020304" pitchFamily="18" charset="0"/>
                          <a:cs typeface="Times New Roman" panose="02020603050405020304" pitchFamily="18" charset="0"/>
                        </a:rPr>
                        <a:t>.et.al.(2004)</a:t>
                      </a:r>
                      <a:endPar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endParaRPr>
                    </a:p>
                    <a:p>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Scientific </a:t>
                      </a:r>
                      <a:r>
                        <a:rPr lang="en-US"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report,IEEE</a:t>
                      </a:r>
                      <a:r>
                        <a:rPr lang="en-US"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a:t>
                      </a:r>
                      <a:endPar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endParaRPr>
                    </a:p>
                    <a:p>
                      <a:endParaRPr lang="en-IN" sz="1100" dirty="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panose="020B0604020202020204" pitchFamily="34" charset="0"/>
                        <a:buChar char="•"/>
                      </a:pPr>
                      <a:r>
                        <a:rPr lang="en-US"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Developed an autonomous robot system combining advanced sensor fusion for target recognition and adaptable path planning in dynamic environments, showcasing resilience on a Khepera robot.</a:t>
                      </a:r>
                      <a:endPar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endParaRPr>
                    </a:p>
                    <a:p>
                      <a:pPr marL="171450" lvl="0" indent="-171450">
                        <a:buFont typeface="Arial" panose="020B0604020202020204" pitchFamily="34" charset="0"/>
                        <a:buChar char="•"/>
                      </a:pPr>
                      <a:r>
                        <a:rPr lang="en-US"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Integration of fuzzy logic-based sensor fusion and dynamic path planning exhibited robust target collection abilities amidst evolving environments, marking significant strides in autonomous robotics.</a:t>
                      </a:r>
                      <a:endPar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endParaRPr>
                    </a:p>
                  </a:txBody>
                  <a:tcPr/>
                </a:tc>
                <a:extLst>
                  <a:ext uri="{0D108BD9-81ED-4DB2-BD59-A6C34878D82A}">
                    <a16:rowId xmlns:a16="http://schemas.microsoft.com/office/drawing/2014/main" val="1821114967"/>
                  </a:ext>
                </a:extLst>
              </a:tr>
            </a:tbl>
          </a:graphicData>
        </a:graphic>
      </p:graphicFrame>
    </p:spTree>
    <p:extLst>
      <p:ext uri="{BB962C8B-B14F-4D97-AF65-F5344CB8AC3E}">
        <p14:creationId xmlns:p14="http://schemas.microsoft.com/office/powerpoint/2010/main" val="3234435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9D83906D-2A95-6786-1A0A-E837D1C14B17}"/>
              </a:ext>
            </a:extLst>
          </p:cNvPr>
          <p:cNvGraphicFramePr>
            <a:graphicFrameLocks noGrp="1"/>
          </p:cNvGraphicFramePr>
          <p:nvPr>
            <p:extLst>
              <p:ext uri="{D42A27DB-BD31-4B8C-83A1-F6EECF244321}">
                <p14:modId xmlns:p14="http://schemas.microsoft.com/office/powerpoint/2010/main" val="1606065292"/>
              </p:ext>
            </p:extLst>
          </p:nvPr>
        </p:nvGraphicFramePr>
        <p:xfrm>
          <a:off x="365760" y="934720"/>
          <a:ext cx="8412481" cy="3815318"/>
        </p:xfrm>
        <a:graphic>
          <a:graphicData uri="http://schemas.openxmlformats.org/drawingml/2006/table">
            <a:tbl>
              <a:tblPr firstRow="1" bandRow="1">
                <a:tableStyleId>{E7F9406C-38D6-4A78-B208-37EDC5EEAE43}</a:tableStyleId>
              </a:tblPr>
              <a:tblGrid>
                <a:gridCol w="548640">
                  <a:extLst>
                    <a:ext uri="{9D8B030D-6E8A-4147-A177-3AD203B41FA5}">
                      <a16:colId xmlns:a16="http://schemas.microsoft.com/office/drawing/2014/main" val="1358835150"/>
                    </a:ext>
                  </a:extLst>
                </a:gridCol>
                <a:gridCol w="2241989">
                  <a:extLst>
                    <a:ext uri="{9D8B030D-6E8A-4147-A177-3AD203B41FA5}">
                      <a16:colId xmlns:a16="http://schemas.microsoft.com/office/drawing/2014/main" val="3885316134"/>
                    </a:ext>
                  </a:extLst>
                </a:gridCol>
                <a:gridCol w="1948367">
                  <a:extLst>
                    <a:ext uri="{9D8B030D-6E8A-4147-A177-3AD203B41FA5}">
                      <a16:colId xmlns:a16="http://schemas.microsoft.com/office/drawing/2014/main" val="2840104167"/>
                    </a:ext>
                  </a:extLst>
                </a:gridCol>
                <a:gridCol w="3673485">
                  <a:extLst>
                    <a:ext uri="{9D8B030D-6E8A-4147-A177-3AD203B41FA5}">
                      <a16:colId xmlns:a16="http://schemas.microsoft.com/office/drawing/2014/main" val="813668558"/>
                    </a:ext>
                  </a:extLst>
                </a:gridCol>
              </a:tblGrid>
              <a:tr h="426023">
                <a:tc>
                  <a:txBody>
                    <a:bodyPr/>
                    <a:lstStyle/>
                    <a:p>
                      <a:pPr algn="ctr"/>
                      <a:r>
                        <a:rPr lang="en-IN" sz="1100" b="1" dirty="0">
                          <a:latin typeface="Times New Roman" panose="02020603050405020304" pitchFamily="18" charset="0"/>
                          <a:cs typeface="Times New Roman" panose="02020603050405020304" pitchFamily="18" charset="0"/>
                        </a:rPr>
                        <a:t>No</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Title/ Author</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Source</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Key Points</a:t>
                      </a:r>
                    </a:p>
                  </a:txBody>
                  <a:tcPr>
                    <a:solidFill>
                      <a:schemeClr val="bg2">
                        <a:lumMod val="20000"/>
                        <a:lumOff val="80000"/>
                      </a:schemeClr>
                    </a:solidFill>
                  </a:tcPr>
                </a:tc>
                <a:extLst>
                  <a:ext uri="{0D108BD9-81ED-4DB2-BD59-A6C34878D82A}">
                    <a16:rowId xmlns:a16="http://schemas.microsoft.com/office/drawing/2014/main" val="982197707"/>
                  </a:ext>
                </a:extLst>
              </a:tr>
              <a:tr h="1618312">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5.</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Application of deep learning and machine learning models to detect COVID-19 face masks</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en-IN" sz="1100" b="1"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Mbunge,et</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al.</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(2021</a:t>
                      </a:r>
                      <a:r>
                        <a:rPr lang="en-IN" sz="1100" b="0" i="0" u="none" strike="noStrike" cap="none" dirty="0">
                          <a:solidFill>
                            <a:srgbClr val="000000"/>
                          </a:solidFill>
                          <a:effectLst/>
                          <a:latin typeface="Arial"/>
                          <a:ea typeface="Arial"/>
                          <a:cs typeface="Arial"/>
                          <a:sym typeface="Arial"/>
                        </a:rPr>
                        <a:t>)</a:t>
                      </a: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Science Direct</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They proposed a hybrid model with SVM, decision trees, and ensemble methods, achieving 99.64% testing accuracy. However, its heavy computational requirements limit deployment on low-end devices.</a:t>
                      </a:r>
                    </a:p>
                    <a:p>
                      <a:pPr marL="171450" indent="-171450" algn="just">
                        <a:buFont typeface="Arial" panose="020B0604020202020204" pitchFamily="34" charset="0"/>
                        <a:buChar char="•"/>
                      </a:pP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p>
                      <a:pPr marL="171450" indent="-171450" algn="just">
                        <a:buFont typeface="Arial" panose="020B0604020202020204" pitchFamily="34" charset="0"/>
                        <a:buChar char="•"/>
                      </a:pP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They emphasized the importance of authentic datasets, especially advocating for real-world face mask images to enhance precision and applicability in detection systems.</a:t>
                      </a:r>
                      <a:endParaRPr lang="en-US"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95465592"/>
                  </a:ext>
                </a:extLst>
              </a:tr>
              <a:tr h="1770983">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6.</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Object detection with deep learning.</a:t>
                      </a:r>
                      <a:r>
                        <a:rPr lang="nl-NL"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a:t>
                      </a:r>
                      <a:r>
                        <a:rPr lang="nl-NL"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Zhao,et.al</a:t>
                      </a:r>
                      <a:r>
                        <a:rPr lang="nl-NL"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.(2019</a:t>
                      </a:r>
                      <a:r>
                        <a:rPr lang="nl-NL" sz="1100" b="0" i="0" u="none" strike="noStrike" cap="none" dirty="0">
                          <a:solidFill>
                            <a:srgbClr val="000000"/>
                          </a:solidFill>
                          <a:effectLst/>
                          <a:latin typeface="Arial"/>
                          <a:ea typeface="Arial"/>
                          <a:cs typeface="Arial"/>
                          <a:sym typeface="Arial"/>
                        </a:rPr>
                        <a:t>)</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Scientific </a:t>
                      </a:r>
                      <a:r>
                        <a:rPr lang="en-US"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report,IEEE</a:t>
                      </a:r>
                      <a:r>
                        <a:rPr lang="en-US"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a:t>
                      </a:r>
                      <a:endPar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endParaRPr>
                    </a:p>
                    <a:p>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Their R-CNN framework revolutionized object detection with CNN features for region-based detection. Their fast R-CNN model integrated proposal generation and feature extraction, setting new speed and accuracy standards. The YOLO model further advanced real-time detection with a single-stage architecture, showcasing the potential for efficient and accurate object detection across applications.</a:t>
                      </a:r>
                      <a:endParaRPr lang="en-US"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821114967"/>
                  </a:ext>
                </a:extLst>
              </a:tr>
            </a:tbl>
          </a:graphicData>
        </a:graphic>
      </p:graphicFrame>
    </p:spTree>
    <p:extLst>
      <p:ext uri="{BB962C8B-B14F-4D97-AF65-F5344CB8AC3E}">
        <p14:creationId xmlns:p14="http://schemas.microsoft.com/office/powerpoint/2010/main" val="3055774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9D83906D-2A95-6786-1A0A-E837D1C14B17}"/>
              </a:ext>
            </a:extLst>
          </p:cNvPr>
          <p:cNvGraphicFramePr>
            <a:graphicFrameLocks noGrp="1"/>
          </p:cNvGraphicFramePr>
          <p:nvPr>
            <p:extLst>
              <p:ext uri="{D42A27DB-BD31-4B8C-83A1-F6EECF244321}">
                <p14:modId xmlns:p14="http://schemas.microsoft.com/office/powerpoint/2010/main" val="2277143444"/>
              </p:ext>
            </p:extLst>
          </p:nvPr>
        </p:nvGraphicFramePr>
        <p:xfrm>
          <a:off x="365760" y="934721"/>
          <a:ext cx="8412481" cy="3766818"/>
        </p:xfrm>
        <a:graphic>
          <a:graphicData uri="http://schemas.openxmlformats.org/drawingml/2006/table">
            <a:tbl>
              <a:tblPr firstRow="1" bandRow="1">
                <a:tableStyleId>{E7F9406C-38D6-4A78-B208-37EDC5EEAE43}</a:tableStyleId>
              </a:tblPr>
              <a:tblGrid>
                <a:gridCol w="548640">
                  <a:extLst>
                    <a:ext uri="{9D8B030D-6E8A-4147-A177-3AD203B41FA5}">
                      <a16:colId xmlns:a16="http://schemas.microsoft.com/office/drawing/2014/main" val="1358835150"/>
                    </a:ext>
                  </a:extLst>
                </a:gridCol>
                <a:gridCol w="2241989">
                  <a:extLst>
                    <a:ext uri="{9D8B030D-6E8A-4147-A177-3AD203B41FA5}">
                      <a16:colId xmlns:a16="http://schemas.microsoft.com/office/drawing/2014/main" val="3885316134"/>
                    </a:ext>
                  </a:extLst>
                </a:gridCol>
                <a:gridCol w="1948367">
                  <a:extLst>
                    <a:ext uri="{9D8B030D-6E8A-4147-A177-3AD203B41FA5}">
                      <a16:colId xmlns:a16="http://schemas.microsoft.com/office/drawing/2014/main" val="2840104167"/>
                    </a:ext>
                  </a:extLst>
                </a:gridCol>
                <a:gridCol w="3673485">
                  <a:extLst>
                    <a:ext uri="{9D8B030D-6E8A-4147-A177-3AD203B41FA5}">
                      <a16:colId xmlns:a16="http://schemas.microsoft.com/office/drawing/2014/main" val="813668558"/>
                    </a:ext>
                  </a:extLst>
                </a:gridCol>
              </a:tblGrid>
              <a:tr h="347403">
                <a:tc>
                  <a:txBody>
                    <a:bodyPr/>
                    <a:lstStyle/>
                    <a:p>
                      <a:pPr algn="ctr"/>
                      <a:r>
                        <a:rPr lang="en-IN" sz="1100" b="1" dirty="0">
                          <a:latin typeface="Times New Roman" panose="02020603050405020304" pitchFamily="18" charset="0"/>
                          <a:cs typeface="Times New Roman" panose="02020603050405020304" pitchFamily="18" charset="0"/>
                        </a:rPr>
                        <a:t>No</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Title/ Author</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Source</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Key Points</a:t>
                      </a:r>
                    </a:p>
                  </a:txBody>
                  <a:tcPr>
                    <a:solidFill>
                      <a:schemeClr val="bg2">
                        <a:lumMod val="20000"/>
                        <a:lumOff val="80000"/>
                      </a:schemeClr>
                    </a:solidFill>
                  </a:tcPr>
                </a:tc>
                <a:extLst>
                  <a:ext uri="{0D108BD9-81ED-4DB2-BD59-A6C34878D82A}">
                    <a16:rowId xmlns:a16="http://schemas.microsoft.com/office/drawing/2014/main" val="982197707"/>
                  </a:ext>
                </a:extLst>
              </a:tr>
              <a:tr h="1779404">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7.</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Deep learning models for plant disease detection and diagnosis. </a:t>
                      </a:r>
                      <a:r>
                        <a:rPr lang="en-IN" sz="1100" b="1"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Ferentinos,et.al</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(2018</a:t>
                      </a:r>
                      <a:r>
                        <a:rPr lang="en-IN" sz="1100" b="0" i="0" u="none" strike="noStrike" cap="none" dirty="0">
                          <a:solidFill>
                            <a:srgbClr val="000000"/>
                          </a:solidFill>
                          <a:effectLst/>
                          <a:latin typeface="Arial"/>
                          <a:ea typeface="Arial"/>
                          <a:cs typeface="Arial"/>
                          <a:sym typeface="Arial"/>
                        </a:rPr>
                        <a:t>)</a:t>
                      </a: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ScienceDirect.</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 He developed a semi-automatic system for soybean leaf disease detection and severity prediction, utilizing a dataset of 4775 images across four classes. Employing Support Vector Machine (SVM) as a classifier, they attained an impressive overall accuracy of nearly 90%.</a:t>
                      </a:r>
                    </a:p>
                    <a:p>
                      <a:pPr marL="171450" indent="-171450" algn="just">
                        <a:buFont typeface="Arial" panose="020B0604020202020204" pitchFamily="34" charset="0"/>
                        <a:buChar char="•"/>
                      </a:pP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p>
                      <a:pPr marL="171450" indent="-171450" algn="just">
                        <a:buFont typeface="Arial" panose="020B0604020202020204" pitchFamily="34" charset="0"/>
                        <a:buChar char="•"/>
                      </a:pP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However, the model's potential heaviness due to multiple clusters could limit its deployment on low-end devices despite its high accuracy.</a:t>
                      </a:r>
                      <a:endParaRPr lang="en-US"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95465592"/>
                  </a:ext>
                </a:extLst>
              </a:tr>
              <a:tr h="1640011">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8.</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Variable generalization performance of a deep learning model to detect pneumonia in chest radiographs.</a:t>
                      </a:r>
                      <a:r>
                        <a:rPr lang="en-IN" sz="1100" b="0" i="0" u="none" strike="noStrike" cap="none" dirty="0">
                          <a:solidFill>
                            <a:srgbClr val="000000"/>
                          </a:solidFill>
                          <a:effectLst/>
                          <a:latin typeface="Arial"/>
                          <a:ea typeface="Arial"/>
                          <a:cs typeface="Arial"/>
                          <a:sym typeface="Arial"/>
                        </a:rPr>
                        <a:t> </a:t>
                      </a:r>
                      <a:r>
                        <a:rPr lang="en-IN" sz="1100" b="1"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Zech,et.al</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(2018</a:t>
                      </a:r>
                      <a:r>
                        <a:rPr lang="en-IN" sz="1100" b="0" i="0" u="none" strike="noStrike" cap="none" dirty="0">
                          <a:solidFill>
                            <a:srgbClr val="000000"/>
                          </a:solidFill>
                          <a:effectLst/>
                          <a:latin typeface="Arial"/>
                          <a:ea typeface="Arial"/>
                          <a:cs typeface="Arial"/>
                          <a:sym typeface="Arial"/>
                        </a:rPr>
                        <a:t>)</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PLOS</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They evaluated pneumonia-screening CNNs across NIH, MSH, and IU using 158,323 chest radiographs. Models trained on NIH or MSH data performed similarly on IU but not on each other's data, revealing potential biases. Combining data from MSH and NIH improved internal but not external performance, highlighting challenges in generalizing CNN models across institutions.</a:t>
                      </a:r>
                      <a:endParaRPr lang="en-US"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821114967"/>
                  </a:ext>
                </a:extLst>
              </a:tr>
            </a:tbl>
          </a:graphicData>
        </a:graphic>
      </p:graphicFrame>
    </p:spTree>
    <p:extLst>
      <p:ext uri="{BB962C8B-B14F-4D97-AF65-F5344CB8AC3E}">
        <p14:creationId xmlns:p14="http://schemas.microsoft.com/office/powerpoint/2010/main" val="1014479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9D83906D-2A95-6786-1A0A-E837D1C14B17}"/>
              </a:ext>
            </a:extLst>
          </p:cNvPr>
          <p:cNvGraphicFramePr>
            <a:graphicFrameLocks noGrp="1"/>
          </p:cNvGraphicFramePr>
          <p:nvPr>
            <p:extLst>
              <p:ext uri="{D42A27DB-BD31-4B8C-83A1-F6EECF244321}">
                <p14:modId xmlns:p14="http://schemas.microsoft.com/office/powerpoint/2010/main" val="590842976"/>
              </p:ext>
            </p:extLst>
          </p:nvPr>
        </p:nvGraphicFramePr>
        <p:xfrm>
          <a:off x="365760" y="934721"/>
          <a:ext cx="8500922" cy="3779686"/>
        </p:xfrm>
        <a:graphic>
          <a:graphicData uri="http://schemas.openxmlformats.org/drawingml/2006/table">
            <a:tbl>
              <a:tblPr firstRow="1" bandRow="1">
                <a:tableStyleId>{E7F9406C-38D6-4A78-B208-37EDC5EEAE43}</a:tableStyleId>
              </a:tblPr>
              <a:tblGrid>
                <a:gridCol w="554408">
                  <a:extLst>
                    <a:ext uri="{9D8B030D-6E8A-4147-A177-3AD203B41FA5}">
                      <a16:colId xmlns:a16="http://schemas.microsoft.com/office/drawing/2014/main" val="1358835150"/>
                    </a:ext>
                  </a:extLst>
                </a:gridCol>
                <a:gridCol w="2265559">
                  <a:extLst>
                    <a:ext uri="{9D8B030D-6E8A-4147-A177-3AD203B41FA5}">
                      <a16:colId xmlns:a16="http://schemas.microsoft.com/office/drawing/2014/main" val="3885316134"/>
                    </a:ext>
                  </a:extLst>
                </a:gridCol>
                <a:gridCol w="1968850">
                  <a:extLst>
                    <a:ext uri="{9D8B030D-6E8A-4147-A177-3AD203B41FA5}">
                      <a16:colId xmlns:a16="http://schemas.microsoft.com/office/drawing/2014/main" val="2840104167"/>
                    </a:ext>
                  </a:extLst>
                </a:gridCol>
                <a:gridCol w="3712105">
                  <a:extLst>
                    <a:ext uri="{9D8B030D-6E8A-4147-A177-3AD203B41FA5}">
                      <a16:colId xmlns:a16="http://schemas.microsoft.com/office/drawing/2014/main" val="813668558"/>
                    </a:ext>
                  </a:extLst>
                </a:gridCol>
              </a:tblGrid>
              <a:tr h="342507">
                <a:tc>
                  <a:txBody>
                    <a:bodyPr/>
                    <a:lstStyle/>
                    <a:p>
                      <a:pPr algn="ctr"/>
                      <a:r>
                        <a:rPr lang="en-IN" sz="1100" b="1" dirty="0">
                          <a:latin typeface="Times New Roman" panose="02020603050405020304" pitchFamily="18" charset="0"/>
                          <a:cs typeface="Times New Roman" panose="02020603050405020304" pitchFamily="18" charset="0"/>
                        </a:rPr>
                        <a:t>No</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Title/ Author</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Source</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Key Points</a:t>
                      </a:r>
                    </a:p>
                  </a:txBody>
                  <a:tcPr>
                    <a:solidFill>
                      <a:schemeClr val="bg2">
                        <a:lumMod val="20000"/>
                        <a:lumOff val="80000"/>
                      </a:schemeClr>
                    </a:solidFill>
                  </a:tcPr>
                </a:tc>
                <a:extLst>
                  <a:ext uri="{0D108BD9-81ED-4DB2-BD59-A6C34878D82A}">
                    <a16:rowId xmlns:a16="http://schemas.microsoft.com/office/drawing/2014/main" val="982197707"/>
                  </a:ext>
                </a:extLst>
              </a:tr>
              <a:tr h="1612111">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9.</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Green leaf disease detection using raspberry pi.</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Sankar.et.al</a:t>
                      </a:r>
                      <a:r>
                        <a:rPr lang="en-IN" sz="1100" b="0" i="0" u="none" strike="noStrike" cap="none" dirty="0">
                          <a:solidFill>
                            <a:srgbClr val="000000"/>
                          </a:solidFill>
                          <a:effectLst/>
                          <a:latin typeface="Arial"/>
                          <a:ea typeface="Arial"/>
                          <a:cs typeface="Arial"/>
                          <a:sym typeface="Arial"/>
                        </a:rPr>
                        <a:t>.</a:t>
                      </a:r>
                      <a:r>
                        <a:rPr lang="en-IN" b="0" dirty="0">
                          <a:latin typeface="Times New Roman" panose="02020603050405020304" pitchFamily="18" charset="0"/>
                          <a:cs typeface="Times New Roman" panose="02020603050405020304" pitchFamily="18" charset="0"/>
                        </a:rPr>
                        <a:t>(2019)</a:t>
                      </a: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IEEE Xplore</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He initially proposed a k-means classifier for plant leaf disease detection but lacked vital dataset information and accuracy. In a subsequent study, they enhanced the concept with a semi-automatic system for soybean leaf detection, achieving nearly 90% accuracy using SVM on a dataset of 4775 images. However, concerns arise regarding the model's bulkiness due to multiple clusters, potentially limiting its deployment on low-end devices and practicality for real-life plant disease diagnosis.</a:t>
                      </a:r>
                      <a:endParaRPr lang="en-US"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95465592"/>
                  </a:ext>
                </a:extLst>
              </a:tr>
              <a:tr h="1825068">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10.</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IOT Surveillance Robot Using ESP-32 Wi-Fi CAM &amp; Arduino.</a:t>
                      </a:r>
                      <a:r>
                        <a:rPr lang="en-IN" sz="1100" b="0" i="0" u="none" strike="noStrike" cap="none" dirty="0">
                          <a:solidFill>
                            <a:srgbClr val="000000"/>
                          </a:solidFill>
                          <a:effectLst/>
                          <a:latin typeface="Arial"/>
                          <a:ea typeface="Arial"/>
                          <a:cs typeface="Arial"/>
                          <a:sym typeface="Arial"/>
                        </a:rPr>
                        <a:t> </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Venu, D. N</a:t>
                      </a:r>
                      <a:r>
                        <a:rPr lang="en-IN" sz="1100" b="1" dirty="0">
                          <a:latin typeface="Times New Roman" panose="02020603050405020304" pitchFamily="18" charset="0"/>
                          <a:cs typeface="Times New Roman" panose="02020603050405020304" pitchFamily="18" charset="0"/>
                        </a:rPr>
                        <a:t>.et.al</a:t>
                      </a:r>
                      <a:r>
                        <a:rPr lang="en-IN" sz="1100" dirty="0">
                          <a:latin typeface="Times New Roman" panose="02020603050405020304" pitchFamily="18" charset="0"/>
                          <a:cs typeface="Times New Roman" panose="02020603050405020304" pitchFamily="18" charset="0"/>
                        </a:rPr>
                        <a:t>.(2022). </a:t>
                      </a:r>
                    </a:p>
                  </a:txBody>
                  <a:tcPr/>
                </a:tc>
                <a:tc>
                  <a:txBody>
                    <a:bodyPr/>
                    <a:lstStyle/>
                    <a:p>
                      <a:r>
                        <a:rPr lang="en-US" sz="1100" dirty="0">
                          <a:latin typeface="Times New Roman" panose="02020603050405020304" pitchFamily="18" charset="0"/>
                          <a:cs typeface="Times New Roman" panose="02020603050405020304" pitchFamily="18" charset="0"/>
                        </a:rPr>
                        <a:t>Research Gate</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marR="0" lvl="0" indent="-1714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He highlights the ESP32 camera's utility in robotics, leveraging its Wi-Fi and Bluetooth capabilities for wireless communication and sensor integration. With motor driver compatibility and a dual-core processor for real-time data processing, it enables precise movement control. Hosting a web server facilitates remote control via a user-friendly interface. While facing challenges in real-world testing and application-specific optimization, as noted by </a:t>
                      </a:r>
                      <a:r>
                        <a:rPr lang="en-IN" sz="1100" b="0" i="0" u="none" strike="noStrike" kern="1200" cap="none" dirty="0" err="1">
                          <a:solidFill>
                            <a:schemeClr val="tx1"/>
                          </a:solidFill>
                          <a:effectLst/>
                          <a:latin typeface="Times New Roman" panose="02020603050405020304" pitchFamily="18" charset="0"/>
                          <a:ea typeface="Arial"/>
                          <a:cs typeface="Times New Roman" panose="02020603050405020304" pitchFamily="18" charset="0"/>
                          <a:sym typeface="Arial"/>
                        </a:rPr>
                        <a:t>Sanker</a:t>
                      </a: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 [20], the ESP32 remains a potent platform for diverse robotic applications.</a:t>
                      </a:r>
                      <a:endParaRPr lang="en-US"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endParaRPr>
                    </a:p>
                  </a:txBody>
                  <a:tcPr/>
                </a:tc>
                <a:extLst>
                  <a:ext uri="{0D108BD9-81ED-4DB2-BD59-A6C34878D82A}">
                    <a16:rowId xmlns:a16="http://schemas.microsoft.com/office/drawing/2014/main" val="1821114967"/>
                  </a:ext>
                </a:extLst>
              </a:tr>
            </a:tbl>
          </a:graphicData>
        </a:graphic>
      </p:graphicFrame>
    </p:spTree>
    <p:extLst>
      <p:ext uri="{BB962C8B-B14F-4D97-AF65-F5344CB8AC3E}">
        <p14:creationId xmlns:p14="http://schemas.microsoft.com/office/powerpoint/2010/main" val="2394916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9D83906D-2A95-6786-1A0A-E837D1C14B17}"/>
              </a:ext>
            </a:extLst>
          </p:cNvPr>
          <p:cNvGraphicFramePr>
            <a:graphicFrameLocks noGrp="1"/>
          </p:cNvGraphicFramePr>
          <p:nvPr>
            <p:extLst>
              <p:ext uri="{D42A27DB-BD31-4B8C-83A1-F6EECF244321}">
                <p14:modId xmlns:p14="http://schemas.microsoft.com/office/powerpoint/2010/main" val="4041021068"/>
              </p:ext>
            </p:extLst>
          </p:nvPr>
        </p:nvGraphicFramePr>
        <p:xfrm>
          <a:off x="365760" y="934721"/>
          <a:ext cx="8500922" cy="3779686"/>
        </p:xfrm>
        <a:graphic>
          <a:graphicData uri="http://schemas.openxmlformats.org/drawingml/2006/table">
            <a:tbl>
              <a:tblPr firstRow="1" bandRow="1">
                <a:tableStyleId>{E7F9406C-38D6-4A78-B208-37EDC5EEAE43}</a:tableStyleId>
              </a:tblPr>
              <a:tblGrid>
                <a:gridCol w="554408">
                  <a:extLst>
                    <a:ext uri="{9D8B030D-6E8A-4147-A177-3AD203B41FA5}">
                      <a16:colId xmlns:a16="http://schemas.microsoft.com/office/drawing/2014/main" val="1358835150"/>
                    </a:ext>
                  </a:extLst>
                </a:gridCol>
                <a:gridCol w="2265559">
                  <a:extLst>
                    <a:ext uri="{9D8B030D-6E8A-4147-A177-3AD203B41FA5}">
                      <a16:colId xmlns:a16="http://schemas.microsoft.com/office/drawing/2014/main" val="3885316134"/>
                    </a:ext>
                  </a:extLst>
                </a:gridCol>
                <a:gridCol w="1968850">
                  <a:extLst>
                    <a:ext uri="{9D8B030D-6E8A-4147-A177-3AD203B41FA5}">
                      <a16:colId xmlns:a16="http://schemas.microsoft.com/office/drawing/2014/main" val="2840104167"/>
                    </a:ext>
                  </a:extLst>
                </a:gridCol>
                <a:gridCol w="3712105">
                  <a:extLst>
                    <a:ext uri="{9D8B030D-6E8A-4147-A177-3AD203B41FA5}">
                      <a16:colId xmlns:a16="http://schemas.microsoft.com/office/drawing/2014/main" val="813668558"/>
                    </a:ext>
                  </a:extLst>
                </a:gridCol>
              </a:tblGrid>
              <a:tr h="342507">
                <a:tc>
                  <a:txBody>
                    <a:bodyPr/>
                    <a:lstStyle/>
                    <a:p>
                      <a:pPr algn="ctr"/>
                      <a:r>
                        <a:rPr lang="en-IN" sz="1100" b="1" dirty="0">
                          <a:latin typeface="Times New Roman" panose="02020603050405020304" pitchFamily="18" charset="0"/>
                          <a:cs typeface="Times New Roman" panose="02020603050405020304" pitchFamily="18" charset="0"/>
                        </a:rPr>
                        <a:t>No</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Title/ Author</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Source</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Key Points</a:t>
                      </a:r>
                    </a:p>
                  </a:txBody>
                  <a:tcPr>
                    <a:solidFill>
                      <a:schemeClr val="bg2">
                        <a:lumMod val="20000"/>
                        <a:lumOff val="80000"/>
                      </a:schemeClr>
                    </a:solidFill>
                  </a:tcPr>
                </a:tc>
                <a:extLst>
                  <a:ext uri="{0D108BD9-81ED-4DB2-BD59-A6C34878D82A}">
                    <a16:rowId xmlns:a16="http://schemas.microsoft.com/office/drawing/2014/main" val="982197707"/>
                  </a:ext>
                </a:extLst>
              </a:tr>
              <a:tr h="1612111">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11.</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Tinyml</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-enabled frugal smart objects: Challenges and opportunities.</a:t>
                      </a:r>
                      <a:r>
                        <a:rPr lang="en-IN" sz="1100" b="0" i="0" u="none" strike="noStrike" cap="none" dirty="0">
                          <a:solidFill>
                            <a:srgbClr val="000000"/>
                          </a:solidFill>
                          <a:effectLst/>
                          <a:latin typeface="Arial"/>
                          <a:ea typeface="Arial"/>
                          <a:cs typeface="Arial"/>
                          <a:sym typeface="Arial"/>
                        </a:rPr>
                        <a:t> </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Sanchez-Iborra.et.al</a:t>
                      </a:r>
                      <a:r>
                        <a:rPr lang="en-IN" sz="1100" b="0" i="0" u="none" strike="noStrike" cap="none" dirty="0">
                          <a:solidFill>
                            <a:srgbClr val="000000"/>
                          </a:solidFill>
                          <a:effectLst/>
                          <a:latin typeface="Arial"/>
                          <a:ea typeface="Arial"/>
                          <a:cs typeface="Arial"/>
                          <a:sym typeface="Arial"/>
                        </a:rPr>
                        <a:t>.</a:t>
                      </a:r>
                      <a:r>
                        <a:rPr lang="en-IN" b="0" dirty="0">
                          <a:latin typeface="Times New Roman" panose="02020603050405020304" pitchFamily="18" charset="0"/>
                          <a:cs typeface="Times New Roman" panose="02020603050405020304" pitchFamily="18" charset="0"/>
                        </a:rPr>
                        <a:t>(2020)</a:t>
                      </a: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IEEE Xplore</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They] review the integration of Machine Learning (ML) into Microcontroller Units (MCUs) via </a:t>
                      </a:r>
                      <a:r>
                        <a:rPr lang="en-US" sz="1100" b="0" i="0" kern="1200" dirty="0" err="1">
                          <a:solidFill>
                            <a:schemeClr val="tx1"/>
                          </a:solidFill>
                          <a:effectLst/>
                          <a:latin typeface="Times New Roman" panose="02020603050405020304" pitchFamily="18" charset="0"/>
                          <a:ea typeface="+mn-ea"/>
                          <a:cs typeface="Times New Roman" panose="02020603050405020304" pitchFamily="18" charset="0"/>
                        </a:rPr>
                        <a:t>TinyML</a:t>
                      </a: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 They explore frameworks for this integration and present a real use case of intelligent interface selection in multi-Radio Access Technology (RAT) devices. Experimentation reveals decision trees and Random Forest (RF) as optimal performers on an Arduino Uno board.</a:t>
                      </a:r>
                    </a:p>
                  </a:txBody>
                  <a:tcPr/>
                </a:tc>
                <a:extLst>
                  <a:ext uri="{0D108BD9-81ED-4DB2-BD59-A6C34878D82A}">
                    <a16:rowId xmlns:a16="http://schemas.microsoft.com/office/drawing/2014/main" val="1495465592"/>
                  </a:ext>
                </a:extLst>
              </a:tr>
              <a:tr h="1825068">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12.</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A lightweight quantized </a:t>
                      </a:r>
                      <a:r>
                        <a:rPr lang="en-IN"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cnn</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model for plant disease recognition. </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Rakib</a:t>
                      </a:r>
                      <a:r>
                        <a:rPr lang="en-IN" sz="1100" b="1" dirty="0">
                          <a:latin typeface="Times New Roman" panose="02020603050405020304" pitchFamily="18" charset="0"/>
                          <a:cs typeface="Times New Roman" panose="02020603050405020304" pitchFamily="18" charset="0"/>
                        </a:rPr>
                        <a:t>.et.al.</a:t>
                      </a:r>
                      <a:r>
                        <a:rPr lang="en-IN" sz="1100" dirty="0">
                          <a:latin typeface="Times New Roman" panose="02020603050405020304" pitchFamily="18" charset="0"/>
                          <a:cs typeface="Times New Roman" panose="02020603050405020304" pitchFamily="18" charset="0"/>
                        </a:rPr>
                        <a:t>(2022). </a:t>
                      </a:r>
                    </a:p>
                  </a:txBody>
                  <a:tcPr/>
                </a:tc>
                <a:tc>
                  <a:txBody>
                    <a:bodyPr/>
                    <a:lstStyle/>
                    <a:p>
                      <a:r>
                        <a:rPr lang="en-US" sz="1100" dirty="0">
                          <a:latin typeface="Times New Roman" panose="02020603050405020304" pitchFamily="18" charset="0"/>
                          <a:cs typeface="Times New Roman" panose="02020603050405020304" pitchFamily="18" charset="0"/>
                        </a:rPr>
                        <a:t>Springer </a:t>
                      </a:r>
                      <a:r>
                        <a:rPr lang="en-US" sz="1100" dirty="0" err="1">
                          <a:latin typeface="Times New Roman" panose="02020603050405020304" pitchFamily="18" charset="0"/>
                          <a:cs typeface="Times New Roman" panose="02020603050405020304" pitchFamily="18" charset="0"/>
                        </a:rPr>
                        <a:t>Linl</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marR="0" lvl="0" indent="-1714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He introduce a lightweight CNN model for plant leaf disease classification, achieving 98% accuracy with int8 quantization. Deployable on microcontrollers like ESP32-CAM, its small size (28KB) and fast inference time (39.2ms) enable efficient real-time detection, offering practical solutions for farmers and potentially addressing food shortages. Future work aims to expand disease recognition capabilities and develop a mobile app for identification and remedy suggestions, enhancing accessibility and impact.</a:t>
                      </a:r>
                      <a:endParaRPr lang="en-US"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endParaRPr>
                    </a:p>
                  </a:txBody>
                  <a:tcPr/>
                </a:tc>
                <a:extLst>
                  <a:ext uri="{0D108BD9-81ED-4DB2-BD59-A6C34878D82A}">
                    <a16:rowId xmlns:a16="http://schemas.microsoft.com/office/drawing/2014/main" val="1821114967"/>
                  </a:ext>
                </a:extLst>
              </a:tr>
            </a:tbl>
          </a:graphicData>
        </a:graphic>
      </p:graphicFrame>
    </p:spTree>
    <p:extLst>
      <p:ext uri="{BB962C8B-B14F-4D97-AF65-F5344CB8AC3E}">
        <p14:creationId xmlns:p14="http://schemas.microsoft.com/office/powerpoint/2010/main" val="939255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9D83906D-2A95-6786-1A0A-E837D1C14B17}"/>
              </a:ext>
            </a:extLst>
          </p:cNvPr>
          <p:cNvGraphicFramePr>
            <a:graphicFrameLocks noGrp="1"/>
          </p:cNvGraphicFramePr>
          <p:nvPr>
            <p:extLst>
              <p:ext uri="{D42A27DB-BD31-4B8C-83A1-F6EECF244321}">
                <p14:modId xmlns:p14="http://schemas.microsoft.com/office/powerpoint/2010/main" val="1943330246"/>
              </p:ext>
            </p:extLst>
          </p:nvPr>
        </p:nvGraphicFramePr>
        <p:xfrm>
          <a:off x="365760" y="934721"/>
          <a:ext cx="8500922" cy="3779686"/>
        </p:xfrm>
        <a:graphic>
          <a:graphicData uri="http://schemas.openxmlformats.org/drawingml/2006/table">
            <a:tbl>
              <a:tblPr firstRow="1" bandRow="1">
                <a:tableStyleId>{E7F9406C-38D6-4A78-B208-37EDC5EEAE43}</a:tableStyleId>
              </a:tblPr>
              <a:tblGrid>
                <a:gridCol w="554408">
                  <a:extLst>
                    <a:ext uri="{9D8B030D-6E8A-4147-A177-3AD203B41FA5}">
                      <a16:colId xmlns:a16="http://schemas.microsoft.com/office/drawing/2014/main" val="1358835150"/>
                    </a:ext>
                  </a:extLst>
                </a:gridCol>
                <a:gridCol w="2265559">
                  <a:extLst>
                    <a:ext uri="{9D8B030D-6E8A-4147-A177-3AD203B41FA5}">
                      <a16:colId xmlns:a16="http://schemas.microsoft.com/office/drawing/2014/main" val="3885316134"/>
                    </a:ext>
                  </a:extLst>
                </a:gridCol>
                <a:gridCol w="1968850">
                  <a:extLst>
                    <a:ext uri="{9D8B030D-6E8A-4147-A177-3AD203B41FA5}">
                      <a16:colId xmlns:a16="http://schemas.microsoft.com/office/drawing/2014/main" val="2840104167"/>
                    </a:ext>
                  </a:extLst>
                </a:gridCol>
                <a:gridCol w="3712105">
                  <a:extLst>
                    <a:ext uri="{9D8B030D-6E8A-4147-A177-3AD203B41FA5}">
                      <a16:colId xmlns:a16="http://schemas.microsoft.com/office/drawing/2014/main" val="813668558"/>
                    </a:ext>
                  </a:extLst>
                </a:gridCol>
              </a:tblGrid>
              <a:tr h="342507">
                <a:tc>
                  <a:txBody>
                    <a:bodyPr/>
                    <a:lstStyle/>
                    <a:p>
                      <a:pPr algn="ctr"/>
                      <a:r>
                        <a:rPr lang="en-IN" sz="1100" b="1" dirty="0">
                          <a:latin typeface="Times New Roman" panose="02020603050405020304" pitchFamily="18" charset="0"/>
                          <a:cs typeface="Times New Roman" panose="02020603050405020304" pitchFamily="18" charset="0"/>
                        </a:rPr>
                        <a:t>No</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Title/ Author</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Source</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Key Points</a:t>
                      </a:r>
                    </a:p>
                  </a:txBody>
                  <a:tcPr>
                    <a:solidFill>
                      <a:schemeClr val="bg2">
                        <a:lumMod val="20000"/>
                        <a:lumOff val="80000"/>
                      </a:schemeClr>
                    </a:solidFill>
                  </a:tcPr>
                </a:tc>
                <a:extLst>
                  <a:ext uri="{0D108BD9-81ED-4DB2-BD59-A6C34878D82A}">
                    <a16:rowId xmlns:a16="http://schemas.microsoft.com/office/drawing/2014/main" val="982197707"/>
                  </a:ext>
                </a:extLst>
              </a:tr>
              <a:tr h="1612111">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13.</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A Comprehensive Android App Based Solution for Automated Attendance and Management in Institutions Using IoT and </a:t>
                      </a:r>
                      <a:r>
                        <a:rPr lang="en-IN"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TinyML</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a:t>
                      </a:r>
                      <a:r>
                        <a:rPr lang="en-IN" sz="1100" b="0" i="0" u="none" strike="noStrike" cap="none" dirty="0">
                          <a:solidFill>
                            <a:srgbClr val="000000"/>
                          </a:solidFill>
                          <a:effectLst/>
                          <a:latin typeface="Arial"/>
                          <a:ea typeface="Arial"/>
                          <a:cs typeface="Arial"/>
                          <a:sym typeface="Arial"/>
                        </a:rPr>
                        <a:t> </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A. Paul.et.al</a:t>
                      </a:r>
                      <a:r>
                        <a:rPr lang="en-IN" sz="1100" b="0" i="0" u="none" strike="noStrike" cap="none" dirty="0">
                          <a:solidFill>
                            <a:srgbClr val="000000"/>
                          </a:solidFill>
                          <a:effectLst/>
                          <a:latin typeface="Arial"/>
                          <a:ea typeface="Arial"/>
                          <a:cs typeface="Arial"/>
                          <a:sym typeface="Arial"/>
                        </a:rPr>
                        <a:t>.</a:t>
                      </a:r>
                      <a:r>
                        <a:rPr lang="en-IN" b="0" dirty="0">
                          <a:latin typeface="Times New Roman" panose="02020603050405020304" pitchFamily="18" charset="0"/>
                          <a:cs typeface="Times New Roman" panose="02020603050405020304" pitchFamily="18" charset="0"/>
                        </a:rPr>
                        <a:t>(2023)</a:t>
                      </a: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IEEE Xplore</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They present an IoT-based education management system using ESP-32 CAM for face recognition and Flutter for mobile app development. Integrated with </a:t>
                      </a:r>
                      <a:r>
                        <a:rPr lang="en-IN" sz="1100" b="0" i="0" kern="1200" dirty="0" err="1">
                          <a:solidFill>
                            <a:schemeClr val="tx1"/>
                          </a:solidFill>
                          <a:effectLst/>
                          <a:latin typeface="Times New Roman" panose="02020603050405020304" pitchFamily="18" charset="0"/>
                          <a:ea typeface="+mn-ea"/>
                          <a:cs typeface="Times New Roman" panose="02020603050405020304" pitchFamily="18" charset="0"/>
                        </a:rPr>
                        <a:t>TinyML</a:t>
                      </a: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 and Edge Impulse, it ensures accurate attendance tracking and efficient communication. With modular design and secure data storage in Google Sheets, it streamlines education administration, offering features like class notifications and event updates, revolutionizing educational processes.</a:t>
                      </a:r>
                      <a:endParaRPr lang="en-US"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95465592"/>
                  </a:ext>
                </a:extLst>
              </a:tr>
              <a:tr h="1825068">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14.</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MobileNetV2 Model for Image Classification</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K. Dong</a:t>
                      </a:r>
                      <a:r>
                        <a:rPr lang="en-IN" sz="1100" b="1" dirty="0">
                          <a:latin typeface="Times New Roman" panose="02020603050405020304" pitchFamily="18" charset="0"/>
                          <a:cs typeface="Times New Roman" panose="02020603050405020304" pitchFamily="18" charset="0"/>
                        </a:rPr>
                        <a:t>.et.al</a:t>
                      </a:r>
                      <a:r>
                        <a:rPr lang="en-IN" sz="1100" dirty="0">
                          <a:latin typeface="Times New Roman" panose="02020603050405020304" pitchFamily="18" charset="0"/>
                          <a:cs typeface="Times New Roman" panose="02020603050405020304" pitchFamily="18" charset="0"/>
                        </a:rPr>
                        <a:t>.(2020).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latin typeface="Times New Roman" panose="02020603050405020304" pitchFamily="18" charset="0"/>
                          <a:cs typeface="Times New Roman" panose="02020603050405020304" pitchFamily="18" charset="0"/>
                        </a:rPr>
                        <a:t>IEEE Xplore</a:t>
                      </a:r>
                      <a:endParaRPr lang="en-IN" sz="1100" dirty="0">
                        <a:latin typeface="Times New Roman" panose="02020603050405020304" pitchFamily="18" charset="0"/>
                        <a:cs typeface="Times New Roman" panose="02020603050405020304" pitchFamily="18" charset="0"/>
                      </a:endParaRPr>
                    </a:p>
                    <a:p>
                      <a:endParaRPr lang="en-IN" sz="1100" dirty="0">
                        <a:latin typeface="Times New Roman" panose="02020603050405020304" pitchFamily="18" charset="0"/>
                        <a:cs typeface="Times New Roman" panose="02020603050405020304" pitchFamily="18" charset="0"/>
                      </a:endParaRPr>
                    </a:p>
                  </a:txBody>
                  <a:tcPr/>
                </a:tc>
                <a:tc>
                  <a:txBody>
                    <a:bodyPr/>
                    <a:lstStyle/>
                    <a:p>
                      <a:pPr marL="171450" marR="0" lvl="0" indent="-1714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They compare MobileNetV1 and MobileNetV2 models, showing MobileNetV2's superior accuracy and shorter training duration. Their analysis, including visualization with saliency maps, confirms MobileNetV2's effectiveness in image classification. Future research could focus on expanding datasets and implementing functions like segmentation and object detection to enhance MobileNetV2's performance further. Overall, MobileNetV2 offers a promising solution for image classification, surpassing MobileNetV1 in accuracy and efficiency.</a:t>
                      </a:r>
                      <a:endParaRPr lang="en-US"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endParaRPr>
                    </a:p>
                  </a:txBody>
                  <a:tcPr/>
                </a:tc>
                <a:extLst>
                  <a:ext uri="{0D108BD9-81ED-4DB2-BD59-A6C34878D82A}">
                    <a16:rowId xmlns:a16="http://schemas.microsoft.com/office/drawing/2014/main" val="1821114967"/>
                  </a:ext>
                </a:extLst>
              </a:tr>
            </a:tbl>
          </a:graphicData>
        </a:graphic>
      </p:graphicFrame>
    </p:spTree>
    <p:extLst>
      <p:ext uri="{BB962C8B-B14F-4D97-AF65-F5344CB8AC3E}">
        <p14:creationId xmlns:p14="http://schemas.microsoft.com/office/powerpoint/2010/main" val="937083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9D83906D-2A95-6786-1A0A-E837D1C14B17}"/>
              </a:ext>
            </a:extLst>
          </p:cNvPr>
          <p:cNvGraphicFramePr>
            <a:graphicFrameLocks noGrp="1"/>
          </p:cNvGraphicFramePr>
          <p:nvPr>
            <p:extLst>
              <p:ext uri="{D42A27DB-BD31-4B8C-83A1-F6EECF244321}">
                <p14:modId xmlns:p14="http://schemas.microsoft.com/office/powerpoint/2010/main" val="99295662"/>
              </p:ext>
            </p:extLst>
          </p:nvPr>
        </p:nvGraphicFramePr>
        <p:xfrm>
          <a:off x="365760" y="934721"/>
          <a:ext cx="8500922" cy="3779686"/>
        </p:xfrm>
        <a:graphic>
          <a:graphicData uri="http://schemas.openxmlformats.org/drawingml/2006/table">
            <a:tbl>
              <a:tblPr firstRow="1" bandRow="1">
                <a:tableStyleId>{E7F9406C-38D6-4A78-B208-37EDC5EEAE43}</a:tableStyleId>
              </a:tblPr>
              <a:tblGrid>
                <a:gridCol w="554408">
                  <a:extLst>
                    <a:ext uri="{9D8B030D-6E8A-4147-A177-3AD203B41FA5}">
                      <a16:colId xmlns:a16="http://schemas.microsoft.com/office/drawing/2014/main" val="1358835150"/>
                    </a:ext>
                  </a:extLst>
                </a:gridCol>
                <a:gridCol w="2265559">
                  <a:extLst>
                    <a:ext uri="{9D8B030D-6E8A-4147-A177-3AD203B41FA5}">
                      <a16:colId xmlns:a16="http://schemas.microsoft.com/office/drawing/2014/main" val="3885316134"/>
                    </a:ext>
                  </a:extLst>
                </a:gridCol>
                <a:gridCol w="1968850">
                  <a:extLst>
                    <a:ext uri="{9D8B030D-6E8A-4147-A177-3AD203B41FA5}">
                      <a16:colId xmlns:a16="http://schemas.microsoft.com/office/drawing/2014/main" val="2840104167"/>
                    </a:ext>
                  </a:extLst>
                </a:gridCol>
                <a:gridCol w="3712105">
                  <a:extLst>
                    <a:ext uri="{9D8B030D-6E8A-4147-A177-3AD203B41FA5}">
                      <a16:colId xmlns:a16="http://schemas.microsoft.com/office/drawing/2014/main" val="813668558"/>
                    </a:ext>
                  </a:extLst>
                </a:gridCol>
              </a:tblGrid>
              <a:tr h="342507">
                <a:tc>
                  <a:txBody>
                    <a:bodyPr/>
                    <a:lstStyle/>
                    <a:p>
                      <a:pPr algn="ctr"/>
                      <a:r>
                        <a:rPr lang="en-IN" sz="1100" b="1" dirty="0">
                          <a:latin typeface="Times New Roman" panose="02020603050405020304" pitchFamily="18" charset="0"/>
                          <a:cs typeface="Times New Roman" panose="02020603050405020304" pitchFamily="18" charset="0"/>
                        </a:rPr>
                        <a:t>No</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Title/ Author</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Source</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Key Points</a:t>
                      </a:r>
                    </a:p>
                  </a:txBody>
                  <a:tcPr>
                    <a:solidFill>
                      <a:schemeClr val="bg2">
                        <a:lumMod val="20000"/>
                        <a:lumOff val="80000"/>
                      </a:schemeClr>
                    </a:solidFill>
                  </a:tcPr>
                </a:tc>
                <a:extLst>
                  <a:ext uri="{0D108BD9-81ED-4DB2-BD59-A6C34878D82A}">
                    <a16:rowId xmlns:a16="http://schemas.microsoft.com/office/drawing/2014/main" val="982197707"/>
                  </a:ext>
                </a:extLst>
              </a:tr>
              <a:tr h="1612111">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15.</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Fruit image classification model based on MobileNetV2 with deep transfer learning technique</a:t>
                      </a:r>
                      <a:r>
                        <a:rPr lang="en-IN" sz="1100" b="0" i="0" u="none" strike="noStrike" cap="none" dirty="0">
                          <a:solidFill>
                            <a:srgbClr val="000000"/>
                          </a:solidFill>
                          <a:effectLst/>
                          <a:latin typeface="Arial"/>
                          <a:ea typeface="Arial"/>
                          <a:cs typeface="Arial"/>
                          <a:sym typeface="Arial"/>
                        </a:rPr>
                        <a:t>. </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Gulzar, Yonis.et.al</a:t>
                      </a:r>
                      <a:r>
                        <a:rPr lang="en-IN" sz="1100" b="0" i="0" u="none" strike="noStrike" cap="none" dirty="0">
                          <a:solidFill>
                            <a:srgbClr val="000000"/>
                          </a:solidFill>
                          <a:effectLst/>
                          <a:latin typeface="Arial"/>
                          <a:ea typeface="Arial"/>
                          <a:cs typeface="Arial"/>
                          <a:sym typeface="Arial"/>
                        </a:rPr>
                        <a:t>.</a:t>
                      </a:r>
                      <a:r>
                        <a:rPr lang="en-IN" b="0" dirty="0">
                          <a:latin typeface="Times New Roman" panose="02020603050405020304" pitchFamily="18" charset="0"/>
                          <a:cs typeface="Times New Roman" panose="02020603050405020304" pitchFamily="18" charset="0"/>
                        </a:rPr>
                        <a:t>(2019)</a:t>
                      </a: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MDPI</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He introduce TL-MobileNetV2, achieving 99% accuracy in fruit classification. Outperforming previous methods, it promises practical deployment in mobile apps. Future plans include dataset expansion and comparative analysis with other CNN models to enhance precision agriculture, particularly in fruit classification and disease prediction.</a:t>
                      </a:r>
                      <a:endParaRPr lang="en-US"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95465592"/>
                  </a:ext>
                </a:extLst>
              </a:tr>
              <a:tr h="1825068">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16.</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cap="none" dirty="0">
                          <a:solidFill>
                            <a:srgbClr val="000000"/>
                          </a:solidFill>
                          <a:effectLst/>
                          <a:latin typeface="Arial"/>
                          <a:ea typeface="Arial"/>
                          <a:cs typeface="Arial"/>
                          <a:sym typeface="Arial"/>
                        </a:rPr>
                        <a:t>Melanoma image classification based on MobileNetV2 network.</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a:t>
                      </a:r>
                      <a:r>
                        <a:rPr lang="en-IN" sz="1100" b="0" i="0" u="none" strike="noStrike" cap="none" dirty="0">
                          <a:solidFill>
                            <a:srgbClr val="000000"/>
                          </a:solidFill>
                          <a:effectLst/>
                          <a:latin typeface="Arial"/>
                          <a:ea typeface="Arial"/>
                          <a:cs typeface="Arial"/>
                          <a:sym typeface="Arial"/>
                        </a:rPr>
                        <a:t> </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Indraswari</a:t>
                      </a:r>
                      <a:r>
                        <a:rPr lang="en-IN" sz="1100" b="1" dirty="0">
                          <a:latin typeface="Times New Roman" panose="02020603050405020304" pitchFamily="18" charset="0"/>
                          <a:cs typeface="Times New Roman" panose="02020603050405020304" pitchFamily="18" charset="0"/>
                        </a:rPr>
                        <a:t>.et.al</a:t>
                      </a:r>
                      <a:r>
                        <a:rPr lang="en-IN" sz="1100" dirty="0">
                          <a:latin typeface="Times New Roman" panose="02020603050405020304" pitchFamily="18" charset="0"/>
                          <a:cs typeface="Times New Roman" panose="02020603050405020304" pitchFamily="18" charset="0"/>
                        </a:rPr>
                        <a:t>.(2022). </a:t>
                      </a:r>
                    </a:p>
                  </a:txBody>
                  <a:tcPr/>
                </a:tc>
                <a:tc>
                  <a:txBody>
                    <a:bodyPr/>
                    <a:lstStyle/>
                    <a:p>
                      <a:r>
                        <a:rPr lang="en-US" sz="1100" dirty="0">
                          <a:latin typeface="Times New Roman" panose="02020603050405020304" pitchFamily="18" charset="0"/>
                          <a:cs typeface="Times New Roman" panose="02020603050405020304" pitchFamily="18" charset="0"/>
                        </a:rPr>
                        <a:t>Science Direct</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marR="0" lvl="0" indent="-1714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She propose a melanoma classification method using MobileNetV2, achieving up to 85% accuracy on the ISIC-Archive dataset. The method outperforms other models and shows promise for practical deployment on mobile devices, aiding in early melanoma detection and potentially reducing mortality rates associated with this common cancer.</a:t>
                      </a:r>
                      <a:endParaRPr lang="en-US"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endParaRPr>
                    </a:p>
                  </a:txBody>
                  <a:tcPr/>
                </a:tc>
                <a:extLst>
                  <a:ext uri="{0D108BD9-81ED-4DB2-BD59-A6C34878D82A}">
                    <a16:rowId xmlns:a16="http://schemas.microsoft.com/office/drawing/2014/main" val="1821114967"/>
                  </a:ext>
                </a:extLst>
              </a:tr>
            </a:tbl>
          </a:graphicData>
        </a:graphic>
      </p:graphicFrame>
    </p:spTree>
    <p:extLst>
      <p:ext uri="{BB962C8B-B14F-4D97-AF65-F5344CB8AC3E}">
        <p14:creationId xmlns:p14="http://schemas.microsoft.com/office/powerpoint/2010/main" val="828732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9D83906D-2A95-6786-1A0A-E837D1C14B17}"/>
              </a:ext>
            </a:extLst>
          </p:cNvPr>
          <p:cNvGraphicFramePr>
            <a:graphicFrameLocks noGrp="1"/>
          </p:cNvGraphicFramePr>
          <p:nvPr>
            <p:extLst>
              <p:ext uri="{D42A27DB-BD31-4B8C-83A1-F6EECF244321}">
                <p14:modId xmlns:p14="http://schemas.microsoft.com/office/powerpoint/2010/main" val="1498740028"/>
              </p:ext>
            </p:extLst>
          </p:nvPr>
        </p:nvGraphicFramePr>
        <p:xfrm>
          <a:off x="365760" y="934721"/>
          <a:ext cx="8500922" cy="3779686"/>
        </p:xfrm>
        <a:graphic>
          <a:graphicData uri="http://schemas.openxmlformats.org/drawingml/2006/table">
            <a:tbl>
              <a:tblPr firstRow="1" bandRow="1">
                <a:tableStyleId>{E7F9406C-38D6-4A78-B208-37EDC5EEAE43}</a:tableStyleId>
              </a:tblPr>
              <a:tblGrid>
                <a:gridCol w="554408">
                  <a:extLst>
                    <a:ext uri="{9D8B030D-6E8A-4147-A177-3AD203B41FA5}">
                      <a16:colId xmlns:a16="http://schemas.microsoft.com/office/drawing/2014/main" val="1358835150"/>
                    </a:ext>
                  </a:extLst>
                </a:gridCol>
                <a:gridCol w="2265559">
                  <a:extLst>
                    <a:ext uri="{9D8B030D-6E8A-4147-A177-3AD203B41FA5}">
                      <a16:colId xmlns:a16="http://schemas.microsoft.com/office/drawing/2014/main" val="3885316134"/>
                    </a:ext>
                  </a:extLst>
                </a:gridCol>
                <a:gridCol w="1968850">
                  <a:extLst>
                    <a:ext uri="{9D8B030D-6E8A-4147-A177-3AD203B41FA5}">
                      <a16:colId xmlns:a16="http://schemas.microsoft.com/office/drawing/2014/main" val="2840104167"/>
                    </a:ext>
                  </a:extLst>
                </a:gridCol>
                <a:gridCol w="3712105">
                  <a:extLst>
                    <a:ext uri="{9D8B030D-6E8A-4147-A177-3AD203B41FA5}">
                      <a16:colId xmlns:a16="http://schemas.microsoft.com/office/drawing/2014/main" val="813668558"/>
                    </a:ext>
                  </a:extLst>
                </a:gridCol>
              </a:tblGrid>
              <a:tr h="342507">
                <a:tc>
                  <a:txBody>
                    <a:bodyPr/>
                    <a:lstStyle/>
                    <a:p>
                      <a:pPr algn="ctr"/>
                      <a:r>
                        <a:rPr lang="en-IN" sz="1100" b="1" dirty="0">
                          <a:latin typeface="Times New Roman" panose="02020603050405020304" pitchFamily="18" charset="0"/>
                          <a:cs typeface="Times New Roman" panose="02020603050405020304" pitchFamily="18" charset="0"/>
                        </a:rPr>
                        <a:t>No</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Title/ Author</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Source</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Key Points</a:t>
                      </a:r>
                    </a:p>
                  </a:txBody>
                  <a:tcPr>
                    <a:solidFill>
                      <a:schemeClr val="bg2">
                        <a:lumMod val="20000"/>
                        <a:lumOff val="80000"/>
                      </a:schemeClr>
                    </a:solidFill>
                  </a:tcPr>
                </a:tc>
                <a:extLst>
                  <a:ext uri="{0D108BD9-81ED-4DB2-BD59-A6C34878D82A}">
                    <a16:rowId xmlns:a16="http://schemas.microsoft.com/office/drawing/2014/main" val="982197707"/>
                  </a:ext>
                </a:extLst>
              </a:tr>
              <a:tr h="1612111">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17.</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Tinyml</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Machine learning with </a:t>
                      </a:r>
                      <a:r>
                        <a:rPr lang="en-IN"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tensorflow</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lite on </a:t>
                      </a:r>
                      <a:r>
                        <a:rPr lang="en-IN"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arduino</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and ultra-low-power microcontrollers.</a:t>
                      </a:r>
                      <a:r>
                        <a:rPr lang="en-IN" sz="1100" b="0" i="0" u="none" strike="noStrike" cap="none" dirty="0">
                          <a:solidFill>
                            <a:srgbClr val="000000"/>
                          </a:solidFill>
                          <a:effectLst/>
                          <a:latin typeface="Arial"/>
                          <a:ea typeface="Arial"/>
                          <a:cs typeface="Arial"/>
                          <a:sym typeface="Arial"/>
                        </a:rPr>
                        <a:t> </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Warden</a:t>
                      </a:r>
                      <a:r>
                        <a:rPr lang="en-IN" sz="1100" b="1" dirty="0">
                          <a:latin typeface="Times New Roman" panose="02020603050405020304" pitchFamily="18" charset="0"/>
                          <a:cs typeface="Times New Roman" panose="02020603050405020304" pitchFamily="18" charset="0"/>
                        </a:rPr>
                        <a:t>.et.al</a:t>
                      </a:r>
                      <a:r>
                        <a:rPr lang="en-IN" sz="1100" dirty="0">
                          <a:latin typeface="Times New Roman" panose="02020603050405020304" pitchFamily="18" charset="0"/>
                          <a:cs typeface="Times New Roman" panose="02020603050405020304" pitchFamily="18" charset="0"/>
                        </a:rPr>
                        <a:t>.(2022).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Google Books</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IN" sz="1100" b="0" i="0" kern="1200" dirty="0">
                          <a:solidFill>
                            <a:schemeClr val="tx1"/>
                          </a:solidFill>
                          <a:effectLst/>
                          <a:latin typeface="Times New Roman" panose="02020603050405020304" pitchFamily="18" charset="0"/>
                          <a:ea typeface="+mn-ea"/>
                          <a:cs typeface="Times New Roman" panose="02020603050405020304" pitchFamily="18" charset="0"/>
                        </a:rPr>
                        <a:t>He propose TensorFlow Lite on Arduino and ultra-low-power microcontrollers for efficient edge machine learning. This allows real-time inference, optimizing for memory and computational efficiency. Deploying on ultra-low-power MCUs extends battery life, making it ideal for various IoT and embedded applications requiring intelligent edge computing.</a:t>
                      </a:r>
                      <a:endParaRPr lang="en-US"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95465592"/>
                  </a:ext>
                </a:extLst>
              </a:tr>
              <a:tr h="1825068">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18.</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TinyML</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analysis of Xtensa LX6 microprocessor for neural network applications by ESP32 </a:t>
                      </a:r>
                      <a:r>
                        <a:rPr lang="en-IN"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SoC.</a:t>
                      </a:r>
                      <a:r>
                        <a:rPr lang="en-IN" sz="1100" b="0" i="0" u="none" strike="noStrike" cap="none" dirty="0">
                          <a:solidFill>
                            <a:srgbClr val="000000"/>
                          </a:solidFill>
                          <a:effectLst/>
                          <a:latin typeface="Arial"/>
                          <a:ea typeface="Arial"/>
                          <a:cs typeface="Arial"/>
                          <a:sym typeface="Arial"/>
                        </a:rPr>
                        <a:t> </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Zim</a:t>
                      </a:r>
                      <a:r>
                        <a:rPr lang="en-IN" sz="1100" b="1" dirty="0">
                          <a:latin typeface="Times New Roman" panose="02020603050405020304" pitchFamily="18" charset="0"/>
                          <a:cs typeface="Times New Roman" panose="02020603050405020304" pitchFamily="18" charset="0"/>
                        </a:rPr>
                        <a:t>.et.al.(2022). </a:t>
                      </a:r>
                    </a:p>
                  </a:txBody>
                  <a:tcPr/>
                </a:tc>
                <a:tc>
                  <a:txBody>
                    <a:bodyPr/>
                    <a:lstStyle/>
                    <a:p>
                      <a:r>
                        <a:rPr lang="en-US" sz="1100" dirty="0" err="1">
                          <a:latin typeface="Times New Roman" panose="02020603050405020304" pitchFamily="18" charset="0"/>
                          <a:cs typeface="Times New Roman" panose="02020603050405020304" pitchFamily="18" charset="0"/>
                        </a:rPr>
                        <a:t>Arxiv</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marR="0" lvl="0" indent="-1714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They proposed integrating machine learning with microcontrollers like ESP32 to advance edge computing. They explore efficient neural network acceleration without specialized hardware, suggesting potential speedup benefits for optimized machine learning on resource-constrained devices.</a:t>
                      </a:r>
                      <a:endParaRPr lang="en-US"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endParaRPr>
                    </a:p>
                  </a:txBody>
                  <a:tcPr/>
                </a:tc>
                <a:extLst>
                  <a:ext uri="{0D108BD9-81ED-4DB2-BD59-A6C34878D82A}">
                    <a16:rowId xmlns:a16="http://schemas.microsoft.com/office/drawing/2014/main" val="1821114967"/>
                  </a:ext>
                </a:extLst>
              </a:tr>
            </a:tbl>
          </a:graphicData>
        </a:graphic>
      </p:graphicFrame>
    </p:spTree>
    <p:extLst>
      <p:ext uri="{BB962C8B-B14F-4D97-AF65-F5344CB8AC3E}">
        <p14:creationId xmlns:p14="http://schemas.microsoft.com/office/powerpoint/2010/main" val="2109623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9D83906D-2A95-6786-1A0A-E837D1C14B17}"/>
              </a:ext>
            </a:extLst>
          </p:cNvPr>
          <p:cNvGraphicFramePr>
            <a:graphicFrameLocks noGrp="1"/>
          </p:cNvGraphicFramePr>
          <p:nvPr>
            <p:extLst>
              <p:ext uri="{D42A27DB-BD31-4B8C-83A1-F6EECF244321}">
                <p14:modId xmlns:p14="http://schemas.microsoft.com/office/powerpoint/2010/main" val="1005759953"/>
              </p:ext>
            </p:extLst>
          </p:nvPr>
        </p:nvGraphicFramePr>
        <p:xfrm>
          <a:off x="365760" y="934721"/>
          <a:ext cx="8500922" cy="3779686"/>
        </p:xfrm>
        <a:graphic>
          <a:graphicData uri="http://schemas.openxmlformats.org/drawingml/2006/table">
            <a:tbl>
              <a:tblPr firstRow="1" bandRow="1">
                <a:tableStyleId>{E7F9406C-38D6-4A78-B208-37EDC5EEAE43}</a:tableStyleId>
              </a:tblPr>
              <a:tblGrid>
                <a:gridCol w="554408">
                  <a:extLst>
                    <a:ext uri="{9D8B030D-6E8A-4147-A177-3AD203B41FA5}">
                      <a16:colId xmlns:a16="http://schemas.microsoft.com/office/drawing/2014/main" val="1358835150"/>
                    </a:ext>
                  </a:extLst>
                </a:gridCol>
                <a:gridCol w="2265559">
                  <a:extLst>
                    <a:ext uri="{9D8B030D-6E8A-4147-A177-3AD203B41FA5}">
                      <a16:colId xmlns:a16="http://schemas.microsoft.com/office/drawing/2014/main" val="3885316134"/>
                    </a:ext>
                  </a:extLst>
                </a:gridCol>
                <a:gridCol w="1968850">
                  <a:extLst>
                    <a:ext uri="{9D8B030D-6E8A-4147-A177-3AD203B41FA5}">
                      <a16:colId xmlns:a16="http://schemas.microsoft.com/office/drawing/2014/main" val="2840104167"/>
                    </a:ext>
                  </a:extLst>
                </a:gridCol>
                <a:gridCol w="3712105">
                  <a:extLst>
                    <a:ext uri="{9D8B030D-6E8A-4147-A177-3AD203B41FA5}">
                      <a16:colId xmlns:a16="http://schemas.microsoft.com/office/drawing/2014/main" val="813668558"/>
                    </a:ext>
                  </a:extLst>
                </a:gridCol>
              </a:tblGrid>
              <a:tr h="342507">
                <a:tc>
                  <a:txBody>
                    <a:bodyPr/>
                    <a:lstStyle/>
                    <a:p>
                      <a:pPr algn="ctr"/>
                      <a:r>
                        <a:rPr lang="en-IN" sz="1100" b="1" dirty="0">
                          <a:latin typeface="Times New Roman" panose="02020603050405020304" pitchFamily="18" charset="0"/>
                          <a:cs typeface="Times New Roman" panose="02020603050405020304" pitchFamily="18" charset="0"/>
                        </a:rPr>
                        <a:t>No</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Title/ Author</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Source</a:t>
                      </a:r>
                    </a:p>
                  </a:txBody>
                  <a:tcPr>
                    <a:solidFill>
                      <a:schemeClr val="bg2">
                        <a:lumMod val="20000"/>
                        <a:lumOff val="80000"/>
                      </a:schemeClr>
                    </a:solidFill>
                  </a:tcPr>
                </a:tc>
                <a:tc>
                  <a:txBody>
                    <a:bodyPr/>
                    <a:lstStyle/>
                    <a:p>
                      <a:pPr algn="ctr"/>
                      <a:r>
                        <a:rPr lang="en-IN" sz="1100" b="1" dirty="0">
                          <a:latin typeface="Times New Roman" panose="02020603050405020304" pitchFamily="18" charset="0"/>
                          <a:cs typeface="Times New Roman" panose="02020603050405020304" pitchFamily="18" charset="0"/>
                        </a:rPr>
                        <a:t>Key Points</a:t>
                      </a:r>
                    </a:p>
                  </a:txBody>
                  <a:tcPr>
                    <a:solidFill>
                      <a:schemeClr val="bg2">
                        <a:lumMod val="20000"/>
                        <a:lumOff val="80000"/>
                      </a:schemeClr>
                    </a:solidFill>
                  </a:tcPr>
                </a:tc>
                <a:extLst>
                  <a:ext uri="{0D108BD9-81ED-4DB2-BD59-A6C34878D82A}">
                    <a16:rowId xmlns:a16="http://schemas.microsoft.com/office/drawing/2014/main" val="982197707"/>
                  </a:ext>
                </a:extLst>
              </a:tr>
              <a:tr h="1612111">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19.</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Brushless DC motor control on </a:t>
                      </a:r>
                      <a:r>
                        <a:rPr lang="en-IN" sz="11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arduino</a:t>
                      </a:r>
                      <a:r>
                        <a:rPr lang="en-IN" sz="11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platform</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Mach.et.al</a:t>
                      </a:r>
                      <a:r>
                        <a:rPr lang="en-IN" sz="1100" b="0" i="0" u="none" strike="noStrike" cap="none" dirty="0">
                          <a:solidFill>
                            <a:srgbClr val="000000"/>
                          </a:solidFill>
                          <a:effectLst/>
                          <a:latin typeface="Arial"/>
                          <a:ea typeface="Arial"/>
                          <a:cs typeface="Arial"/>
                          <a:sym typeface="Arial"/>
                        </a:rPr>
                        <a:t>.</a:t>
                      </a:r>
                      <a:r>
                        <a:rPr lang="en-IN" b="0" dirty="0">
                          <a:latin typeface="Times New Roman" panose="02020603050405020304" pitchFamily="18" charset="0"/>
                          <a:cs typeface="Times New Roman" panose="02020603050405020304" pitchFamily="18" charset="0"/>
                        </a:rPr>
                        <a:t>(2018)</a:t>
                      </a:r>
                      <a:endParaRPr lang="en-IN" sz="11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TBU</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indent="-171450" algn="just">
                        <a:buFont typeface="Arial" panose="020B0604020202020204" pitchFamily="34" charset="0"/>
                        <a:buChar char="•"/>
                      </a:pP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He examine high-speed brushless DC (BLDC) motors, emphasizing their suitability for UAVs due to compactness and efficiency. They detail Electronic Speed Control (ESC) systems, showcasing integration with microcontrollers like Arduino. Experimental validation confirms Arduino's feasibility for BLDC motor control, promising further UAV research.</a:t>
                      </a:r>
                    </a:p>
                  </a:txBody>
                  <a:tcPr/>
                </a:tc>
                <a:extLst>
                  <a:ext uri="{0D108BD9-81ED-4DB2-BD59-A6C34878D82A}">
                    <a16:rowId xmlns:a16="http://schemas.microsoft.com/office/drawing/2014/main" val="1495465592"/>
                  </a:ext>
                </a:extLst>
              </a:tr>
              <a:tr h="1825068">
                <a:tc>
                  <a:txBody>
                    <a:bodyPr/>
                    <a:lstStyle/>
                    <a:p>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20.</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b="0" i="0" u="none" strike="noStrike" cap="none" dirty="0" err="1">
                          <a:solidFill>
                            <a:srgbClr val="000000"/>
                          </a:solidFill>
                          <a:effectLst/>
                          <a:latin typeface="Arial"/>
                          <a:ea typeface="Arial"/>
                          <a:cs typeface="Arial"/>
                          <a:sym typeface="Arial"/>
                        </a:rPr>
                        <a:t>TinyML</a:t>
                      </a:r>
                      <a:r>
                        <a:rPr lang="en-IN" sz="1100" b="0" i="0" u="none" strike="noStrike" cap="none" dirty="0">
                          <a:solidFill>
                            <a:srgbClr val="000000"/>
                          </a:solidFill>
                          <a:effectLst/>
                          <a:latin typeface="Arial"/>
                          <a:ea typeface="Arial"/>
                          <a:cs typeface="Arial"/>
                          <a:sym typeface="Arial"/>
                        </a:rPr>
                        <a:t>-CAM: 80 FPS image recognition in 1 kB RAM. </a:t>
                      </a:r>
                      <a:r>
                        <a:rPr lang="en-IN" sz="1100" b="1"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Sudharsan</a:t>
                      </a:r>
                      <a:r>
                        <a:rPr lang="en-IN" sz="1100" b="1" dirty="0">
                          <a:latin typeface="Times New Roman" panose="02020603050405020304" pitchFamily="18" charset="0"/>
                          <a:cs typeface="Times New Roman" panose="02020603050405020304" pitchFamily="18" charset="0"/>
                        </a:rPr>
                        <a:t>.et.al</a:t>
                      </a:r>
                      <a:r>
                        <a:rPr lang="en-IN" sz="1100" dirty="0">
                          <a:latin typeface="Times New Roman" panose="02020603050405020304" pitchFamily="18" charset="0"/>
                          <a:cs typeface="Times New Roman" panose="02020603050405020304" pitchFamily="18" charset="0"/>
                        </a:rPr>
                        <a:t>.(2022). </a:t>
                      </a:r>
                    </a:p>
                  </a:txBody>
                  <a:tcPr/>
                </a:tc>
                <a:tc>
                  <a:txBody>
                    <a:bodyPr/>
                    <a:lstStyle/>
                    <a:p>
                      <a:r>
                        <a:rPr lang="en-US" sz="1100" dirty="0">
                          <a:latin typeface="Times New Roman" panose="02020603050405020304" pitchFamily="18" charset="0"/>
                          <a:cs typeface="Times New Roman" panose="02020603050405020304" pitchFamily="18" charset="0"/>
                        </a:rPr>
                        <a:t>ACM Digital Library</a:t>
                      </a:r>
                      <a:endParaRPr lang="en-IN" sz="1100" dirty="0">
                        <a:latin typeface="Times New Roman" panose="02020603050405020304" pitchFamily="18" charset="0"/>
                        <a:cs typeface="Times New Roman" panose="02020603050405020304" pitchFamily="18" charset="0"/>
                      </a:endParaRPr>
                    </a:p>
                  </a:txBody>
                  <a:tcPr/>
                </a:tc>
                <a:tc>
                  <a:txBody>
                    <a:bodyPr/>
                    <a:lstStyle/>
                    <a:p>
                      <a:pPr marL="171450" marR="0" lvl="0" indent="-1714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He introduce the </a:t>
                      </a:r>
                      <a:r>
                        <a:rPr lang="en-IN" sz="1100" b="0" i="0" u="none" strike="noStrike" kern="1200" cap="none" dirty="0" err="1">
                          <a:solidFill>
                            <a:schemeClr val="tx1"/>
                          </a:solidFill>
                          <a:effectLst/>
                          <a:latin typeface="Times New Roman" panose="02020603050405020304" pitchFamily="18" charset="0"/>
                          <a:ea typeface="Arial"/>
                          <a:cs typeface="Times New Roman" panose="02020603050405020304" pitchFamily="18" charset="0"/>
                          <a:sym typeface="Arial"/>
                        </a:rPr>
                        <a:t>TinyML</a:t>
                      </a: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-CAM pipeline, enabling customized machine learning-based image recognition on IoT and </a:t>
                      </a:r>
                      <a:r>
                        <a:rPr lang="en-IN" sz="1100" b="0" i="0" u="none" strike="noStrike" kern="1200" cap="none" dirty="0" err="1">
                          <a:solidFill>
                            <a:schemeClr val="tx1"/>
                          </a:solidFill>
                          <a:effectLst/>
                          <a:latin typeface="Times New Roman" panose="02020603050405020304" pitchFamily="18" charset="0"/>
                          <a:ea typeface="Arial"/>
                          <a:cs typeface="Times New Roman" panose="02020603050405020304" pitchFamily="18" charset="0"/>
                          <a:sym typeface="Arial"/>
                        </a:rPr>
                        <a:t>AIoT</a:t>
                      </a: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 boards. With ultra-lightweight performance on ESP32, it achieves fast inference speeds. This open-source solution is the first to perform RF-based image recognition on </a:t>
                      </a:r>
                      <a:r>
                        <a:rPr lang="en-IN" sz="1100" b="0" i="0" u="none" strike="noStrike" kern="1200" cap="none" dirty="0" err="1">
                          <a:solidFill>
                            <a:schemeClr val="tx1"/>
                          </a:solidFill>
                          <a:effectLst/>
                          <a:latin typeface="Times New Roman" panose="02020603050405020304" pitchFamily="18" charset="0"/>
                          <a:ea typeface="Arial"/>
                          <a:cs typeface="Times New Roman" panose="02020603050405020304" pitchFamily="18" charset="0"/>
                          <a:sym typeface="Arial"/>
                        </a:rPr>
                        <a:t>AIoT</a:t>
                      </a: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 boards. Future plans include reducing processing time for improved frame rates and comprehensive testing across various datasets and IoT boards, similar to the </a:t>
                      </a:r>
                      <a:r>
                        <a:rPr lang="en-IN" sz="1100" b="0" i="0" u="none" strike="noStrike" kern="1200" cap="none" dirty="0" err="1">
                          <a:solidFill>
                            <a:schemeClr val="tx1"/>
                          </a:solidFill>
                          <a:effectLst/>
                          <a:latin typeface="Times New Roman" panose="02020603050405020304" pitchFamily="18" charset="0"/>
                          <a:ea typeface="Arial"/>
                          <a:cs typeface="Times New Roman" panose="02020603050405020304" pitchFamily="18" charset="0"/>
                          <a:sym typeface="Arial"/>
                        </a:rPr>
                        <a:t>TinyML</a:t>
                      </a:r>
                      <a:r>
                        <a:rPr lang="en-IN"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rPr>
                        <a:t> benchmark.</a:t>
                      </a:r>
                      <a:endParaRPr lang="en-US" sz="1100" b="0" i="0" u="none" strike="noStrike" kern="1200" cap="none" dirty="0">
                        <a:solidFill>
                          <a:schemeClr val="tx1"/>
                        </a:solidFill>
                        <a:effectLst/>
                        <a:latin typeface="Times New Roman" panose="02020603050405020304" pitchFamily="18" charset="0"/>
                        <a:ea typeface="Arial"/>
                        <a:cs typeface="Times New Roman" panose="02020603050405020304" pitchFamily="18" charset="0"/>
                        <a:sym typeface="Arial"/>
                      </a:endParaRPr>
                    </a:p>
                  </a:txBody>
                  <a:tcPr/>
                </a:tc>
                <a:extLst>
                  <a:ext uri="{0D108BD9-81ED-4DB2-BD59-A6C34878D82A}">
                    <a16:rowId xmlns:a16="http://schemas.microsoft.com/office/drawing/2014/main" val="1821114967"/>
                  </a:ext>
                </a:extLst>
              </a:tr>
            </a:tbl>
          </a:graphicData>
        </a:graphic>
      </p:graphicFrame>
    </p:spTree>
    <p:extLst>
      <p:ext uri="{BB962C8B-B14F-4D97-AF65-F5344CB8AC3E}">
        <p14:creationId xmlns:p14="http://schemas.microsoft.com/office/powerpoint/2010/main" val="2619722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63;p14">
            <a:extLst>
              <a:ext uri="{FF2B5EF4-FFF2-40B4-BE49-F238E27FC236}">
                <a16:creationId xmlns:a16="http://schemas.microsoft.com/office/drawing/2014/main" id="{CEDE21F1-3E70-593D-1ED9-A39C13C74322}"/>
              </a:ext>
            </a:extLst>
          </p:cNvPr>
          <p:cNvSpPr txBox="1">
            <a:spLocks noGrp="1"/>
          </p:cNvSpPr>
          <p:nvPr>
            <p:ph type="title"/>
          </p:nvPr>
        </p:nvSpPr>
        <p:spPr>
          <a:xfrm>
            <a:off x="271463" y="53975"/>
            <a:ext cx="4979987" cy="608013"/>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9pPr>
          </a:lstStyle>
          <a:p>
            <a:pPr lvl="6">
              <a:buSzPts val="990"/>
            </a:pPr>
            <a:r>
              <a:rPr lang="en-IN" sz="2800" b="1" dirty="0">
                <a:solidFill>
                  <a:schemeClr val="accent1">
                    <a:lumMod val="75000"/>
                  </a:schemeClr>
                </a:solidFill>
                <a:latin typeface="Times New Roman" panose="02020603050405020304" pitchFamily="18" charset="0"/>
                <a:cs typeface="Times New Roman" panose="02020603050405020304" pitchFamily="18" charset="0"/>
              </a:rPr>
              <a:t>  Hardware Components:</a:t>
            </a:r>
          </a:p>
        </p:txBody>
      </p:sp>
      <p:pic>
        <p:nvPicPr>
          <p:cNvPr id="17" name="Picture 16">
            <a:extLst>
              <a:ext uri="{FF2B5EF4-FFF2-40B4-BE49-F238E27FC236}">
                <a16:creationId xmlns:a16="http://schemas.microsoft.com/office/drawing/2014/main" id="{4A131A42-0E37-BFB4-4A37-DE5D982923E8}"/>
              </a:ext>
            </a:extLst>
          </p:cNvPr>
          <p:cNvPicPr>
            <a:picLocks noChangeAspect="1"/>
          </p:cNvPicPr>
          <p:nvPr/>
        </p:nvPicPr>
        <p:blipFill rotWithShape="1">
          <a:blip r:embed="rId2"/>
          <a:srcRect l="219" t="290" r="4741" b="4145"/>
          <a:stretch/>
        </p:blipFill>
        <p:spPr>
          <a:xfrm rot="5400000">
            <a:off x="4233962" y="1023874"/>
            <a:ext cx="2302974" cy="2015712"/>
          </a:xfrm>
          <a:prstGeom prst="rect">
            <a:avLst/>
          </a:prstGeom>
        </p:spPr>
      </p:pic>
      <p:pic>
        <p:nvPicPr>
          <p:cNvPr id="9" name="Picture 8">
            <a:extLst>
              <a:ext uri="{FF2B5EF4-FFF2-40B4-BE49-F238E27FC236}">
                <a16:creationId xmlns:a16="http://schemas.microsoft.com/office/drawing/2014/main" id="{43CB15D9-2355-03B1-7156-5356DF6B389B}"/>
              </a:ext>
            </a:extLst>
          </p:cNvPr>
          <p:cNvPicPr>
            <a:picLocks noChangeAspect="1"/>
          </p:cNvPicPr>
          <p:nvPr/>
        </p:nvPicPr>
        <p:blipFill>
          <a:blip r:embed="rId3"/>
          <a:stretch>
            <a:fillRect/>
          </a:stretch>
        </p:blipFill>
        <p:spPr>
          <a:xfrm rot="5400000">
            <a:off x="1956647" y="1164981"/>
            <a:ext cx="2320312" cy="1740233"/>
          </a:xfrm>
          <a:prstGeom prst="rect">
            <a:avLst/>
          </a:prstGeom>
        </p:spPr>
      </p:pic>
      <p:pic>
        <p:nvPicPr>
          <p:cNvPr id="7" name="Picture 6">
            <a:extLst>
              <a:ext uri="{FF2B5EF4-FFF2-40B4-BE49-F238E27FC236}">
                <a16:creationId xmlns:a16="http://schemas.microsoft.com/office/drawing/2014/main" id="{0E14ABF6-A874-3904-EE83-3847EFB84CC5}"/>
              </a:ext>
            </a:extLst>
          </p:cNvPr>
          <p:cNvPicPr>
            <a:picLocks noChangeAspect="1"/>
          </p:cNvPicPr>
          <p:nvPr/>
        </p:nvPicPr>
        <p:blipFill rotWithShape="1">
          <a:blip r:embed="rId4"/>
          <a:srcRect l="7748" t="-329" r="4597" b="329"/>
          <a:stretch/>
        </p:blipFill>
        <p:spPr>
          <a:xfrm rot="5400000">
            <a:off x="11718" y="1041560"/>
            <a:ext cx="2308275" cy="1975039"/>
          </a:xfrm>
          <a:prstGeom prst="rect">
            <a:avLst/>
          </a:prstGeom>
        </p:spPr>
      </p:pic>
      <p:pic>
        <p:nvPicPr>
          <p:cNvPr id="13" name="Picture 12">
            <a:extLst>
              <a:ext uri="{FF2B5EF4-FFF2-40B4-BE49-F238E27FC236}">
                <a16:creationId xmlns:a16="http://schemas.microsoft.com/office/drawing/2014/main" id="{0A99E9D3-AE7A-D758-236F-9A10D3EC313B}"/>
              </a:ext>
            </a:extLst>
          </p:cNvPr>
          <p:cNvPicPr>
            <a:picLocks noChangeAspect="1"/>
          </p:cNvPicPr>
          <p:nvPr/>
        </p:nvPicPr>
        <p:blipFill>
          <a:blip r:embed="rId5"/>
          <a:stretch>
            <a:fillRect/>
          </a:stretch>
        </p:blipFill>
        <p:spPr>
          <a:xfrm rot="5400000">
            <a:off x="6607275" y="1152946"/>
            <a:ext cx="2320310" cy="1740233"/>
          </a:xfrm>
          <a:prstGeom prst="rect">
            <a:avLst/>
          </a:prstGeom>
        </p:spPr>
      </p:pic>
      <p:sp>
        <p:nvSpPr>
          <p:cNvPr id="2" name="Text Placeholder 2">
            <a:extLst>
              <a:ext uri="{FF2B5EF4-FFF2-40B4-BE49-F238E27FC236}">
                <a16:creationId xmlns:a16="http://schemas.microsoft.com/office/drawing/2014/main" id="{71384F43-6A55-7667-C94C-4D7E83F0C02F}"/>
              </a:ext>
            </a:extLst>
          </p:cNvPr>
          <p:cNvSpPr>
            <a:spLocks noGrp="1"/>
          </p:cNvSpPr>
          <p:nvPr>
            <p:ph type="body" idx="1"/>
          </p:nvPr>
        </p:nvSpPr>
        <p:spPr>
          <a:xfrm>
            <a:off x="0" y="661988"/>
            <a:ext cx="2153375" cy="4481512"/>
          </a:xfrm>
        </p:spPr>
        <p:txBody>
          <a:bodyPr>
            <a:normAutofit/>
          </a:bodyPr>
          <a:lstStyle/>
          <a:p>
            <a:pPr marL="57150" indent="0">
              <a:buNone/>
            </a:pPr>
            <a:endParaRPr lang="en-US" sz="1600" dirty="0"/>
          </a:p>
          <a:p>
            <a:pPr marL="57150" indent="0">
              <a:buNone/>
            </a:pPr>
            <a:endParaRPr lang="en-US" sz="1600" dirty="0"/>
          </a:p>
          <a:p>
            <a:pPr marL="57150" indent="0">
              <a:buNone/>
            </a:pPr>
            <a:endParaRPr lang="en-US" sz="1600" dirty="0"/>
          </a:p>
          <a:p>
            <a:pPr marL="57150" indent="0">
              <a:buNone/>
            </a:pPr>
            <a:endParaRPr lang="en-US" sz="1600" dirty="0"/>
          </a:p>
          <a:p>
            <a:pPr marL="57150" indent="0">
              <a:buNone/>
            </a:pPr>
            <a:endParaRPr lang="en-US" sz="1600" dirty="0"/>
          </a:p>
          <a:p>
            <a:pPr marL="57150" indent="0">
              <a:buNone/>
            </a:pPr>
            <a:endParaRPr lang="en-US" sz="1600" dirty="0"/>
          </a:p>
          <a:p>
            <a:pPr marL="57150" indent="0">
              <a:buNone/>
            </a:pPr>
            <a:endParaRPr lang="en-US" sz="1600" dirty="0"/>
          </a:p>
          <a:p>
            <a:pPr marL="57150" indent="0">
              <a:buNone/>
            </a:pPr>
            <a:endParaRPr lang="en-US" sz="1600" dirty="0"/>
          </a:p>
          <a:p>
            <a:pPr marL="57150" indent="0">
              <a:buNone/>
            </a:pPr>
            <a:r>
              <a:rPr lang="en-US" sz="1200" dirty="0"/>
              <a:t>Fig 1 Arduino Mega and Motor Shield </a:t>
            </a:r>
          </a:p>
        </p:txBody>
      </p:sp>
      <p:sp>
        <p:nvSpPr>
          <p:cNvPr id="3" name="Text Placeholder 2">
            <a:extLst>
              <a:ext uri="{FF2B5EF4-FFF2-40B4-BE49-F238E27FC236}">
                <a16:creationId xmlns:a16="http://schemas.microsoft.com/office/drawing/2014/main" id="{F097B3AA-06AE-640B-CFF0-D97B6ACBB77F}"/>
              </a:ext>
            </a:extLst>
          </p:cNvPr>
          <p:cNvSpPr txBox="1">
            <a:spLocks/>
          </p:cNvSpPr>
          <p:nvPr/>
        </p:nvSpPr>
        <p:spPr>
          <a:xfrm>
            <a:off x="2246686" y="661988"/>
            <a:ext cx="1830639" cy="3677664"/>
          </a:xfrm>
          <a:prstGeom prst="rect">
            <a:avLst/>
          </a:prstGeom>
          <a:noFill/>
          <a:ln>
            <a:noFill/>
          </a:ln>
        </p:spPr>
        <p:txBody>
          <a:bodyPr spcFirstLastPara="1" wrap="square" lIns="68569" tIns="34275" rIns="68569" bIns="34275" anchor="t" anchorCtr="0">
            <a:normAutofit/>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r>
              <a:rPr lang="en-US" sz="1200" dirty="0"/>
              <a:t>Fig 2 IR and UV Sensor</a:t>
            </a:r>
          </a:p>
        </p:txBody>
      </p:sp>
      <p:sp>
        <p:nvSpPr>
          <p:cNvPr id="4" name="Text Placeholder 2">
            <a:extLst>
              <a:ext uri="{FF2B5EF4-FFF2-40B4-BE49-F238E27FC236}">
                <a16:creationId xmlns:a16="http://schemas.microsoft.com/office/drawing/2014/main" id="{EB576511-B63B-86AA-E9B8-76EC360E5FD0}"/>
              </a:ext>
            </a:extLst>
          </p:cNvPr>
          <p:cNvSpPr txBox="1">
            <a:spLocks/>
          </p:cNvSpPr>
          <p:nvPr/>
        </p:nvSpPr>
        <p:spPr>
          <a:xfrm>
            <a:off x="4390994" y="739438"/>
            <a:ext cx="2263514" cy="2963133"/>
          </a:xfrm>
          <a:prstGeom prst="rect">
            <a:avLst/>
          </a:prstGeom>
          <a:noFill/>
          <a:ln>
            <a:noFill/>
          </a:ln>
        </p:spPr>
        <p:txBody>
          <a:bodyPr spcFirstLastPara="1" wrap="square" lIns="68569" tIns="34275" rIns="68569" bIns="34275" anchor="t" anchorCtr="0">
            <a:normAutofit/>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r>
              <a:rPr lang="en-US" sz="1200" dirty="0"/>
              <a:t>Fig 3 Servomotor</a:t>
            </a:r>
          </a:p>
        </p:txBody>
      </p:sp>
      <p:sp>
        <p:nvSpPr>
          <p:cNvPr id="6" name="Text Placeholder 2">
            <a:extLst>
              <a:ext uri="{FF2B5EF4-FFF2-40B4-BE49-F238E27FC236}">
                <a16:creationId xmlns:a16="http://schemas.microsoft.com/office/drawing/2014/main" id="{DF377E95-30B9-BF23-7171-EF3A3FA450E1}"/>
              </a:ext>
            </a:extLst>
          </p:cNvPr>
          <p:cNvSpPr txBox="1">
            <a:spLocks/>
          </p:cNvSpPr>
          <p:nvPr/>
        </p:nvSpPr>
        <p:spPr>
          <a:xfrm>
            <a:off x="6798038" y="814388"/>
            <a:ext cx="1918741" cy="3128025"/>
          </a:xfrm>
          <a:prstGeom prst="rect">
            <a:avLst/>
          </a:prstGeom>
          <a:noFill/>
          <a:ln>
            <a:noFill/>
          </a:ln>
        </p:spPr>
        <p:txBody>
          <a:bodyPr spcFirstLastPara="1" wrap="square" lIns="68569" tIns="34275" rIns="68569" bIns="34275" anchor="t" anchorCtr="0">
            <a:normAutofit/>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r>
              <a:rPr lang="en-US" sz="1200" dirty="0"/>
              <a:t>Fig 4 Gearmotor and Wheels</a:t>
            </a:r>
          </a:p>
        </p:txBody>
      </p:sp>
    </p:spTree>
    <p:extLst>
      <p:ext uri="{BB962C8B-B14F-4D97-AF65-F5344CB8AC3E}">
        <p14:creationId xmlns:p14="http://schemas.microsoft.com/office/powerpoint/2010/main" val="2393932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99E83-4DBC-DAAE-D867-EF658BC9A596}"/>
              </a:ext>
            </a:extLst>
          </p:cNvPr>
          <p:cNvSpPr>
            <a:spLocks noGrp="1"/>
          </p:cNvSpPr>
          <p:nvPr>
            <p:ph type="title"/>
          </p:nvPr>
        </p:nvSpPr>
        <p:spPr/>
        <p:txBody>
          <a:bodyPr/>
          <a:lstStyle/>
          <a:p>
            <a:endParaRPr lang="en-IN"/>
          </a:p>
        </p:txBody>
      </p:sp>
      <p:pic>
        <p:nvPicPr>
          <p:cNvPr id="22" name="Picture 21">
            <a:extLst>
              <a:ext uri="{FF2B5EF4-FFF2-40B4-BE49-F238E27FC236}">
                <a16:creationId xmlns:a16="http://schemas.microsoft.com/office/drawing/2014/main" id="{5AD05575-C14D-B70F-6F89-3C7CE2808058}"/>
              </a:ext>
            </a:extLst>
          </p:cNvPr>
          <p:cNvPicPr>
            <a:picLocks noChangeAspect="1"/>
          </p:cNvPicPr>
          <p:nvPr/>
        </p:nvPicPr>
        <p:blipFill>
          <a:blip r:embed="rId2"/>
          <a:stretch>
            <a:fillRect/>
          </a:stretch>
        </p:blipFill>
        <p:spPr>
          <a:xfrm>
            <a:off x="327206" y="914400"/>
            <a:ext cx="1224275" cy="1843790"/>
          </a:xfrm>
          <a:prstGeom prst="rect">
            <a:avLst/>
          </a:prstGeom>
        </p:spPr>
      </p:pic>
      <p:pic>
        <p:nvPicPr>
          <p:cNvPr id="30" name="Picture 29">
            <a:extLst>
              <a:ext uri="{FF2B5EF4-FFF2-40B4-BE49-F238E27FC236}">
                <a16:creationId xmlns:a16="http://schemas.microsoft.com/office/drawing/2014/main" id="{6C9E4CFA-22AB-8A50-885F-4AD4F475E762}"/>
              </a:ext>
            </a:extLst>
          </p:cNvPr>
          <p:cNvPicPr>
            <a:picLocks noChangeAspect="1"/>
          </p:cNvPicPr>
          <p:nvPr/>
        </p:nvPicPr>
        <p:blipFill>
          <a:blip r:embed="rId3"/>
          <a:stretch>
            <a:fillRect/>
          </a:stretch>
        </p:blipFill>
        <p:spPr>
          <a:xfrm>
            <a:off x="1818709" y="989351"/>
            <a:ext cx="1224275" cy="1768839"/>
          </a:xfrm>
          <a:prstGeom prst="rect">
            <a:avLst/>
          </a:prstGeom>
        </p:spPr>
      </p:pic>
      <p:pic>
        <p:nvPicPr>
          <p:cNvPr id="34" name="Picture 33">
            <a:extLst>
              <a:ext uri="{FF2B5EF4-FFF2-40B4-BE49-F238E27FC236}">
                <a16:creationId xmlns:a16="http://schemas.microsoft.com/office/drawing/2014/main" id="{EBE93CC1-1438-3CAA-FA0D-0B4EACB68226}"/>
              </a:ext>
            </a:extLst>
          </p:cNvPr>
          <p:cNvPicPr>
            <a:picLocks noChangeAspect="1"/>
          </p:cNvPicPr>
          <p:nvPr/>
        </p:nvPicPr>
        <p:blipFill>
          <a:blip r:embed="rId4"/>
          <a:stretch>
            <a:fillRect/>
          </a:stretch>
        </p:blipFill>
        <p:spPr>
          <a:xfrm>
            <a:off x="3378467" y="989351"/>
            <a:ext cx="1522692" cy="1843790"/>
          </a:xfrm>
          <a:prstGeom prst="rect">
            <a:avLst/>
          </a:prstGeom>
        </p:spPr>
      </p:pic>
      <p:pic>
        <p:nvPicPr>
          <p:cNvPr id="36" name="Picture 35">
            <a:extLst>
              <a:ext uri="{FF2B5EF4-FFF2-40B4-BE49-F238E27FC236}">
                <a16:creationId xmlns:a16="http://schemas.microsoft.com/office/drawing/2014/main" id="{DDF40C0E-963C-4E22-AD33-835C573ABC17}"/>
              </a:ext>
            </a:extLst>
          </p:cNvPr>
          <p:cNvPicPr>
            <a:picLocks noChangeAspect="1"/>
          </p:cNvPicPr>
          <p:nvPr/>
        </p:nvPicPr>
        <p:blipFill>
          <a:blip r:embed="rId5"/>
          <a:stretch>
            <a:fillRect/>
          </a:stretch>
        </p:blipFill>
        <p:spPr>
          <a:xfrm>
            <a:off x="7325291" y="1071798"/>
            <a:ext cx="1326630" cy="1761344"/>
          </a:xfrm>
          <a:prstGeom prst="rect">
            <a:avLst/>
          </a:prstGeom>
        </p:spPr>
      </p:pic>
      <p:pic>
        <p:nvPicPr>
          <p:cNvPr id="1028" name="Picture 4" descr="Image result for bldc motor a2122">
            <a:extLst>
              <a:ext uri="{FF2B5EF4-FFF2-40B4-BE49-F238E27FC236}">
                <a16:creationId xmlns:a16="http://schemas.microsoft.com/office/drawing/2014/main" id="{8B8FAB7C-D1F4-F6FE-C75C-EB1A83E4FF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1932" y="989351"/>
            <a:ext cx="1536214" cy="1843790"/>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A818E67A-1874-E31B-2442-AF559C4B6C4D}"/>
              </a:ext>
            </a:extLst>
          </p:cNvPr>
          <p:cNvSpPr txBox="1">
            <a:spLocks/>
          </p:cNvSpPr>
          <p:nvPr/>
        </p:nvSpPr>
        <p:spPr>
          <a:xfrm>
            <a:off x="194951" y="734519"/>
            <a:ext cx="1522692" cy="2533337"/>
          </a:xfrm>
          <a:prstGeom prst="rect">
            <a:avLst/>
          </a:prstGeom>
          <a:noFill/>
          <a:ln>
            <a:noFill/>
          </a:ln>
        </p:spPr>
        <p:txBody>
          <a:bodyPr spcFirstLastPara="1" wrap="square" lIns="68569" tIns="34275" rIns="68569" bIns="34275" anchor="t" anchorCtr="0">
            <a:normAutofit fontScale="92500" lnSpcReduction="20000"/>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r>
              <a:rPr lang="en-US" sz="1200" dirty="0"/>
              <a:t>Fig 5 Li-ion and 9v Battery</a:t>
            </a:r>
          </a:p>
        </p:txBody>
      </p:sp>
      <p:sp>
        <p:nvSpPr>
          <p:cNvPr id="4" name="Text Placeholder 2">
            <a:extLst>
              <a:ext uri="{FF2B5EF4-FFF2-40B4-BE49-F238E27FC236}">
                <a16:creationId xmlns:a16="http://schemas.microsoft.com/office/drawing/2014/main" id="{0BE4C82F-E3C7-6ECB-E198-E49011776490}"/>
              </a:ext>
            </a:extLst>
          </p:cNvPr>
          <p:cNvSpPr txBox="1">
            <a:spLocks/>
          </p:cNvSpPr>
          <p:nvPr/>
        </p:nvSpPr>
        <p:spPr>
          <a:xfrm>
            <a:off x="1683736" y="742013"/>
            <a:ext cx="1522692" cy="2653259"/>
          </a:xfrm>
          <a:prstGeom prst="rect">
            <a:avLst/>
          </a:prstGeom>
          <a:noFill/>
          <a:ln>
            <a:noFill/>
          </a:ln>
        </p:spPr>
        <p:txBody>
          <a:bodyPr spcFirstLastPara="1" wrap="square" lIns="68569" tIns="34275" rIns="68569" bIns="34275" anchor="t" anchorCtr="0">
            <a:normAutofit fontScale="92500" lnSpcReduction="20000"/>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r>
              <a:rPr lang="en-US" sz="1200" dirty="0"/>
              <a:t>Fig 6 ESP 32 Camera Module</a:t>
            </a:r>
          </a:p>
        </p:txBody>
      </p:sp>
      <p:sp>
        <p:nvSpPr>
          <p:cNvPr id="5" name="Text Placeholder 2">
            <a:extLst>
              <a:ext uri="{FF2B5EF4-FFF2-40B4-BE49-F238E27FC236}">
                <a16:creationId xmlns:a16="http://schemas.microsoft.com/office/drawing/2014/main" id="{13EB5B53-5E69-BD75-51A4-D5F173A673A0}"/>
              </a:ext>
            </a:extLst>
          </p:cNvPr>
          <p:cNvSpPr txBox="1">
            <a:spLocks/>
          </p:cNvSpPr>
          <p:nvPr/>
        </p:nvSpPr>
        <p:spPr>
          <a:xfrm>
            <a:off x="3307494" y="661988"/>
            <a:ext cx="1804152" cy="2733284"/>
          </a:xfrm>
          <a:prstGeom prst="rect">
            <a:avLst/>
          </a:prstGeom>
          <a:noFill/>
          <a:ln>
            <a:noFill/>
          </a:ln>
        </p:spPr>
        <p:txBody>
          <a:bodyPr spcFirstLastPara="1" wrap="square" lIns="68569" tIns="34275" rIns="68569" bIns="34275" anchor="t" anchorCtr="0">
            <a:normAutofit lnSpcReduction="10000"/>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r>
              <a:rPr lang="en-US" sz="1200" dirty="0"/>
              <a:t>Fig7 ESC controller</a:t>
            </a:r>
          </a:p>
        </p:txBody>
      </p:sp>
      <p:sp>
        <p:nvSpPr>
          <p:cNvPr id="6" name="Text Placeholder 2">
            <a:extLst>
              <a:ext uri="{FF2B5EF4-FFF2-40B4-BE49-F238E27FC236}">
                <a16:creationId xmlns:a16="http://schemas.microsoft.com/office/drawing/2014/main" id="{CA0F7EF9-02A9-ED39-9266-90D228663CE1}"/>
              </a:ext>
            </a:extLst>
          </p:cNvPr>
          <p:cNvSpPr txBox="1">
            <a:spLocks/>
          </p:cNvSpPr>
          <p:nvPr/>
        </p:nvSpPr>
        <p:spPr>
          <a:xfrm>
            <a:off x="5182619" y="661988"/>
            <a:ext cx="1682876" cy="2733284"/>
          </a:xfrm>
          <a:prstGeom prst="rect">
            <a:avLst/>
          </a:prstGeom>
          <a:noFill/>
          <a:ln>
            <a:noFill/>
          </a:ln>
        </p:spPr>
        <p:txBody>
          <a:bodyPr spcFirstLastPara="1" wrap="square" lIns="68569" tIns="34275" rIns="68569" bIns="34275" anchor="t" anchorCtr="0">
            <a:normAutofit lnSpcReduction="10000"/>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r>
              <a:rPr lang="en-US" sz="1200" dirty="0"/>
              <a:t>Fig8 BLDC motor</a:t>
            </a:r>
          </a:p>
        </p:txBody>
      </p:sp>
      <p:sp>
        <p:nvSpPr>
          <p:cNvPr id="7" name="Text Placeholder 2">
            <a:extLst>
              <a:ext uri="{FF2B5EF4-FFF2-40B4-BE49-F238E27FC236}">
                <a16:creationId xmlns:a16="http://schemas.microsoft.com/office/drawing/2014/main" id="{73EAF94C-14CA-8601-5B45-32616C7BF372}"/>
              </a:ext>
            </a:extLst>
          </p:cNvPr>
          <p:cNvSpPr txBox="1">
            <a:spLocks/>
          </p:cNvSpPr>
          <p:nvPr/>
        </p:nvSpPr>
        <p:spPr>
          <a:xfrm>
            <a:off x="7133916" y="846944"/>
            <a:ext cx="1682877" cy="2653259"/>
          </a:xfrm>
          <a:prstGeom prst="rect">
            <a:avLst/>
          </a:prstGeom>
          <a:noFill/>
          <a:ln>
            <a:noFill/>
          </a:ln>
        </p:spPr>
        <p:txBody>
          <a:bodyPr spcFirstLastPara="1" wrap="square" lIns="68569" tIns="34275" rIns="68569" bIns="34275" anchor="t" anchorCtr="0">
            <a:normAutofit fontScale="92500" lnSpcReduction="10000"/>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endParaRPr lang="en-US" sz="1600" dirty="0"/>
          </a:p>
          <a:p>
            <a:pPr marL="57150" indent="0">
              <a:buFont typeface="Arial"/>
              <a:buNone/>
            </a:pPr>
            <a:r>
              <a:rPr lang="en-US" sz="1200" dirty="0"/>
              <a:t>Fig 9 </a:t>
            </a:r>
            <a:r>
              <a:rPr lang="en-US" sz="1200" dirty="0" err="1"/>
              <a:t>Arducam</a:t>
            </a:r>
            <a:r>
              <a:rPr lang="en-US" sz="1200" dirty="0"/>
              <a:t> OV 7670</a:t>
            </a:r>
          </a:p>
        </p:txBody>
      </p:sp>
    </p:spTree>
    <p:extLst>
      <p:ext uri="{BB962C8B-B14F-4D97-AF65-F5344CB8AC3E}">
        <p14:creationId xmlns:p14="http://schemas.microsoft.com/office/powerpoint/2010/main" val="1383355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B9935-C983-889F-5FC5-03170853DFD8}"/>
              </a:ext>
            </a:extLst>
          </p:cNvPr>
          <p:cNvSpPr>
            <a:spLocks noGrp="1"/>
          </p:cNvSpPr>
          <p:nvPr>
            <p:ph type="title"/>
          </p:nvPr>
        </p:nvSpPr>
        <p:spPr/>
        <p:txBody>
          <a:bodyPr/>
          <a:lstStyle/>
          <a:p>
            <a:r>
              <a:rPr lang="en-IN" dirty="0">
                <a:solidFill>
                  <a:schemeClr val="accent1">
                    <a:lumMod val="75000"/>
                  </a:schemeClr>
                </a:solidFill>
              </a:rPr>
              <a:t>Software requirements:</a:t>
            </a:r>
          </a:p>
        </p:txBody>
      </p:sp>
      <p:pic>
        <p:nvPicPr>
          <p:cNvPr id="5" name="Picture 10" descr="ICO Software Icon, Software, angle, computer, material png | PNGWing">
            <a:extLst>
              <a:ext uri="{FF2B5EF4-FFF2-40B4-BE49-F238E27FC236}">
                <a16:creationId xmlns:a16="http://schemas.microsoft.com/office/drawing/2014/main" id="{6ED67468-91EB-3B27-115D-444633C42F0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6695400" y="142245"/>
            <a:ext cx="856868" cy="478252"/>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DA527D0C-0AE7-6482-2169-EB968B0C0D2D}"/>
              </a:ext>
            </a:extLst>
          </p:cNvPr>
          <p:cNvSpPr>
            <a:spLocks noGrp="1"/>
          </p:cNvSpPr>
          <p:nvPr>
            <p:ph type="body" idx="1"/>
          </p:nvPr>
        </p:nvSpPr>
        <p:spPr>
          <a:xfrm>
            <a:off x="858942" y="1209116"/>
            <a:ext cx="7384205" cy="3934384"/>
          </a:xfrm>
        </p:spPr>
        <p:txBody>
          <a:bodyPr>
            <a:normAutofit/>
          </a:bodyPr>
          <a:lstStyle/>
          <a:p>
            <a:r>
              <a:rPr lang="en-US" sz="2000" dirty="0"/>
              <a:t>Operating System- Windows</a:t>
            </a:r>
          </a:p>
          <a:p>
            <a:r>
              <a:rPr lang="en-US" sz="2000" dirty="0"/>
              <a:t>Programming languages- </a:t>
            </a:r>
          </a:p>
          <a:p>
            <a:pPr lvl="1"/>
            <a:r>
              <a:rPr lang="en-US" sz="1600" dirty="0"/>
              <a:t>Python</a:t>
            </a:r>
          </a:p>
          <a:p>
            <a:pPr lvl="1"/>
            <a:r>
              <a:rPr lang="en-US" sz="1600" dirty="0"/>
              <a:t>C++</a:t>
            </a:r>
          </a:p>
          <a:p>
            <a:r>
              <a:rPr lang="en-US" sz="2000" dirty="0"/>
              <a:t>Machine learning Frameworks- </a:t>
            </a:r>
          </a:p>
          <a:p>
            <a:pPr lvl="1"/>
            <a:r>
              <a:rPr lang="en-IN" sz="1600" b="0" i="0" dirty="0">
                <a:solidFill>
                  <a:srgbClr val="0D0D0D"/>
                </a:solidFill>
                <a:effectLst/>
                <a:highlight>
                  <a:srgbClr val="FFFFFF"/>
                </a:highlight>
                <a:latin typeface="Times New Roman" panose="02020603050405020304" pitchFamily="18" charset="0"/>
                <a:cs typeface="Times New Roman" panose="02020603050405020304" pitchFamily="18" charset="0"/>
              </a:rPr>
              <a:t>MobileNetV2</a:t>
            </a:r>
            <a:endParaRPr lang="en-US" sz="1600" dirty="0">
              <a:latin typeface="Times New Roman" panose="02020603050405020304" pitchFamily="18" charset="0"/>
              <a:cs typeface="Times New Roman" panose="02020603050405020304" pitchFamily="18" charset="0"/>
            </a:endParaRPr>
          </a:p>
          <a:p>
            <a:pPr lvl="1"/>
            <a:r>
              <a:rPr lang="en-US" sz="1600" dirty="0"/>
              <a:t>TensorFlowLite</a:t>
            </a:r>
            <a:endParaRPr lang="en-IN" sz="1600" dirty="0"/>
          </a:p>
          <a:p>
            <a:pPr marL="419100" indent="-342900"/>
            <a:r>
              <a:rPr lang="en-IN" sz="2000" dirty="0"/>
              <a:t>Arduino IDE</a:t>
            </a:r>
          </a:p>
        </p:txBody>
      </p:sp>
    </p:spTree>
    <p:extLst>
      <p:ext uri="{BB962C8B-B14F-4D97-AF65-F5344CB8AC3E}">
        <p14:creationId xmlns:p14="http://schemas.microsoft.com/office/powerpoint/2010/main" val="1926634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28D1D-893A-39A8-20BB-4C7ACBB53A83}"/>
              </a:ext>
            </a:extLst>
          </p:cNvPr>
          <p:cNvSpPr>
            <a:spLocks noGrp="1"/>
          </p:cNvSpPr>
          <p:nvPr>
            <p:ph type="title"/>
          </p:nvPr>
        </p:nvSpPr>
        <p:spPr/>
        <p:txBody>
          <a:bodyPr/>
          <a:lstStyle/>
          <a:p>
            <a:r>
              <a:rPr lang="en-IN" dirty="0">
                <a:solidFill>
                  <a:schemeClr val="accent1">
                    <a:lumMod val="75000"/>
                  </a:schemeClr>
                </a:solidFill>
              </a:rPr>
              <a:t>Methodology</a:t>
            </a:r>
          </a:p>
        </p:txBody>
      </p:sp>
      <p:sp>
        <p:nvSpPr>
          <p:cNvPr id="3" name="Text Placeholder 2">
            <a:extLst>
              <a:ext uri="{FF2B5EF4-FFF2-40B4-BE49-F238E27FC236}">
                <a16:creationId xmlns:a16="http://schemas.microsoft.com/office/drawing/2014/main" id="{23AE9254-398D-2EC8-85CA-DD6E18173E61}"/>
              </a:ext>
            </a:extLst>
          </p:cNvPr>
          <p:cNvSpPr>
            <a:spLocks noGrp="1"/>
          </p:cNvSpPr>
          <p:nvPr>
            <p:ph type="body" idx="1"/>
          </p:nvPr>
        </p:nvSpPr>
        <p:spPr>
          <a:xfrm>
            <a:off x="858942" y="1209116"/>
            <a:ext cx="7384205" cy="3625212"/>
          </a:xfrm>
        </p:spPr>
        <p:txBody>
          <a:bodyPr>
            <a:normAutofit/>
          </a:bodyPr>
          <a:lstStyle/>
          <a:p>
            <a:pPr marL="57150" indent="0">
              <a:buNone/>
            </a:pPr>
            <a:r>
              <a:rPr lang="en-US" sz="2000" dirty="0"/>
              <a:t>This project employs a multi-faceted methodology, combining Neural networking, sensor fusion and machine learning techniques. It utilizes cameras and sensors to perceive the environment, employs algorithms to map and plan cleaning routes, and utilizes machine learning for obstacle avoidance and surface recognition, ensuring effective and autonomous house cleaning.</a:t>
            </a:r>
            <a:endParaRPr lang="en-IN" sz="2000" dirty="0"/>
          </a:p>
        </p:txBody>
      </p:sp>
      <p:pic>
        <p:nvPicPr>
          <p:cNvPr id="8194" name="Picture 2" descr="Methodology - Free professions and jobs icons">
            <a:extLst>
              <a:ext uri="{FF2B5EF4-FFF2-40B4-BE49-F238E27FC236}">
                <a16:creationId xmlns:a16="http://schemas.microsoft.com/office/drawing/2014/main" id="{EAE97D67-BAD8-F83C-39C1-25A76D3C94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710" y="3008206"/>
            <a:ext cx="17145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255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93;p17"/>
          <p:cNvSpPr txBox="1">
            <a:spLocks/>
          </p:cNvSpPr>
          <p:nvPr/>
        </p:nvSpPr>
        <p:spPr>
          <a:xfrm>
            <a:off x="174024" y="905282"/>
            <a:ext cx="8845618" cy="374878"/>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990"/>
              <a:buFont typeface="Arial"/>
              <a:buNone/>
              <a:tabLst/>
              <a:defRPr/>
            </a:pPr>
            <a:endParaRPr kumimoji="0" lang="en-IN" sz="18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4" name="Google Shape;91;p17"/>
          <p:cNvSpPr txBox="1">
            <a:spLocks/>
          </p:cNvSpPr>
          <p:nvPr/>
        </p:nvSpPr>
        <p:spPr>
          <a:xfrm>
            <a:off x="174024" y="905282"/>
            <a:ext cx="5066190" cy="391993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275"/>
              <a:buFont typeface="Arial"/>
              <a:buNone/>
              <a:tabLst/>
              <a:defRPr/>
            </a:pPr>
            <a:endParaRPr kumimoji="0" lang="en-IN" sz="70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Google Shape;63;p14">
            <a:extLst>
              <a:ext uri="{FF2B5EF4-FFF2-40B4-BE49-F238E27FC236}">
                <a16:creationId xmlns:a16="http://schemas.microsoft.com/office/drawing/2014/main" id="{73B69FED-0189-DA97-BB32-AAADB61380E6}"/>
              </a:ext>
            </a:extLst>
          </p:cNvPr>
          <p:cNvSpPr txBox="1">
            <a:spLocks/>
          </p:cNvSpPr>
          <p:nvPr/>
        </p:nvSpPr>
        <p:spPr>
          <a:xfrm>
            <a:off x="-3" y="91538"/>
            <a:ext cx="9144001" cy="590843"/>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9pPr>
          </a:lstStyle>
          <a:p>
            <a:pPr marL="0" marR="0" lvl="6" indent="0" algn="l" defTabSz="914400" rtl="0" eaLnBrk="1" fontAlgn="auto" latinLnBrk="0" hangingPunct="1">
              <a:lnSpc>
                <a:spcPct val="100000"/>
              </a:lnSpc>
              <a:spcBef>
                <a:spcPts val="0"/>
              </a:spcBef>
              <a:spcAft>
                <a:spcPts val="0"/>
              </a:spcAft>
              <a:buClr>
                <a:srgbClr val="000000"/>
              </a:buClr>
              <a:buSzPts val="990"/>
              <a:buFont typeface="Arial"/>
              <a:buNone/>
              <a:tabLst/>
              <a:defRPr/>
            </a:pPr>
            <a:r>
              <a:rPr kumimoji="0" lang="en-IN" sz="2800" b="1" i="0" u="none" strike="noStrike" kern="0" cap="none" spc="0" normalizeH="0" baseline="0" noProof="0" dirty="0">
                <a:ln>
                  <a:noFill/>
                </a:ln>
                <a:solidFill>
                  <a:srgbClr val="4472C4">
                    <a:lumMod val="75000"/>
                  </a:srgbClr>
                </a:solidFill>
                <a:effectLst/>
                <a:uLnTx/>
                <a:uFillTx/>
                <a:latin typeface="Times New Roman" panose="02020603050405020304" pitchFamily="18" charset="0"/>
                <a:cs typeface="Times New Roman" panose="02020603050405020304" pitchFamily="18" charset="0"/>
                <a:sym typeface="Arial"/>
              </a:rPr>
              <a:t>  System Architecture :</a:t>
            </a:r>
          </a:p>
        </p:txBody>
      </p:sp>
      <p:sp>
        <p:nvSpPr>
          <p:cNvPr id="8" name="TextBox 7">
            <a:extLst>
              <a:ext uri="{FF2B5EF4-FFF2-40B4-BE49-F238E27FC236}">
                <a16:creationId xmlns:a16="http://schemas.microsoft.com/office/drawing/2014/main" id="{644AF314-84B0-11EE-9653-A3184D3B82CE}"/>
              </a:ext>
            </a:extLst>
          </p:cNvPr>
          <p:cNvSpPr txBox="1"/>
          <p:nvPr/>
        </p:nvSpPr>
        <p:spPr>
          <a:xfrm>
            <a:off x="222623" y="1320819"/>
            <a:ext cx="608853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              </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p:txBody>
      </p:sp>
      <p:graphicFrame>
        <p:nvGraphicFramePr>
          <p:cNvPr id="2" name="Diagram 1">
            <a:extLst>
              <a:ext uri="{FF2B5EF4-FFF2-40B4-BE49-F238E27FC236}">
                <a16:creationId xmlns:a16="http://schemas.microsoft.com/office/drawing/2014/main" id="{E61A33BF-97C6-0FC6-B2D8-2730BE76E021}"/>
              </a:ext>
            </a:extLst>
          </p:cNvPr>
          <p:cNvGraphicFramePr/>
          <p:nvPr/>
        </p:nvGraphicFramePr>
        <p:xfrm>
          <a:off x="1524000" y="53975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95E7CE5E-2353-6517-0FC4-00396F9BC342}"/>
              </a:ext>
            </a:extLst>
          </p:cNvPr>
          <p:cNvGraphicFramePr/>
          <p:nvPr/>
        </p:nvGraphicFramePr>
        <p:xfrm>
          <a:off x="508896" y="631288"/>
          <a:ext cx="8289663" cy="451221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8" name="Graphic 17" descr="Arrow Slight curve">
            <a:extLst>
              <a:ext uri="{FF2B5EF4-FFF2-40B4-BE49-F238E27FC236}">
                <a16:creationId xmlns:a16="http://schemas.microsoft.com/office/drawing/2014/main" id="{F917F7E6-449C-D623-4D07-EB24DB10FF5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20105354">
            <a:off x="987813" y="1990772"/>
            <a:ext cx="1482052" cy="985096"/>
          </a:xfrm>
          <a:prstGeom prst="rect">
            <a:avLst/>
          </a:prstGeom>
        </p:spPr>
      </p:pic>
    </p:spTree>
    <p:extLst>
      <p:ext uri="{BB962C8B-B14F-4D97-AF65-F5344CB8AC3E}">
        <p14:creationId xmlns:p14="http://schemas.microsoft.com/office/powerpoint/2010/main" val="3385724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E2A78-C507-E355-75D4-4C69C26D63DA}"/>
              </a:ext>
            </a:extLst>
          </p:cNvPr>
          <p:cNvSpPr>
            <a:spLocks noGrp="1"/>
          </p:cNvSpPr>
          <p:nvPr>
            <p:ph type="title"/>
          </p:nvPr>
        </p:nvSpPr>
        <p:spPr/>
        <p:txBody>
          <a:bodyPr/>
          <a:lstStyle/>
          <a:p>
            <a:r>
              <a:rPr lang="en-IN" dirty="0">
                <a:solidFill>
                  <a:schemeClr val="accent1">
                    <a:lumMod val="75000"/>
                  </a:schemeClr>
                </a:solidFill>
              </a:rPr>
              <a:t>CNN Framework:</a:t>
            </a:r>
          </a:p>
        </p:txBody>
      </p:sp>
      <p:sp>
        <p:nvSpPr>
          <p:cNvPr id="11" name="Text Placeholder 2">
            <a:extLst>
              <a:ext uri="{FF2B5EF4-FFF2-40B4-BE49-F238E27FC236}">
                <a16:creationId xmlns:a16="http://schemas.microsoft.com/office/drawing/2014/main" id="{B1FF6B05-9EC6-66BE-3C4D-7FD2FB934879}"/>
              </a:ext>
            </a:extLst>
          </p:cNvPr>
          <p:cNvSpPr>
            <a:spLocks noGrp="1"/>
          </p:cNvSpPr>
          <p:nvPr>
            <p:ph type="body" idx="1"/>
          </p:nvPr>
        </p:nvSpPr>
        <p:spPr>
          <a:xfrm>
            <a:off x="134911" y="902818"/>
            <a:ext cx="1971207" cy="528744"/>
          </a:xfrm>
        </p:spPr>
        <p:txBody>
          <a:bodyPr>
            <a:normAutofit/>
          </a:bodyPr>
          <a:lstStyle/>
          <a:p>
            <a:pPr marL="57150" indent="0">
              <a:buNone/>
            </a:pPr>
            <a:r>
              <a:rPr lang="en-IN" sz="1600" b="1" i="0" dirty="0">
                <a:solidFill>
                  <a:srgbClr val="0D0D0D"/>
                </a:solidFill>
                <a:effectLst/>
                <a:highlight>
                  <a:srgbClr val="FFFFFF"/>
                </a:highlight>
                <a:latin typeface="Times New Roman" panose="02020603050405020304" pitchFamily="18" charset="0"/>
                <a:cs typeface="Times New Roman" panose="02020603050405020304" pitchFamily="18" charset="0"/>
              </a:rPr>
              <a:t>Dataset Preparation</a:t>
            </a:r>
            <a:endParaRPr lang="en-US" sz="1600" dirty="0">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162555CC-59C2-FA73-5DD0-538C9EEF86C2}"/>
              </a:ext>
            </a:extLst>
          </p:cNvPr>
          <p:cNvSpPr/>
          <p:nvPr/>
        </p:nvSpPr>
        <p:spPr>
          <a:xfrm>
            <a:off x="2106118" y="1041816"/>
            <a:ext cx="494675" cy="2473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 Placeholder 2">
            <a:extLst>
              <a:ext uri="{FF2B5EF4-FFF2-40B4-BE49-F238E27FC236}">
                <a16:creationId xmlns:a16="http://schemas.microsoft.com/office/drawing/2014/main" id="{7B8B3A2D-C4CE-948C-3140-7D0253EB17C7}"/>
              </a:ext>
            </a:extLst>
          </p:cNvPr>
          <p:cNvSpPr txBox="1">
            <a:spLocks/>
          </p:cNvSpPr>
          <p:nvPr/>
        </p:nvSpPr>
        <p:spPr>
          <a:xfrm>
            <a:off x="2698229" y="912812"/>
            <a:ext cx="2675746" cy="518750"/>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r>
              <a:rPr lang="en-IN" sz="1600" b="1" i="0" dirty="0">
                <a:solidFill>
                  <a:srgbClr val="0D0D0D"/>
                </a:solidFill>
                <a:effectLst/>
                <a:highlight>
                  <a:srgbClr val="FFFFFF"/>
                </a:highlight>
                <a:latin typeface="Times New Roman" panose="02020603050405020304" pitchFamily="18" charset="0"/>
                <a:cs typeface="Times New Roman" panose="02020603050405020304" pitchFamily="18" charset="0"/>
              </a:rPr>
              <a:t>Model Architecture using MobileNetV2</a:t>
            </a:r>
            <a:endParaRPr lang="en-US" sz="1600" dirty="0">
              <a:latin typeface="Times New Roman" panose="02020603050405020304" pitchFamily="18" charset="0"/>
              <a:cs typeface="Times New Roman" panose="02020603050405020304" pitchFamily="18" charset="0"/>
            </a:endParaRPr>
          </a:p>
        </p:txBody>
      </p:sp>
      <p:sp>
        <p:nvSpPr>
          <p:cNvPr id="16" name="Arrow: Right 15">
            <a:extLst>
              <a:ext uri="{FF2B5EF4-FFF2-40B4-BE49-F238E27FC236}">
                <a16:creationId xmlns:a16="http://schemas.microsoft.com/office/drawing/2014/main" id="{E9626663-2D81-FF6E-2814-F8E9572660FA}"/>
              </a:ext>
            </a:extLst>
          </p:cNvPr>
          <p:cNvSpPr/>
          <p:nvPr/>
        </p:nvSpPr>
        <p:spPr>
          <a:xfrm>
            <a:off x="5251526" y="1086785"/>
            <a:ext cx="494675" cy="2473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 Placeholder 2">
            <a:extLst>
              <a:ext uri="{FF2B5EF4-FFF2-40B4-BE49-F238E27FC236}">
                <a16:creationId xmlns:a16="http://schemas.microsoft.com/office/drawing/2014/main" id="{EF775B0E-E925-37A2-8C5C-F96EBD81DB6E}"/>
              </a:ext>
            </a:extLst>
          </p:cNvPr>
          <p:cNvSpPr txBox="1">
            <a:spLocks/>
          </p:cNvSpPr>
          <p:nvPr/>
        </p:nvSpPr>
        <p:spPr>
          <a:xfrm flipH="1">
            <a:off x="5966081" y="981856"/>
            <a:ext cx="1686397" cy="449706"/>
          </a:xfrm>
          <a:prstGeom prst="rect">
            <a:avLst/>
          </a:prstGeom>
          <a:noFill/>
          <a:ln>
            <a:noFill/>
          </a:ln>
        </p:spPr>
        <p:txBody>
          <a:bodyPr spcFirstLastPara="1" wrap="square" lIns="68569" tIns="34275" rIns="68569" bIns="34275" anchor="t" anchorCtr="0">
            <a:normAutofit/>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r>
              <a:rPr lang="en-US" sz="1600" b="1" dirty="0">
                <a:solidFill>
                  <a:srgbClr val="0D0D0D"/>
                </a:solidFill>
                <a:highlight>
                  <a:srgbClr val="FFFFFF"/>
                </a:highlight>
                <a:latin typeface="Times New Roman" panose="02020603050405020304" pitchFamily="18" charset="0"/>
                <a:cs typeface="Times New Roman" panose="02020603050405020304" pitchFamily="18" charset="0"/>
              </a:rPr>
              <a:t>T</a:t>
            </a:r>
            <a:r>
              <a:rPr lang="en-IN" sz="1600" b="1" dirty="0">
                <a:solidFill>
                  <a:srgbClr val="0D0D0D"/>
                </a:solidFill>
                <a:highlight>
                  <a:srgbClr val="FFFFFF"/>
                </a:highlight>
                <a:latin typeface="Times New Roman" panose="02020603050405020304" pitchFamily="18" charset="0"/>
                <a:cs typeface="Times New Roman" panose="02020603050405020304" pitchFamily="18" charset="0"/>
              </a:rPr>
              <a:t>raining Process</a:t>
            </a:r>
            <a:endParaRPr lang="en-US" sz="1600" dirty="0">
              <a:latin typeface="Times New Roman" panose="02020603050405020304" pitchFamily="18" charset="0"/>
              <a:cs typeface="Times New Roman" panose="02020603050405020304" pitchFamily="18" charset="0"/>
            </a:endParaRPr>
          </a:p>
        </p:txBody>
      </p:sp>
      <p:sp>
        <p:nvSpPr>
          <p:cNvPr id="18" name="Arrow: Down 17">
            <a:extLst>
              <a:ext uri="{FF2B5EF4-FFF2-40B4-BE49-F238E27FC236}">
                <a16:creationId xmlns:a16="http://schemas.microsoft.com/office/drawing/2014/main" id="{CEDB382A-2EF3-1A1A-6F64-7404C6E15E31}"/>
              </a:ext>
            </a:extLst>
          </p:cNvPr>
          <p:cNvSpPr/>
          <p:nvPr/>
        </p:nvSpPr>
        <p:spPr>
          <a:xfrm>
            <a:off x="6655634" y="1431562"/>
            <a:ext cx="292308" cy="5187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 Placeholder 2">
            <a:extLst>
              <a:ext uri="{FF2B5EF4-FFF2-40B4-BE49-F238E27FC236}">
                <a16:creationId xmlns:a16="http://schemas.microsoft.com/office/drawing/2014/main" id="{737872DA-8100-8A27-6998-E54719E46839}"/>
              </a:ext>
            </a:extLst>
          </p:cNvPr>
          <p:cNvSpPr txBox="1">
            <a:spLocks/>
          </p:cNvSpPr>
          <p:nvPr/>
        </p:nvSpPr>
        <p:spPr>
          <a:xfrm>
            <a:off x="5966081" y="2184798"/>
            <a:ext cx="2001191" cy="528745"/>
          </a:xfrm>
          <a:prstGeom prst="rect">
            <a:avLst/>
          </a:prstGeom>
          <a:noFill/>
          <a:ln>
            <a:noFill/>
          </a:ln>
        </p:spPr>
        <p:txBody>
          <a:bodyPr spcFirstLastPara="1" wrap="square" lIns="68569" tIns="34275" rIns="68569" bIns="34275" anchor="t" anchorCtr="0">
            <a:normAutofit/>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r>
              <a:rPr lang="en-IN" sz="1600" b="1" i="0" dirty="0">
                <a:solidFill>
                  <a:srgbClr val="0D0D0D"/>
                </a:solidFill>
                <a:effectLst/>
                <a:highlight>
                  <a:srgbClr val="FFFFFF"/>
                </a:highlight>
                <a:latin typeface="Times New Roman" panose="02020603050405020304" pitchFamily="18" charset="0"/>
                <a:cs typeface="Times New Roman" panose="02020603050405020304" pitchFamily="18" charset="0"/>
              </a:rPr>
              <a:t>Evaluation Metrics</a:t>
            </a:r>
            <a:endParaRPr lang="en-US" sz="1600" dirty="0">
              <a:latin typeface="Times New Roman" panose="02020603050405020304" pitchFamily="18" charset="0"/>
              <a:cs typeface="Times New Roman" panose="02020603050405020304" pitchFamily="18" charset="0"/>
            </a:endParaRPr>
          </a:p>
        </p:txBody>
      </p:sp>
      <p:sp>
        <p:nvSpPr>
          <p:cNvPr id="20" name="Arrow: Left 19">
            <a:extLst>
              <a:ext uri="{FF2B5EF4-FFF2-40B4-BE49-F238E27FC236}">
                <a16:creationId xmlns:a16="http://schemas.microsoft.com/office/drawing/2014/main" id="{F12FCAE1-626B-2D4C-E208-9F26B2EEA99F}"/>
              </a:ext>
            </a:extLst>
          </p:cNvPr>
          <p:cNvSpPr/>
          <p:nvPr/>
        </p:nvSpPr>
        <p:spPr>
          <a:xfrm>
            <a:off x="5251525" y="2324412"/>
            <a:ext cx="494675" cy="247338"/>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 Placeholder 2">
            <a:extLst>
              <a:ext uri="{FF2B5EF4-FFF2-40B4-BE49-F238E27FC236}">
                <a16:creationId xmlns:a16="http://schemas.microsoft.com/office/drawing/2014/main" id="{6B27E3BC-3518-553E-1576-0C9F358DB027}"/>
              </a:ext>
            </a:extLst>
          </p:cNvPr>
          <p:cNvSpPr txBox="1">
            <a:spLocks/>
          </p:cNvSpPr>
          <p:nvPr/>
        </p:nvSpPr>
        <p:spPr>
          <a:xfrm>
            <a:off x="3030453" y="2241030"/>
            <a:ext cx="2001191" cy="528745"/>
          </a:xfrm>
          <a:prstGeom prst="rect">
            <a:avLst/>
          </a:prstGeom>
          <a:noFill/>
          <a:ln>
            <a:noFill/>
          </a:ln>
        </p:spPr>
        <p:txBody>
          <a:bodyPr spcFirstLastPara="1" wrap="square" lIns="68569" tIns="34275" rIns="68569" bIns="34275" anchor="t" anchorCtr="0">
            <a:normAutofit/>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r>
              <a:rPr lang="en-IN" sz="1600" b="1" dirty="0">
                <a:solidFill>
                  <a:srgbClr val="0D0D0D"/>
                </a:solidFill>
                <a:highlight>
                  <a:srgbClr val="FFFFFF"/>
                </a:highlight>
                <a:latin typeface="Times New Roman" panose="02020603050405020304" pitchFamily="18" charset="0"/>
                <a:cs typeface="Times New Roman" panose="02020603050405020304" pitchFamily="18" charset="0"/>
              </a:rPr>
              <a:t>Model Optimization</a:t>
            </a:r>
            <a:endParaRPr lang="en-US" sz="1600" dirty="0">
              <a:latin typeface="Times New Roman" panose="02020603050405020304" pitchFamily="18" charset="0"/>
              <a:cs typeface="Times New Roman" panose="02020603050405020304" pitchFamily="18" charset="0"/>
            </a:endParaRPr>
          </a:p>
        </p:txBody>
      </p:sp>
      <p:sp>
        <p:nvSpPr>
          <p:cNvPr id="22" name="Arrow: Left 21">
            <a:extLst>
              <a:ext uri="{FF2B5EF4-FFF2-40B4-BE49-F238E27FC236}">
                <a16:creationId xmlns:a16="http://schemas.microsoft.com/office/drawing/2014/main" id="{EF254201-9FE0-ED8F-098E-A74DEF351B27}"/>
              </a:ext>
            </a:extLst>
          </p:cNvPr>
          <p:cNvSpPr/>
          <p:nvPr/>
        </p:nvSpPr>
        <p:spPr>
          <a:xfrm>
            <a:off x="2158584" y="2324412"/>
            <a:ext cx="667019" cy="32175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 Placeholder 2">
            <a:extLst>
              <a:ext uri="{FF2B5EF4-FFF2-40B4-BE49-F238E27FC236}">
                <a16:creationId xmlns:a16="http://schemas.microsoft.com/office/drawing/2014/main" id="{951F9984-4372-A1F9-0FD7-B29AD8BE1A67}"/>
              </a:ext>
            </a:extLst>
          </p:cNvPr>
          <p:cNvSpPr txBox="1">
            <a:spLocks/>
          </p:cNvSpPr>
          <p:nvPr/>
        </p:nvSpPr>
        <p:spPr>
          <a:xfrm>
            <a:off x="134911" y="2184798"/>
            <a:ext cx="1971207" cy="584977"/>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r>
              <a:rPr lang="en-IN" sz="1600" b="1" i="0" dirty="0">
                <a:solidFill>
                  <a:srgbClr val="0D0D0D"/>
                </a:solidFill>
                <a:effectLst/>
                <a:highlight>
                  <a:srgbClr val="FFFFFF"/>
                </a:highlight>
                <a:latin typeface="Times New Roman" panose="02020603050405020304" pitchFamily="18" charset="0"/>
                <a:cs typeface="Times New Roman" panose="02020603050405020304" pitchFamily="18" charset="0"/>
              </a:rPr>
              <a:t>TensorFlow Lite Conversion</a:t>
            </a:r>
            <a:endParaRPr lang="en-US" sz="1600" dirty="0">
              <a:latin typeface="Times New Roman" panose="02020603050405020304" pitchFamily="18" charset="0"/>
              <a:cs typeface="Times New Roman" panose="02020603050405020304" pitchFamily="18" charset="0"/>
            </a:endParaRPr>
          </a:p>
        </p:txBody>
      </p:sp>
      <p:sp>
        <p:nvSpPr>
          <p:cNvPr id="24" name="Arrow: Down 23">
            <a:extLst>
              <a:ext uri="{FF2B5EF4-FFF2-40B4-BE49-F238E27FC236}">
                <a16:creationId xmlns:a16="http://schemas.microsoft.com/office/drawing/2014/main" id="{95F76A61-E7FA-52AC-B25F-4A27E2BF44B8}"/>
              </a:ext>
            </a:extLst>
          </p:cNvPr>
          <p:cNvSpPr/>
          <p:nvPr/>
        </p:nvSpPr>
        <p:spPr>
          <a:xfrm>
            <a:off x="629585" y="2842299"/>
            <a:ext cx="297255" cy="58497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 Placeholder 2">
            <a:extLst>
              <a:ext uri="{FF2B5EF4-FFF2-40B4-BE49-F238E27FC236}">
                <a16:creationId xmlns:a16="http://schemas.microsoft.com/office/drawing/2014/main" id="{F7FB1F19-828E-9F82-EBCC-3EB36134874F}"/>
              </a:ext>
            </a:extLst>
          </p:cNvPr>
          <p:cNvSpPr txBox="1">
            <a:spLocks/>
          </p:cNvSpPr>
          <p:nvPr/>
        </p:nvSpPr>
        <p:spPr>
          <a:xfrm>
            <a:off x="134911" y="3681425"/>
            <a:ext cx="2123607" cy="680713"/>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r>
              <a:rPr lang="en-IN" sz="1600" b="1" i="0" dirty="0">
                <a:solidFill>
                  <a:srgbClr val="0D0D0D"/>
                </a:solidFill>
                <a:effectLst/>
                <a:highlight>
                  <a:srgbClr val="FFFFFF"/>
                </a:highlight>
                <a:latin typeface="Times New Roman" panose="02020603050405020304" pitchFamily="18" charset="0"/>
                <a:cs typeface="Times New Roman" panose="02020603050405020304" pitchFamily="18" charset="0"/>
              </a:rPr>
              <a:t>Integration with Edge Impulse</a:t>
            </a:r>
            <a:endParaRPr lang="en-US" sz="1600" dirty="0">
              <a:latin typeface="Times New Roman" panose="02020603050405020304" pitchFamily="18" charset="0"/>
              <a:cs typeface="Times New Roman" panose="02020603050405020304" pitchFamily="18" charset="0"/>
            </a:endParaRPr>
          </a:p>
        </p:txBody>
      </p:sp>
      <p:sp>
        <p:nvSpPr>
          <p:cNvPr id="26" name="Arrow: Right 25">
            <a:extLst>
              <a:ext uri="{FF2B5EF4-FFF2-40B4-BE49-F238E27FC236}">
                <a16:creationId xmlns:a16="http://schemas.microsoft.com/office/drawing/2014/main" id="{1F7023A3-6B44-3BF5-BF05-0849D45485BA}"/>
              </a:ext>
            </a:extLst>
          </p:cNvPr>
          <p:cNvSpPr/>
          <p:nvPr/>
        </p:nvSpPr>
        <p:spPr>
          <a:xfrm>
            <a:off x="2448964" y="3775133"/>
            <a:ext cx="581489" cy="36102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 Placeholder 2">
            <a:extLst>
              <a:ext uri="{FF2B5EF4-FFF2-40B4-BE49-F238E27FC236}">
                <a16:creationId xmlns:a16="http://schemas.microsoft.com/office/drawing/2014/main" id="{18C32F35-4504-076D-9FD5-761AE9311E38}"/>
              </a:ext>
            </a:extLst>
          </p:cNvPr>
          <p:cNvSpPr txBox="1">
            <a:spLocks/>
          </p:cNvSpPr>
          <p:nvPr/>
        </p:nvSpPr>
        <p:spPr>
          <a:xfrm>
            <a:off x="3327816" y="3662625"/>
            <a:ext cx="4706912" cy="699513"/>
          </a:xfrm>
          <a:prstGeom prst="rect">
            <a:avLst/>
          </a:prstGeom>
          <a:noFill/>
          <a:ln>
            <a:noFill/>
          </a:ln>
        </p:spPr>
        <p:txBody>
          <a:bodyPr spcFirstLastPara="1" wrap="square" lIns="68569" tIns="34275" rIns="68569" bIns="34275" anchor="t" anchorCtr="0">
            <a:noAutofit/>
          </a:bodyPr>
          <a:lstStyle>
            <a:defPPr marR="0" lvl="0" algn="l" rtl="0">
              <a:lnSpc>
                <a:spcPct val="100000"/>
              </a:lnSpc>
              <a:spcBef>
                <a:spcPts val="0"/>
              </a:spcBef>
              <a:spcAft>
                <a:spcPts val="0"/>
              </a:spcAft>
            </a:defPPr>
            <a:lvl1pPr marL="342900" marR="0" lvl="0" indent="-285750" algn="l" rtl="0">
              <a:lnSpc>
                <a:spcPct val="90000"/>
              </a:lnSpc>
              <a:spcBef>
                <a:spcPts val="75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1pPr>
            <a:lvl2pPr marL="685800" marR="0" lvl="1" indent="-266700" algn="l" rtl="0">
              <a:lnSpc>
                <a:spcPct val="90000"/>
              </a:lnSpc>
              <a:spcBef>
                <a:spcPts val="375"/>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2pPr>
            <a:lvl3pPr marL="1028700" marR="0" lvl="2"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3pPr>
            <a:lvl4pPr marL="1371600" marR="0" lvl="3" indent="-247650" algn="l" rtl="0">
              <a:lnSpc>
                <a:spcPct val="90000"/>
              </a:lnSpc>
              <a:spcBef>
                <a:spcPts val="375"/>
              </a:spcBef>
              <a:spcAft>
                <a:spcPts val="0"/>
              </a:spcAft>
              <a:buClr>
                <a:schemeClr val="dk1"/>
              </a:buClr>
              <a:buSzPts val="1600"/>
              <a:buFont typeface="Arial"/>
              <a:buChar char="•"/>
              <a:defRPr sz="1600" b="0" i="0" u="none" strike="noStrike" cap="none">
                <a:solidFill>
                  <a:schemeClr val="dk1"/>
                </a:solidFill>
                <a:latin typeface="Times New Roman"/>
                <a:ea typeface="Times New Roman"/>
                <a:cs typeface="Times New Roman"/>
                <a:sym typeface="Times New Roman"/>
              </a:defRPr>
            </a:lvl4pPr>
            <a:lvl5pPr marL="1714500" marR="0" lvl="4"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057400" marR="0" lvl="5"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7150" indent="0">
              <a:buFont typeface="Arial"/>
              <a:buNone/>
            </a:pPr>
            <a:r>
              <a:rPr lang="en-IN" sz="1600" b="1" i="0" dirty="0">
                <a:effectLst/>
                <a:highlight>
                  <a:srgbClr val="FFFFFF"/>
                </a:highlight>
                <a:latin typeface="Times New Roman" panose="02020603050405020304" pitchFamily="18" charset="0"/>
                <a:cs typeface="Times New Roman" panose="02020603050405020304" pitchFamily="18" charset="0"/>
              </a:rPr>
              <a:t>Further Optimization and Quantization</a:t>
            </a: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1330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8122C-2E4D-488F-882C-C24578A44713}"/>
              </a:ext>
            </a:extLst>
          </p:cNvPr>
          <p:cNvSpPr>
            <a:spLocks noGrp="1"/>
          </p:cNvSpPr>
          <p:nvPr>
            <p:ph type="title"/>
          </p:nvPr>
        </p:nvSpPr>
        <p:spPr>
          <a:xfrm>
            <a:off x="293539" y="228808"/>
            <a:ext cx="4980472" cy="608690"/>
          </a:xfrm>
        </p:spPr>
        <p:txBody>
          <a:bodyPr>
            <a:normAutofit fontScale="90000"/>
          </a:bodyPr>
          <a:lstStyle/>
          <a:p>
            <a:r>
              <a:rPr lang="en-IN" dirty="0">
                <a:solidFill>
                  <a:srgbClr val="0070C0"/>
                </a:solidFill>
              </a:rPr>
              <a:t>Detailed Workflow:</a:t>
            </a:r>
            <a:br>
              <a:rPr lang="en-IN" dirty="0"/>
            </a:br>
            <a:endParaRPr lang="en-IN" dirty="0"/>
          </a:p>
        </p:txBody>
      </p:sp>
      <p:sp>
        <p:nvSpPr>
          <p:cNvPr id="3" name="Text Placeholder 2">
            <a:extLst>
              <a:ext uri="{FF2B5EF4-FFF2-40B4-BE49-F238E27FC236}">
                <a16:creationId xmlns:a16="http://schemas.microsoft.com/office/drawing/2014/main" id="{4AC60E7B-AE47-150F-0810-573D592BC52B}"/>
              </a:ext>
            </a:extLst>
          </p:cNvPr>
          <p:cNvSpPr>
            <a:spLocks noGrp="1"/>
          </p:cNvSpPr>
          <p:nvPr>
            <p:ph type="body" idx="1"/>
          </p:nvPr>
        </p:nvSpPr>
        <p:spPr>
          <a:xfrm>
            <a:off x="755557" y="902817"/>
            <a:ext cx="8217961" cy="3736639"/>
          </a:xfrm>
        </p:spPr>
        <p:txBody>
          <a:bodyPr>
            <a:normAutofit/>
          </a:bodyPr>
          <a:lstStyle/>
          <a:p>
            <a:pPr marL="57150" indent="0">
              <a:buNone/>
            </a:pPr>
            <a:r>
              <a:rPr lang="en-US" sz="1600" b="1" dirty="0"/>
              <a:t>1.Data collection and sensor integration</a:t>
            </a:r>
          </a:p>
          <a:p>
            <a:pPr marL="742950" lvl="1" indent="-342900"/>
            <a:r>
              <a:rPr lang="en-US" sz="1600" dirty="0"/>
              <a:t>Camera image capture- [ESP32 Cam module(2MP)]</a:t>
            </a:r>
          </a:p>
          <a:p>
            <a:pPr marL="742950" lvl="1" indent="-342900"/>
            <a:r>
              <a:rPr lang="en-US" sz="1600" dirty="0"/>
              <a:t>Ultrasonic sensor Data collection-[HC-SR04 Ultrasonic Sensor]</a:t>
            </a:r>
          </a:p>
          <a:p>
            <a:pPr marL="742950" lvl="1" indent="-342900"/>
            <a:endParaRPr lang="en-US" sz="1600" dirty="0"/>
          </a:p>
          <a:p>
            <a:pPr marL="57150" indent="0">
              <a:buNone/>
            </a:pPr>
            <a:r>
              <a:rPr lang="en-US" sz="1600" b="1" dirty="0"/>
              <a:t>2. Sensor Fusion and preprocessing</a:t>
            </a:r>
          </a:p>
          <a:p>
            <a:pPr lvl="1"/>
            <a:r>
              <a:rPr lang="en-US" sz="1600" dirty="0"/>
              <a:t> Data fusion of RGB camera, UV sensor, proximity sensors data.</a:t>
            </a:r>
          </a:p>
          <a:p>
            <a:pPr lvl="1"/>
            <a:r>
              <a:rPr lang="en-US" sz="1600" dirty="0"/>
              <a:t> Preprocess the data using </a:t>
            </a:r>
            <a:r>
              <a:rPr lang="en-IN" sz="1400" b="1" i="0" dirty="0">
                <a:solidFill>
                  <a:srgbClr val="0D0D0D"/>
                </a:solidFill>
                <a:effectLst/>
                <a:highlight>
                  <a:srgbClr val="FFFFFF"/>
                </a:highlight>
                <a:latin typeface="Söhne"/>
              </a:rPr>
              <a:t>MobileNetV2 </a:t>
            </a:r>
            <a:r>
              <a:rPr lang="en-IN" sz="1400" i="0" dirty="0">
                <a:solidFill>
                  <a:srgbClr val="0D0D0D"/>
                </a:solidFill>
                <a:effectLst/>
                <a:highlight>
                  <a:srgbClr val="FFFFFF"/>
                </a:highlight>
                <a:latin typeface="Times New Roman" panose="02020603050405020304" pitchFamily="18" charset="0"/>
                <a:cs typeface="Times New Roman" panose="02020603050405020304" pitchFamily="18" charset="0"/>
              </a:rPr>
              <a:t>for training</a:t>
            </a:r>
            <a:r>
              <a:rPr lang="en-IN" sz="1400" b="1" i="0" dirty="0">
                <a:solidFill>
                  <a:srgbClr val="0D0D0D"/>
                </a:solidFill>
                <a:effectLst/>
                <a:highlight>
                  <a:srgbClr val="FFFFFF"/>
                </a:highlight>
                <a:latin typeface="Söhne"/>
              </a:rPr>
              <a:t>.</a:t>
            </a:r>
          </a:p>
          <a:p>
            <a:pPr lvl="1"/>
            <a:endParaRPr lang="en-US" sz="1600" dirty="0"/>
          </a:p>
          <a:p>
            <a:pPr marL="57150" indent="0">
              <a:buNone/>
            </a:pPr>
            <a:r>
              <a:rPr lang="en-US" sz="1600" b="1" dirty="0"/>
              <a:t>3. Model adaptation</a:t>
            </a:r>
          </a:p>
          <a:p>
            <a:pPr algn="just"/>
            <a:r>
              <a:rPr lang="en-IN" sz="1600" b="0" i="0" dirty="0">
                <a:solidFill>
                  <a:srgbClr val="0D0D0D"/>
                </a:solidFill>
                <a:effectLst/>
                <a:highlight>
                  <a:srgbClr val="FFFFFF"/>
                </a:highlight>
                <a:latin typeface="Times New Roman" panose="02020603050405020304" pitchFamily="18" charset="0"/>
                <a:cs typeface="Times New Roman" panose="02020603050405020304" pitchFamily="18" charset="0"/>
              </a:rPr>
              <a:t>Adapt MobileNet, typically used for image classification, to output navigation commands or actions instead of class probabilities.</a:t>
            </a: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9840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AE28E7-EBB1-DE03-1467-13F3CF62119A}"/>
              </a:ext>
            </a:extLst>
          </p:cNvPr>
          <p:cNvSpPr>
            <a:spLocks noGrp="1"/>
          </p:cNvSpPr>
          <p:nvPr>
            <p:ph type="body" idx="1"/>
          </p:nvPr>
        </p:nvSpPr>
        <p:spPr>
          <a:xfrm>
            <a:off x="496913" y="845247"/>
            <a:ext cx="8313873" cy="3934384"/>
          </a:xfrm>
        </p:spPr>
        <p:txBody>
          <a:bodyPr>
            <a:normAutofit/>
          </a:bodyPr>
          <a:lstStyle/>
          <a:p>
            <a:pPr marL="57150" indent="0">
              <a:buNone/>
            </a:pPr>
            <a:r>
              <a:rPr lang="en-IN" sz="1700" b="1" dirty="0">
                <a:latin typeface="Times New Roman" panose="02020603050405020304" pitchFamily="18" charset="0"/>
                <a:cs typeface="Times New Roman" panose="02020603050405020304" pitchFamily="18" charset="0"/>
              </a:rPr>
              <a:t>4. </a:t>
            </a:r>
            <a:r>
              <a:rPr lang="en-IN" sz="1700" b="1" i="0" dirty="0">
                <a:solidFill>
                  <a:srgbClr val="0D0D0D"/>
                </a:solidFill>
                <a:effectLst/>
                <a:highlight>
                  <a:srgbClr val="FFFFFF"/>
                </a:highlight>
                <a:latin typeface="Times New Roman" panose="02020603050405020304" pitchFamily="18" charset="0"/>
                <a:cs typeface="Times New Roman" panose="02020603050405020304" pitchFamily="18" charset="0"/>
              </a:rPr>
              <a:t>Model Training</a:t>
            </a:r>
            <a:endParaRPr lang="en-IN" sz="1200" b="0" i="0" dirty="0">
              <a:solidFill>
                <a:srgbClr val="0D0D0D"/>
              </a:solidFill>
              <a:effectLst/>
              <a:highlight>
                <a:srgbClr val="FFFFFF"/>
              </a:highlight>
              <a:latin typeface="Söhne"/>
            </a:endParaRPr>
          </a:p>
          <a:p>
            <a:pPr marL="800100" lvl="1" indent="-342900" algn="l">
              <a:buFont typeface="Arial" panose="020B0604020202020204" pitchFamily="34" charset="0"/>
              <a:buChar char="•"/>
            </a:pPr>
            <a:r>
              <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rPr>
              <a:t>Train the adapted MobileNet model using the </a:t>
            </a:r>
            <a:r>
              <a:rPr lang="en-IN" sz="1400" b="0" i="0" dirty="0" err="1">
                <a:solidFill>
                  <a:srgbClr val="0D0D0D"/>
                </a:solidFill>
                <a:effectLst/>
                <a:highlight>
                  <a:srgbClr val="FFFFFF"/>
                </a:highlight>
                <a:latin typeface="Times New Roman" panose="02020603050405020304" pitchFamily="18" charset="0"/>
                <a:cs typeface="Times New Roman" panose="02020603050405020304" pitchFamily="18" charset="0"/>
              </a:rPr>
              <a:t>preprocessed</a:t>
            </a:r>
            <a:r>
              <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rPr>
              <a:t> data. Use supervised learning techniques to minimize the difference between the predicted navigation commands and the ground truth commands provided in the training data.</a:t>
            </a:r>
          </a:p>
          <a:p>
            <a:pPr marL="457200" lvl="1" indent="0" algn="l">
              <a:buNone/>
            </a:pPr>
            <a:endPar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marL="57150" indent="0">
              <a:buNone/>
            </a:pPr>
            <a:r>
              <a:rPr lang="en-IN" sz="1700" b="1" dirty="0">
                <a:latin typeface="Times New Roman" panose="02020603050405020304" pitchFamily="18" charset="0"/>
                <a:cs typeface="Times New Roman" panose="02020603050405020304" pitchFamily="18" charset="0"/>
              </a:rPr>
              <a:t>5. Model Optimization</a:t>
            </a:r>
            <a:endParaRPr lang="en-IN" sz="1200" b="0" i="0" dirty="0">
              <a:solidFill>
                <a:srgbClr val="0D0D0D"/>
              </a:solidFill>
              <a:effectLst/>
              <a:highlight>
                <a:srgbClr val="FFFFFF"/>
              </a:highlight>
              <a:latin typeface="Söhne"/>
            </a:endParaRPr>
          </a:p>
          <a:p>
            <a:pPr marL="628650" lvl="1" indent="-171450">
              <a:buFont typeface="Arial" panose="020B0604020202020204" pitchFamily="34" charset="0"/>
              <a:buChar char="•"/>
            </a:pPr>
            <a:r>
              <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rPr>
              <a:t>Optimize the trained model for deployment on resource-constrained devices like the robot's onboard hardware.</a:t>
            </a:r>
            <a:br>
              <a:rPr lang="en-IN" sz="1400" dirty="0"/>
            </a:br>
            <a:endParaRPr lang="en-IN" sz="1400" dirty="0"/>
          </a:p>
          <a:p>
            <a:pPr marL="57150" indent="0">
              <a:buNone/>
            </a:pPr>
            <a:r>
              <a:rPr lang="en-IN" sz="1700" b="1" dirty="0">
                <a:latin typeface="Times New Roman" panose="02020603050405020304" pitchFamily="18" charset="0"/>
                <a:cs typeface="Times New Roman" panose="02020603050405020304" pitchFamily="18" charset="0"/>
              </a:rPr>
              <a:t>6. </a:t>
            </a:r>
            <a:r>
              <a:rPr lang="en-IN" sz="1600" b="1" i="0" dirty="0">
                <a:solidFill>
                  <a:srgbClr val="0D0D0D"/>
                </a:solidFill>
                <a:effectLst/>
                <a:highlight>
                  <a:srgbClr val="FFFFFF"/>
                </a:highlight>
                <a:latin typeface="Times New Roman" panose="02020603050405020304" pitchFamily="18" charset="0"/>
                <a:cs typeface="Times New Roman" panose="02020603050405020304" pitchFamily="18" charset="0"/>
              </a:rPr>
              <a:t>TensorFlow Lite Conversion</a:t>
            </a:r>
          </a:p>
          <a:p>
            <a:pPr>
              <a:buFont typeface="Arial" panose="020B0604020202020204" pitchFamily="34" charset="0"/>
              <a:buChar char="•"/>
            </a:pPr>
            <a:r>
              <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rPr>
              <a:t>Convert the optimized model to TensorFlow Lite format for efficient inference on mobile and embedded devices. TensorFlow Lite provides tools and APIs to convert TensorFlow models to a format suitable for deployment on edge devices.</a:t>
            </a:r>
            <a:br>
              <a:rPr lang="en-IN" sz="1400" dirty="0"/>
            </a:br>
            <a:endParaRPr lang="en-IN" sz="1400" dirty="0"/>
          </a:p>
          <a:p>
            <a:pPr marL="628650" lvl="1" indent="-171450">
              <a:buFont typeface="Arial" panose="020B0604020202020204" pitchFamily="34" charset="0"/>
              <a:buChar char="•"/>
            </a:pPr>
            <a:endParaRPr lang="en-IN" sz="1400" dirty="0"/>
          </a:p>
        </p:txBody>
      </p:sp>
    </p:spTree>
    <p:extLst>
      <p:ext uri="{BB962C8B-B14F-4D97-AF65-F5344CB8AC3E}">
        <p14:creationId xmlns:p14="http://schemas.microsoft.com/office/powerpoint/2010/main" val="968005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AE28E7-EBB1-DE03-1467-13F3CF62119A}"/>
              </a:ext>
            </a:extLst>
          </p:cNvPr>
          <p:cNvSpPr>
            <a:spLocks noGrp="1"/>
          </p:cNvSpPr>
          <p:nvPr>
            <p:ph type="body" idx="1"/>
          </p:nvPr>
        </p:nvSpPr>
        <p:spPr>
          <a:xfrm>
            <a:off x="496913" y="845247"/>
            <a:ext cx="8313873" cy="3934384"/>
          </a:xfrm>
        </p:spPr>
        <p:txBody>
          <a:bodyPr>
            <a:normAutofit/>
          </a:bodyPr>
          <a:lstStyle/>
          <a:p>
            <a:pPr marL="57150" indent="0">
              <a:buNone/>
            </a:pPr>
            <a:r>
              <a:rPr lang="en-IN" sz="1600" b="1" i="0" dirty="0">
                <a:solidFill>
                  <a:srgbClr val="0D0D0D"/>
                </a:solidFill>
                <a:effectLst/>
                <a:highlight>
                  <a:srgbClr val="FFFFFF"/>
                </a:highlight>
                <a:latin typeface="Söhne"/>
              </a:rPr>
              <a:t>7.Deployment on Robot</a:t>
            </a:r>
          </a:p>
          <a:p>
            <a:pPr>
              <a:buFont typeface="Arial" panose="020B0604020202020204" pitchFamily="34" charset="0"/>
              <a:buChar char="•"/>
            </a:pPr>
            <a:r>
              <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rPr>
              <a:t>Deploy the TensorFlow Lite model on the robot's onboard hardware. Integrate the model with the robot's control system to enable real-time inference of navigation commands based on sensor inputs.</a:t>
            </a:r>
          </a:p>
          <a:p>
            <a:pPr marL="57150" indent="0">
              <a:buNone/>
            </a:pPr>
            <a:endPar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marL="57150" indent="0">
              <a:buNone/>
            </a:pPr>
            <a:r>
              <a:rPr lang="en-IN" sz="1600" b="1" dirty="0">
                <a:latin typeface="Times New Roman" panose="02020603050405020304" pitchFamily="18" charset="0"/>
                <a:cs typeface="Times New Roman" panose="02020603050405020304" pitchFamily="18" charset="0"/>
              </a:rPr>
              <a:t>8</a:t>
            </a:r>
            <a:r>
              <a:rPr lang="en-IN" sz="1600" dirty="0">
                <a:latin typeface="Times New Roman" panose="02020603050405020304" pitchFamily="18" charset="0"/>
                <a:cs typeface="Times New Roman" panose="02020603050405020304" pitchFamily="18" charset="0"/>
              </a:rPr>
              <a:t>.</a:t>
            </a:r>
            <a:r>
              <a:rPr lang="en-IN" sz="1600" b="1" i="0" dirty="0">
                <a:solidFill>
                  <a:srgbClr val="0D0D0D"/>
                </a:solidFill>
                <a:effectLst/>
                <a:highlight>
                  <a:srgbClr val="FFFFFF"/>
                </a:highlight>
                <a:latin typeface="Times New Roman" panose="02020603050405020304" pitchFamily="18" charset="0"/>
                <a:cs typeface="Times New Roman" panose="02020603050405020304" pitchFamily="18" charset="0"/>
              </a:rPr>
              <a:t> Testing and Evaluation</a:t>
            </a:r>
          </a:p>
          <a:p>
            <a:r>
              <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rPr>
              <a:t>Test the deployed model in real-world environments to evaluate its performance. Monitor the robot's navigation </a:t>
            </a:r>
            <a:r>
              <a:rPr lang="en-IN" sz="1400" b="0" i="0" dirty="0" err="1">
                <a:solidFill>
                  <a:srgbClr val="0D0D0D"/>
                </a:solidFill>
                <a:effectLst/>
                <a:highlight>
                  <a:srgbClr val="FFFFFF"/>
                </a:highlight>
                <a:latin typeface="Times New Roman" panose="02020603050405020304" pitchFamily="18" charset="0"/>
                <a:cs typeface="Times New Roman" panose="02020603050405020304" pitchFamily="18" charset="0"/>
              </a:rPr>
              <a:t>behavior</a:t>
            </a:r>
            <a:r>
              <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rPr>
              <a:t> and assess metrics such as accuracy, robustness, and efficiency.</a:t>
            </a:r>
          </a:p>
          <a:p>
            <a:pPr marL="57150" indent="0">
              <a:buNone/>
            </a:pPr>
            <a:endPar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marL="57150" indent="0">
              <a:buNone/>
            </a:pPr>
            <a:r>
              <a:rPr lang="en-IN" sz="1600" b="1" dirty="0">
                <a:latin typeface="Times New Roman" panose="02020603050405020304" pitchFamily="18" charset="0"/>
                <a:cs typeface="Times New Roman" panose="02020603050405020304" pitchFamily="18" charset="0"/>
              </a:rPr>
              <a:t>9</a:t>
            </a:r>
            <a:r>
              <a:rPr lang="en-IN" sz="1600" dirty="0">
                <a:latin typeface="Times New Roman" panose="02020603050405020304" pitchFamily="18" charset="0"/>
                <a:cs typeface="Times New Roman" panose="02020603050405020304" pitchFamily="18" charset="0"/>
              </a:rPr>
              <a:t>. </a:t>
            </a:r>
            <a:r>
              <a:rPr lang="en-IN" sz="1600" b="1" i="0" dirty="0">
                <a:solidFill>
                  <a:srgbClr val="0D0D0D"/>
                </a:solidFill>
                <a:effectLst/>
                <a:highlight>
                  <a:srgbClr val="FFFFFF"/>
                </a:highlight>
                <a:latin typeface="Times New Roman" panose="02020603050405020304" pitchFamily="18" charset="0"/>
                <a:cs typeface="Times New Roman" panose="02020603050405020304" pitchFamily="18" charset="0"/>
              </a:rPr>
              <a:t>Iterative Improvement</a:t>
            </a:r>
          </a:p>
          <a:p>
            <a:pPr>
              <a:buFont typeface="Arial" panose="020B0604020202020204" pitchFamily="34" charset="0"/>
              <a:buChar char="•"/>
            </a:pPr>
            <a:r>
              <a:rPr lang="en-IN" sz="1400" b="0" i="0" dirty="0">
                <a:solidFill>
                  <a:srgbClr val="0D0D0D"/>
                </a:solidFill>
                <a:effectLst/>
                <a:highlight>
                  <a:srgbClr val="FFFFFF"/>
                </a:highlight>
                <a:latin typeface="Times New Roman" panose="02020603050405020304" pitchFamily="18" charset="0"/>
                <a:cs typeface="Times New Roman" panose="02020603050405020304" pitchFamily="18" charset="0"/>
              </a:rPr>
              <a:t>Continuously collect new data and evaluate the robot's performance. Use this feedback to iteratively improve the model by retraining it with additional data or fine-tuning its parameters.</a:t>
            </a:r>
          </a:p>
          <a:p>
            <a:pPr marL="57150" indent="0">
              <a:buNone/>
            </a:pP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212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B0E99-A468-DE51-A36D-AD0C410442EC}"/>
              </a:ext>
            </a:extLst>
          </p:cNvPr>
          <p:cNvSpPr>
            <a:spLocks noGrp="1"/>
          </p:cNvSpPr>
          <p:nvPr>
            <p:ph type="title"/>
          </p:nvPr>
        </p:nvSpPr>
        <p:spPr/>
        <p:txBody>
          <a:bodyPr/>
          <a:lstStyle/>
          <a:p>
            <a:r>
              <a:rPr lang="en-IN" dirty="0">
                <a:solidFill>
                  <a:schemeClr val="accent5">
                    <a:lumMod val="75000"/>
                  </a:schemeClr>
                </a:solidFill>
              </a:rPr>
              <a:t>TRAINING ML MODEL:</a:t>
            </a:r>
          </a:p>
        </p:txBody>
      </p:sp>
      <p:sp>
        <p:nvSpPr>
          <p:cNvPr id="3" name="Text Placeholder 2">
            <a:extLst>
              <a:ext uri="{FF2B5EF4-FFF2-40B4-BE49-F238E27FC236}">
                <a16:creationId xmlns:a16="http://schemas.microsoft.com/office/drawing/2014/main" id="{4327DDBD-5E22-D2B8-E1F4-C8722BBB64F4}"/>
              </a:ext>
            </a:extLst>
          </p:cNvPr>
          <p:cNvSpPr>
            <a:spLocks noGrp="1"/>
          </p:cNvSpPr>
          <p:nvPr>
            <p:ph type="body" idx="1"/>
          </p:nvPr>
        </p:nvSpPr>
        <p:spPr>
          <a:xfrm>
            <a:off x="628650" y="837498"/>
            <a:ext cx="7728366" cy="3934384"/>
          </a:xfrm>
        </p:spPr>
        <p:txBody>
          <a:bodyPr>
            <a:normAutofit/>
          </a:bodyPr>
          <a:lstStyle/>
          <a:p>
            <a:r>
              <a:rPr lang="en-IN" sz="1800" b="1" dirty="0"/>
              <a:t>Dataset acquisition</a:t>
            </a:r>
          </a:p>
          <a:p>
            <a:r>
              <a:rPr lang="en-IN" sz="1800" dirty="0"/>
              <a:t> Kaggle for solid debris dataset(220*2 images) </a:t>
            </a:r>
          </a:p>
          <a:p>
            <a:r>
              <a:rPr lang="en-IN" sz="1800" dirty="0"/>
              <a:t> Bing image downloader python module for liquid spill(220 images)</a:t>
            </a:r>
          </a:p>
          <a:p>
            <a:endParaRPr lang="en-IN" sz="1800" dirty="0"/>
          </a:p>
        </p:txBody>
      </p:sp>
      <p:pic>
        <p:nvPicPr>
          <p:cNvPr id="5" name="Picture 4">
            <a:extLst>
              <a:ext uri="{FF2B5EF4-FFF2-40B4-BE49-F238E27FC236}">
                <a16:creationId xmlns:a16="http://schemas.microsoft.com/office/drawing/2014/main" id="{06B3F308-56B5-34CD-6C9C-D524D40F8A79}"/>
              </a:ext>
            </a:extLst>
          </p:cNvPr>
          <p:cNvPicPr>
            <a:picLocks noChangeAspect="1"/>
          </p:cNvPicPr>
          <p:nvPr/>
        </p:nvPicPr>
        <p:blipFill rotWithShape="1">
          <a:blip r:embed="rId2"/>
          <a:srcRect r="-646" b="31792"/>
          <a:stretch/>
        </p:blipFill>
        <p:spPr>
          <a:xfrm>
            <a:off x="628650" y="2077026"/>
            <a:ext cx="8148091" cy="2749807"/>
          </a:xfrm>
          <a:prstGeom prst="rect">
            <a:avLst/>
          </a:prstGeom>
        </p:spPr>
      </p:pic>
    </p:spTree>
    <p:extLst>
      <p:ext uri="{BB962C8B-B14F-4D97-AF65-F5344CB8AC3E}">
        <p14:creationId xmlns:p14="http://schemas.microsoft.com/office/powerpoint/2010/main" val="2403701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B4D2D-0DA4-5E63-E563-84C8A13E1C1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F6232158-7889-1CA3-166D-5B4C5E15104E}"/>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D104373B-5E23-98B2-B110-BBF75E551670}"/>
              </a:ext>
            </a:extLst>
          </p:cNvPr>
          <p:cNvSpPr>
            <a:spLocks noGrp="1"/>
          </p:cNvSpPr>
          <p:nvPr>
            <p:ph type="body" idx="2"/>
          </p:nvPr>
        </p:nvSpPr>
        <p:spPr/>
        <p:txBody>
          <a:bodyPr/>
          <a:lstStyle/>
          <a:p>
            <a:endParaRPr lang="en-IN"/>
          </a:p>
        </p:txBody>
      </p:sp>
      <p:pic>
        <p:nvPicPr>
          <p:cNvPr id="7" name="Picture 6">
            <a:extLst>
              <a:ext uri="{FF2B5EF4-FFF2-40B4-BE49-F238E27FC236}">
                <a16:creationId xmlns:a16="http://schemas.microsoft.com/office/drawing/2014/main" id="{BAE7DFD9-54F2-ED02-E293-18C118D2EA3B}"/>
              </a:ext>
            </a:extLst>
          </p:cNvPr>
          <p:cNvPicPr>
            <a:picLocks noChangeAspect="1"/>
          </p:cNvPicPr>
          <p:nvPr/>
        </p:nvPicPr>
        <p:blipFill>
          <a:blip r:embed="rId2"/>
          <a:stretch>
            <a:fillRect/>
          </a:stretch>
        </p:blipFill>
        <p:spPr>
          <a:xfrm>
            <a:off x="628649" y="837497"/>
            <a:ext cx="7413573" cy="3821621"/>
          </a:xfrm>
          <a:prstGeom prst="rect">
            <a:avLst/>
          </a:prstGeom>
        </p:spPr>
      </p:pic>
    </p:spTree>
    <p:extLst>
      <p:ext uri="{BB962C8B-B14F-4D97-AF65-F5344CB8AC3E}">
        <p14:creationId xmlns:p14="http://schemas.microsoft.com/office/powerpoint/2010/main" val="3987554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739CA-A515-A0E9-EB88-E340B02FA5A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3BC84A8-CD51-B779-E972-5CD53E9F12FB}"/>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EADFD2F2-36B5-EFBA-1DE8-FA6BB31F845E}"/>
              </a:ext>
            </a:extLst>
          </p:cNvPr>
          <p:cNvSpPr>
            <a:spLocks noGrp="1"/>
          </p:cNvSpPr>
          <p:nvPr>
            <p:ph type="body" idx="2"/>
          </p:nvPr>
        </p:nvSpPr>
        <p:spPr/>
        <p:txBody>
          <a:bodyPr/>
          <a:lstStyle/>
          <a:p>
            <a:endParaRPr lang="en-IN"/>
          </a:p>
        </p:txBody>
      </p:sp>
      <p:pic>
        <p:nvPicPr>
          <p:cNvPr id="6" name="Picture 5">
            <a:extLst>
              <a:ext uri="{FF2B5EF4-FFF2-40B4-BE49-F238E27FC236}">
                <a16:creationId xmlns:a16="http://schemas.microsoft.com/office/drawing/2014/main" id="{C18A24DA-0FF6-D12B-1651-FE8F83E0BB34}"/>
              </a:ext>
            </a:extLst>
          </p:cNvPr>
          <p:cNvPicPr>
            <a:picLocks noChangeAspect="1"/>
          </p:cNvPicPr>
          <p:nvPr/>
        </p:nvPicPr>
        <p:blipFill>
          <a:blip r:embed="rId2"/>
          <a:stretch>
            <a:fillRect/>
          </a:stretch>
        </p:blipFill>
        <p:spPr>
          <a:xfrm>
            <a:off x="345711" y="781522"/>
            <a:ext cx="8169639" cy="4046335"/>
          </a:xfrm>
          <a:prstGeom prst="rect">
            <a:avLst/>
          </a:prstGeom>
        </p:spPr>
      </p:pic>
    </p:spTree>
    <p:extLst>
      <p:ext uri="{BB962C8B-B14F-4D97-AF65-F5344CB8AC3E}">
        <p14:creationId xmlns:p14="http://schemas.microsoft.com/office/powerpoint/2010/main" val="2122199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C1F0F-F886-0D09-EBD5-530B8775476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B3161DD-F7E1-BE37-0B92-227980E7310A}"/>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4616C2B8-8E1B-7460-BD03-C83D1D2ECA6B}"/>
              </a:ext>
            </a:extLst>
          </p:cNvPr>
          <p:cNvSpPr>
            <a:spLocks noGrp="1"/>
          </p:cNvSpPr>
          <p:nvPr>
            <p:ph type="body" idx="2"/>
          </p:nvPr>
        </p:nvSpPr>
        <p:spPr/>
        <p:txBody>
          <a:bodyPr/>
          <a:lstStyle/>
          <a:p>
            <a:endParaRPr lang="en-IN"/>
          </a:p>
        </p:txBody>
      </p:sp>
      <p:pic>
        <p:nvPicPr>
          <p:cNvPr id="6" name="Picture 5">
            <a:extLst>
              <a:ext uri="{FF2B5EF4-FFF2-40B4-BE49-F238E27FC236}">
                <a16:creationId xmlns:a16="http://schemas.microsoft.com/office/drawing/2014/main" id="{DBF385E7-6ED0-FBC7-A6E4-FC8F4D813776}"/>
              </a:ext>
            </a:extLst>
          </p:cNvPr>
          <p:cNvPicPr>
            <a:picLocks noChangeAspect="1"/>
          </p:cNvPicPr>
          <p:nvPr/>
        </p:nvPicPr>
        <p:blipFill>
          <a:blip r:embed="rId2"/>
          <a:stretch>
            <a:fillRect/>
          </a:stretch>
        </p:blipFill>
        <p:spPr>
          <a:xfrm>
            <a:off x="628650" y="837498"/>
            <a:ext cx="7795822" cy="3890771"/>
          </a:xfrm>
          <a:prstGeom prst="rect">
            <a:avLst/>
          </a:prstGeom>
        </p:spPr>
      </p:pic>
    </p:spTree>
    <p:extLst>
      <p:ext uri="{BB962C8B-B14F-4D97-AF65-F5344CB8AC3E}">
        <p14:creationId xmlns:p14="http://schemas.microsoft.com/office/powerpoint/2010/main" val="4150480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625BE-CC7F-6292-F4D2-4B43EA9A0FA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481D49B-BB01-F2F0-7D42-48B29FE21FFE}"/>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2158854A-95F0-F21E-1BBA-A70CD48EE691}"/>
              </a:ext>
            </a:extLst>
          </p:cNvPr>
          <p:cNvSpPr>
            <a:spLocks noGrp="1"/>
          </p:cNvSpPr>
          <p:nvPr>
            <p:ph type="body" idx="2"/>
          </p:nvPr>
        </p:nvSpPr>
        <p:spPr/>
        <p:txBody>
          <a:bodyPr/>
          <a:lstStyle/>
          <a:p>
            <a:endParaRPr lang="en-IN"/>
          </a:p>
        </p:txBody>
      </p:sp>
      <p:pic>
        <p:nvPicPr>
          <p:cNvPr id="6" name="Picture 5">
            <a:extLst>
              <a:ext uri="{FF2B5EF4-FFF2-40B4-BE49-F238E27FC236}">
                <a16:creationId xmlns:a16="http://schemas.microsoft.com/office/drawing/2014/main" id="{B927A504-E15C-E187-4F5F-B07C4B4D312D}"/>
              </a:ext>
            </a:extLst>
          </p:cNvPr>
          <p:cNvPicPr>
            <a:picLocks noChangeAspect="1"/>
          </p:cNvPicPr>
          <p:nvPr/>
        </p:nvPicPr>
        <p:blipFill>
          <a:blip r:embed="rId2"/>
          <a:stretch>
            <a:fillRect/>
          </a:stretch>
        </p:blipFill>
        <p:spPr>
          <a:xfrm>
            <a:off x="628650" y="837498"/>
            <a:ext cx="7667469" cy="4102175"/>
          </a:xfrm>
          <a:prstGeom prst="rect">
            <a:avLst/>
          </a:prstGeom>
        </p:spPr>
      </p:pic>
    </p:spTree>
    <p:extLst>
      <p:ext uri="{BB962C8B-B14F-4D97-AF65-F5344CB8AC3E}">
        <p14:creationId xmlns:p14="http://schemas.microsoft.com/office/powerpoint/2010/main" val="1930600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438D94-C0D6-A3C7-3934-7E9881A97003}"/>
              </a:ext>
            </a:extLst>
          </p:cNvPr>
          <p:cNvSpPr>
            <a:spLocks noGrp="1"/>
          </p:cNvSpPr>
          <p:nvPr>
            <p:ph type="body" idx="1"/>
          </p:nvPr>
        </p:nvSpPr>
        <p:spPr>
          <a:xfrm>
            <a:off x="628649" y="837498"/>
            <a:ext cx="8135971" cy="3934384"/>
          </a:xfrm>
        </p:spPr>
        <p:txBody>
          <a:bodyPr>
            <a:normAutofit/>
          </a:bodyPr>
          <a:lstStyle/>
          <a:p>
            <a:pPr marL="57150" indent="0">
              <a:buNone/>
            </a:pPr>
            <a:r>
              <a:rPr lang="en-IN" b="1" dirty="0"/>
              <a:t>Feature map:</a:t>
            </a:r>
          </a:p>
          <a:p>
            <a:pPr marL="57150" indent="0">
              <a:buNone/>
            </a:pPr>
            <a:endParaRPr lang="en-IN" b="1" dirty="0"/>
          </a:p>
        </p:txBody>
      </p:sp>
      <p:pic>
        <p:nvPicPr>
          <p:cNvPr id="4" name="Picture 3">
            <a:extLst>
              <a:ext uri="{FF2B5EF4-FFF2-40B4-BE49-F238E27FC236}">
                <a16:creationId xmlns:a16="http://schemas.microsoft.com/office/drawing/2014/main" id="{A5A3FB62-8145-0254-6D2C-0D192DD36505}"/>
              </a:ext>
            </a:extLst>
          </p:cNvPr>
          <p:cNvPicPr>
            <a:picLocks noChangeAspect="1"/>
          </p:cNvPicPr>
          <p:nvPr/>
        </p:nvPicPr>
        <p:blipFill rotWithShape="1">
          <a:blip r:embed="rId2"/>
          <a:srcRect l="51557" r="163" b="27980"/>
          <a:stretch/>
        </p:blipFill>
        <p:spPr>
          <a:xfrm>
            <a:off x="2960557" y="757334"/>
            <a:ext cx="4654445" cy="3899513"/>
          </a:xfrm>
          <a:prstGeom prst="rect">
            <a:avLst/>
          </a:prstGeom>
        </p:spPr>
      </p:pic>
    </p:spTree>
    <p:extLst>
      <p:ext uri="{BB962C8B-B14F-4D97-AF65-F5344CB8AC3E}">
        <p14:creationId xmlns:p14="http://schemas.microsoft.com/office/powerpoint/2010/main" val="1004716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13F02-DFB2-E9C1-3B7A-6596DD04230B}"/>
              </a:ext>
            </a:extLst>
          </p:cNvPr>
          <p:cNvSpPr>
            <a:spLocks noGrp="1"/>
          </p:cNvSpPr>
          <p:nvPr>
            <p:ph type="title"/>
          </p:nvPr>
        </p:nvSpPr>
        <p:spPr/>
        <p:txBody>
          <a:bodyPr/>
          <a:lstStyle/>
          <a:p>
            <a:r>
              <a:rPr lang="en-IN" dirty="0"/>
              <a:t>Model Layer outline:</a:t>
            </a:r>
          </a:p>
        </p:txBody>
      </p:sp>
      <p:pic>
        <p:nvPicPr>
          <p:cNvPr id="6" name="Picture 5">
            <a:extLst>
              <a:ext uri="{FF2B5EF4-FFF2-40B4-BE49-F238E27FC236}">
                <a16:creationId xmlns:a16="http://schemas.microsoft.com/office/drawing/2014/main" id="{53BDD4E0-B7EC-6EDA-50F1-3ADC6BAE7BF4}"/>
              </a:ext>
            </a:extLst>
          </p:cNvPr>
          <p:cNvPicPr>
            <a:picLocks noChangeAspect="1"/>
          </p:cNvPicPr>
          <p:nvPr/>
        </p:nvPicPr>
        <p:blipFill>
          <a:blip r:embed="rId3"/>
          <a:stretch>
            <a:fillRect/>
          </a:stretch>
        </p:blipFill>
        <p:spPr>
          <a:xfrm>
            <a:off x="1595516" y="837498"/>
            <a:ext cx="4880235" cy="4007194"/>
          </a:xfrm>
          <a:prstGeom prst="rect">
            <a:avLst/>
          </a:prstGeom>
        </p:spPr>
      </p:pic>
    </p:spTree>
    <p:extLst>
      <p:ext uri="{BB962C8B-B14F-4D97-AF65-F5344CB8AC3E}">
        <p14:creationId xmlns:p14="http://schemas.microsoft.com/office/powerpoint/2010/main" val="22760742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82D9C-445B-C7A6-2343-CA50EE1E3F6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ACBFE4C-A948-353A-007C-CF2428CF42E9}"/>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FD7D6D7F-4394-326F-C408-295E8AC3A277}"/>
              </a:ext>
            </a:extLst>
          </p:cNvPr>
          <p:cNvSpPr>
            <a:spLocks noGrp="1"/>
          </p:cNvSpPr>
          <p:nvPr>
            <p:ph type="body" idx="2"/>
          </p:nvPr>
        </p:nvSpPr>
        <p:spPr/>
        <p:txBody>
          <a:bodyPr/>
          <a:lstStyle/>
          <a:p>
            <a:endParaRPr lang="en-IN"/>
          </a:p>
        </p:txBody>
      </p:sp>
      <p:pic>
        <p:nvPicPr>
          <p:cNvPr id="6" name="Picture 5">
            <a:extLst>
              <a:ext uri="{FF2B5EF4-FFF2-40B4-BE49-F238E27FC236}">
                <a16:creationId xmlns:a16="http://schemas.microsoft.com/office/drawing/2014/main" id="{EC53EF10-CA66-9063-3F5F-BD31D8422730}"/>
              </a:ext>
            </a:extLst>
          </p:cNvPr>
          <p:cNvPicPr>
            <a:picLocks noChangeAspect="1"/>
          </p:cNvPicPr>
          <p:nvPr/>
        </p:nvPicPr>
        <p:blipFill>
          <a:blip r:embed="rId2"/>
          <a:stretch>
            <a:fillRect/>
          </a:stretch>
        </p:blipFill>
        <p:spPr>
          <a:xfrm>
            <a:off x="4680419" y="837498"/>
            <a:ext cx="3783661" cy="3934384"/>
          </a:xfrm>
          <a:prstGeom prst="rect">
            <a:avLst/>
          </a:prstGeom>
        </p:spPr>
      </p:pic>
      <p:pic>
        <p:nvPicPr>
          <p:cNvPr id="8" name="Picture 7">
            <a:extLst>
              <a:ext uri="{FF2B5EF4-FFF2-40B4-BE49-F238E27FC236}">
                <a16:creationId xmlns:a16="http://schemas.microsoft.com/office/drawing/2014/main" id="{B75B53E4-0B66-49A3-B9D3-E422CBCD8521}"/>
              </a:ext>
            </a:extLst>
          </p:cNvPr>
          <p:cNvPicPr>
            <a:picLocks noChangeAspect="1"/>
          </p:cNvPicPr>
          <p:nvPr/>
        </p:nvPicPr>
        <p:blipFill>
          <a:blip r:embed="rId3"/>
          <a:stretch>
            <a:fillRect/>
          </a:stretch>
        </p:blipFill>
        <p:spPr>
          <a:xfrm>
            <a:off x="628650" y="868023"/>
            <a:ext cx="3254128" cy="3873334"/>
          </a:xfrm>
          <a:prstGeom prst="rect">
            <a:avLst/>
          </a:prstGeom>
        </p:spPr>
      </p:pic>
    </p:spTree>
    <p:extLst>
      <p:ext uri="{BB962C8B-B14F-4D97-AF65-F5344CB8AC3E}">
        <p14:creationId xmlns:p14="http://schemas.microsoft.com/office/powerpoint/2010/main" val="3947785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34291A-4472-F5DD-4C45-F6EB1822929E}"/>
              </a:ext>
            </a:extLst>
          </p:cNvPr>
          <p:cNvSpPr>
            <a:spLocks noGrp="1"/>
          </p:cNvSpPr>
          <p:nvPr>
            <p:ph type="body" idx="1"/>
          </p:nvPr>
        </p:nvSpPr>
        <p:spPr>
          <a:xfrm>
            <a:off x="665189" y="1534541"/>
            <a:ext cx="7555980" cy="4499000"/>
          </a:xfrm>
        </p:spPr>
        <p:txBody>
          <a:bodyPr>
            <a:normAutofit/>
          </a:bodyPr>
          <a:lstStyle/>
          <a:p>
            <a:r>
              <a:rPr lang="en-IN" sz="2000" b="1" dirty="0"/>
              <a:t>Data quantization:</a:t>
            </a:r>
          </a:p>
          <a:p>
            <a:pPr marL="57150" indent="0">
              <a:buNone/>
            </a:pPr>
            <a:r>
              <a:rPr lang="en-US" sz="1600" dirty="0"/>
              <a:t>We implemented a TensorFlow Model Optimization techniques to reduce the size of a pre-trained </a:t>
            </a:r>
            <a:r>
              <a:rPr lang="en-US" sz="1600" dirty="0" err="1"/>
              <a:t>Keras</a:t>
            </a:r>
            <a:r>
              <a:rPr lang="en-US" sz="1600" dirty="0"/>
              <a:t> model for deployment on resource-constrained devices. It applies pruning to remove unnecessary parameters, followed by quantization to convert model weights to lower precision formats. A representative dataset is used to calibrate the quantized model. The resulting TensorFlow Lite model is significantly smaller and faster, making it suitable for deployment on mobile and edge devices without compromising accuracy. This approach optimizes model storage and inference performance, facilitating efficient deployment in real-world applications.</a:t>
            </a:r>
            <a:endParaRPr lang="en-IN" sz="1600" dirty="0"/>
          </a:p>
        </p:txBody>
      </p:sp>
    </p:spTree>
    <p:extLst>
      <p:ext uri="{BB962C8B-B14F-4D97-AF65-F5344CB8AC3E}">
        <p14:creationId xmlns:p14="http://schemas.microsoft.com/office/powerpoint/2010/main" val="17666323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2D045D1-9AFE-0F13-FD84-8F00654BFA41}"/>
              </a:ext>
            </a:extLst>
          </p:cNvPr>
          <p:cNvPicPr>
            <a:picLocks noChangeAspect="1"/>
          </p:cNvPicPr>
          <p:nvPr/>
        </p:nvPicPr>
        <p:blipFill>
          <a:blip r:embed="rId2"/>
          <a:stretch>
            <a:fillRect/>
          </a:stretch>
        </p:blipFill>
        <p:spPr>
          <a:xfrm>
            <a:off x="2465581" y="837498"/>
            <a:ext cx="3777822" cy="4126190"/>
          </a:xfrm>
          <a:prstGeom prst="rect">
            <a:avLst/>
          </a:prstGeom>
        </p:spPr>
      </p:pic>
    </p:spTree>
    <p:extLst>
      <p:ext uri="{BB962C8B-B14F-4D97-AF65-F5344CB8AC3E}">
        <p14:creationId xmlns:p14="http://schemas.microsoft.com/office/powerpoint/2010/main" val="20058908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59A478-22A6-7A75-8E40-4148572FB0DF}"/>
              </a:ext>
            </a:extLst>
          </p:cNvPr>
          <p:cNvSpPr>
            <a:spLocks noGrp="1"/>
          </p:cNvSpPr>
          <p:nvPr>
            <p:ph type="body" idx="1"/>
          </p:nvPr>
        </p:nvSpPr>
        <p:spPr>
          <a:xfrm>
            <a:off x="463758" y="837497"/>
            <a:ext cx="7960714" cy="4019315"/>
          </a:xfrm>
        </p:spPr>
        <p:txBody>
          <a:bodyPr>
            <a:normAutofit lnSpcReduction="10000"/>
          </a:bodyPr>
          <a:lstStyle/>
          <a:p>
            <a:pPr marL="57150" indent="0">
              <a:buNone/>
            </a:pPr>
            <a:r>
              <a:rPr lang="en-IN" dirty="0"/>
              <a:t>COMPLICATIONS &amp; Troubleshooting:</a:t>
            </a:r>
          </a:p>
          <a:p>
            <a:r>
              <a:rPr lang="en-IN" dirty="0"/>
              <a:t> Initial camera quality and Arduino library constraint</a:t>
            </a:r>
          </a:p>
          <a:p>
            <a:endParaRPr lang="en-IN" dirty="0"/>
          </a:p>
          <a:p>
            <a:endParaRPr lang="en-IN" dirty="0"/>
          </a:p>
          <a:p>
            <a:endParaRPr lang="en-IN" dirty="0"/>
          </a:p>
          <a:p>
            <a:endParaRPr lang="en-IN" dirty="0"/>
          </a:p>
          <a:p>
            <a:endParaRPr lang="en-IN" dirty="0"/>
          </a:p>
          <a:p>
            <a:endParaRPr lang="en-IN" dirty="0"/>
          </a:p>
          <a:p>
            <a:pPr marL="57150" indent="0">
              <a:buNone/>
            </a:pPr>
            <a:r>
              <a:rPr lang="en-IN" sz="1200" dirty="0"/>
              <a:t>            </a:t>
            </a:r>
          </a:p>
          <a:p>
            <a:pPr marL="57150" indent="0">
              <a:buNone/>
            </a:pPr>
            <a:r>
              <a:rPr lang="en-IN" sz="1200" dirty="0"/>
              <a:t>   </a:t>
            </a:r>
          </a:p>
          <a:p>
            <a:pPr marL="57150" indent="0">
              <a:buNone/>
            </a:pPr>
            <a:r>
              <a:rPr lang="en-IN" sz="1200" dirty="0"/>
              <a:t>                                                                          Fig 10 Different Camera Modules</a:t>
            </a:r>
          </a:p>
          <a:p>
            <a:endParaRPr lang="en-IN" dirty="0"/>
          </a:p>
          <a:p>
            <a:endParaRPr lang="en-IN" dirty="0"/>
          </a:p>
          <a:p>
            <a:endParaRPr lang="en-IN" dirty="0"/>
          </a:p>
          <a:p>
            <a:endParaRPr lang="en-IN" dirty="0"/>
          </a:p>
          <a:p>
            <a:endParaRPr lang="en-IN" dirty="0"/>
          </a:p>
          <a:p>
            <a:endParaRPr lang="en-IN" dirty="0"/>
          </a:p>
          <a:p>
            <a:endParaRPr lang="en-IN" sz="1200" dirty="0"/>
          </a:p>
          <a:p>
            <a:endParaRPr lang="en-IN" sz="1200" dirty="0"/>
          </a:p>
        </p:txBody>
      </p:sp>
      <p:pic>
        <p:nvPicPr>
          <p:cNvPr id="6" name="Picture 5">
            <a:extLst>
              <a:ext uri="{FF2B5EF4-FFF2-40B4-BE49-F238E27FC236}">
                <a16:creationId xmlns:a16="http://schemas.microsoft.com/office/drawing/2014/main" id="{72402C40-7AAB-2894-8C25-7BE7F8DE298A}"/>
              </a:ext>
            </a:extLst>
          </p:cNvPr>
          <p:cNvPicPr>
            <a:picLocks noChangeAspect="1"/>
          </p:cNvPicPr>
          <p:nvPr/>
        </p:nvPicPr>
        <p:blipFill>
          <a:blip r:embed="rId2"/>
          <a:stretch>
            <a:fillRect/>
          </a:stretch>
        </p:blipFill>
        <p:spPr>
          <a:xfrm>
            <a:off x="779489" y="1933730"/>
            <a:ext cx="3402767" cy="2552075"/>
          </a:xfrm>
          <a:prstGeom prst="rect">
            <a:avLst/>
          </a:prstGeom>
        </p:spPr>
      </p:pic>
      <p:pic>
        <p:nvPicPr>
          <p:cNvPr id="5" name="Picture 4">
            <a:extLst>
              <a:ext uri="{FF2B5EF4-FFF2-40B4-BE49-F238E27FC236}">
                <a16:creationId xmlns:a16="http://schemas.microsoft.com/office/drawing/2014/main" id="{DD99B303-93EE-ED89-8732-13CBB220ADCC}"/>
              </a:ext>
            </a:extLst>
          </p:cNvPr>
          <p:cNvPicPr>
            <a:picLocks noChangeAspect="1"/>
          </p:cNvPicPr>
          <p:nvPr/>
        </p:nvPicPr>
        <p:blipFill rotWithShape="1">
          <a:blip r:embed="rId3"/>
          <a:srcRect r="30647"/>
          <a:stretch/>
        </p:blipFill>
        <p:spPr>
          <a:xfrm rot="16200000">
            <a:off x="5356407" y="1843789"/>
            <a:ext cx="2086210" cy="2998034"/>
          </a:xfrm>
          <a:prstGeom prst="rect">
            <a:avLst/>
          </a:prstGeom>
        </p:spPr>
      </p:pic>
    </p:spTree>
    <p:extLst>
      <p:ext uri="{BB962C8B-B14F-4D97-AF65-F5344CB8AC3E}">
        <p14:creationId xmlns:p14="http://schemas.microsoft.com/office/powerpoint/2010/main" val="23866587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3A5E9D-1826-00E4-13CA-658929BADA03}"/>
              </a:ext>
            </a:extLst>
          </p:cNvPr>
          <p:cNvSpPr>
            <a:spLocks noGrp="1"/>
          </p:cNvSpPr>
          <p:nvPr>
            <p:ph type="body" idx="1"/>
          </p:nvPr>
        </p:nvSpPr>
        <p:spPr>
          <a:xfrm>
            <a:off x="628649" y="837497"/>
            <a:ext cx="12875170" cy="46876335"/>
          </a:xfrm>
        </p:spPr>
        <p:txBody>
          <a:bodyPr/>
          <a:lstStyle/>
          <a:p>
            <a:r>
              <a:rPr lang="en-IN" dirty="0"/>
              <a:t>EDGE IMPULSE AND LIBRARY IMPORT</a:t>
            </a:r>
          </a:p>
          <a:p>
            <a:endParaRPr lang="en-IN" dirty="0"/>
          </a:p>
        </p:txBody>
      </p:sp>
      <p:sp>
        <p:nvSpPr>
          <p:cNvPr id="7" name="Rectangle 3">
            <a:extLst>
              <a:ext uri="{FF2B5EF4-FFF2-40B4-BE49-F238E27FC236}">
                <a16:creationId xmlns:a16="http://schemas.microsoft.com/office/drawing/2014/main" id="{5991EA08-0C3D-F906-F1E6-BA142B4C9CD3}"/>
              </a:ext>
            </a:extLst>
          </p:cNvPr>
          <p:cNvSpPr>
            <a:spLocks noChangeArrowheads="1"/>
          </p:cNvSpPr>
          <p:nvPr/>
        </p:nvSpPr>
        <p:spPr bwMode="auto">
          <a:xfrm>
            <a:off x="1117600" y="1542590"/>
            <a:ext cx="712763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Edge Impulse provides a streamlined solution for developing and deploying embedded machine learning models. Its library installation feature enables seamless integration of machine learning models into embedded applications by providing pre-built libraries compatible with popular development platforms. This simplifies the deployment process, allowing developers to efficiently incorporate machine learning capabilities into edge devices without the need for extensive manual configuration or optimization, accelerating time-to-market for AI-powered edge 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C54F0D06-6EDF-A39F-4C70-58B78E358F6E}"/>
              </a:ext>
            </a:extLst>
          </p:cNvPr>
          <p:cNvSpPr>
            <a:spLocks noChangeArrowheads="1"/>
          </p:cNvSpPr>
          <p:nvPr/>
        </p:nvSpPr>
        <p:spPr bwMode="auto">
          <a:xfrm>
            <a:off x="0" y="-254140"/>
            <a:ext cx="627375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89251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33DD-C598-5738-81C2-6705C2AC39F0}"/>
              </a:ext>
            </a:extLst>
          </p:cNvPr>
          <p:cNvSpPr>
            <a:spLocks noGrp="1"/>
          </p:cNvSpPr>
          <p:nvPr>
            <p:ph type="title"/>
          </p:nvPr>
        </p:nvSpPr>
        <p:spPr/>
        <p:txBody>
          <a:bodyPr/>
          <a:lstStyle/>
          <a:p>
            <a:r>
              <a:rPr lang="en-IN" dirty="0">
                <a:solidFill>
                  <a:schemeClr val="accent1">
                    <a:lumMod val="75000"/>
                  </a:schemeClr>
                </a:solidFill>
              </a:rPr>
              <a:t>ROBOT LAYOUT DESIGN</a:t>
            </a:r>
          </a:p>
        </p:txBody>
      </p:sp>
      <p:pic>
        <p:nvPicPr>
          <p:cNvPr id="8" name="Picture 7">
            <a:extLst>
              <a:ext uri="{FF2B5EF4-FFF2-40B4-BE49-F238E27FC236}">
                <a16:creationId xmlns:a16="http://schemas.microsoft.com/office/drawing/2014/main" id="{F08B1094-9CF5-74A5-2E0E-312C45BE147C}"/>
              </a:ext>
            </a:extLst>
          </p:cNvPr>
          <p:cNvPicPr>
            <a:picLocks noChangeAspect="1"/>
          </p:cNvPicPr>
          <p:nvPr/>
        </p:nvPicPr>
        <p:blipFill rotWithShape="1">
          <a:blip r:embed="rId2"/>
          <a:srcRect b="13793"/>
          <a:stretch/>
        </p:blipFill>
        <p:spPr>
          <a:xfrm>
            <a:off x="1493649" y="885045"/>
            <a:ext cx="6156702" cy="3717189"/>
          </a:xfrm>
          <a:prstGeom prst="rect">
            <a:avLst/>
          </a:prstGeom>
        </p:spPr>
      </p:pic>
      <p:sp>
        <p:nvSpPr>
          <p:cNvPr id="3" name="Text Placeholder 2">
            <a:extLst>
              <a:ext uri="{FF2B5EF4-FFF2-40B4-BE49-F238E27FC236}">
                <a16:creationId xmlns:a16="http://schemas.microsoft.com/office/drawing/2014/main" id="{64FECBFD-9FD5-3916-BCB9-16D9F05B336E}"/>
              </a:ext>
            </a:extLst>
          </p:cNvPr>
          <p:cNvSpPr>
            <a:spLocks noGrp="1"/>
          </p:cNvSpPr>
          <p:nvPr>
            <p:ph type="body" idx="1"/>
          </p:nvPr>
        </p:nvSpPr>
        <p:spPr>
          <a:xfrm>
            <a:off x="628650" y="837498"/>
            <a:ext cx="7645920" cy="3934384"/>
          </a:xfrm>
        </p:spPr>
        <p:txBody>
          <a:bodyPr>
            <a:normAutofit lnSpcReduction="10000"/>
          </a:bodyPr>
          <a:lstStyle/>
          <a:p>
            <a:endParaRPr lang="en-US" dirty="0"/>
          </a:p>
          <a:p>
            <a:endParaRPr lang="en-IN" dirty="0"/>
          </a:p>
          <a:p>
            <a:endParaRPr lang="en-IN" dirty="0"/>
          </a:p>
          <a:p>
            <a:endParaRPr lang="en-IN" dirty="0"/>
          </a:p>
          <a:p>
            <a:endParaRPr lang="en-IN" dirty="0"/>
          </a:p>
          <a:p>
            <a:endParaRPr lang="en-IN" dirty="0"/>
          </a:p>
          <a:p>
            <a:endParaRPr lang="en-IN" dirty="0"/>
          </a:p>
          <a:p>
            <a:endParaRPr lang="en-IN" dirty="0"/>
          </a:p>
          <a:p>
            <a:pPr marL="57150" indent="0">
              <a:buNone/>
            </a:pPr>
            <a:r>
              <a:rPr lang="en-IN" dirty="0"/>
              <a:t>                                          </a:t>
            </a:r>
            <a:r>
              <a:rPr lang="en-IN" sz="1200" dirty="0"/>
              <a:t>Fig 11 Basic Layout of Robot</a:t>
            </a:r>
            <a:endParaRPr lang="en-IN" dirty="0"/>
          </a:p>
        </p:txBody>
      </p:sp>
    </p:spTree>
    <p:extLst>
      <p:ext uri="{BB962C8B-B14F-4D97-AF65-F5344CB8AC3E}">
        <p14:creationId xmlns:p14="http://schemas.microsoft.com/office/powerpoint/2010/main" val="27878249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93F4BF-F7B3-9063-D8BF-984F83C3FC40}"/>
              </a:ext>
            </a:extLst>
          </p:cNvPr>
          <p:cNvSpPr>
            <a:spLocks noGrp="1"/>
          </p:cNvSpPr>
          <p:nvPr>
            <p:ph type="body" idx="1"/>
          </p:nvPr>
        </p:nvSpPr>
        <p:spPr/>
        <p:txBody>
          <a:bodyPr/>
          <a:lstStyle/>
          <a:p>
            <a:pPr marL="57150" indent="0">
              <a:buNone/>
            </a:pPr>
            <a:endParaRPr lang="en-US" dirty="0"/>
          </a:p>
          <a:p>
            <a:pPr marL="57150" indent="0">
              <a:buNone/>
            </a:pPr>
            <a:endParaRPr lang="en-IN" dirty="0"/>
          </a:p>
          <a:p>
            <a:pPr marL="57150" indent="0">
              <a:buNone/>
            </a:pPr>
            <a:endParaRPr lang="en-IN" dirty="0"/>
          </a:p>
          <a:p>
            <a:pPr marL="57150" indent="0">
              <a:buNone/>
            </a:pPr>
            <a:endParaRPr lang="en-IN" dirty="0"/>
          </a:p>
          <a:p>
            <a:pPr marL="57150" indent="0">
              <a:buNone/>
            </a:pPr>
            <a:endParaRPr lang="en-IN" dirty="0"/>
          </a:p>
          <a:p>
            <a:pPr marL="57150" indent="0">
              <a:buNone/>
            </a:pPr>
            <a:endParaRPr lang="en-IN" dirty="0"/>
          </a:p>
          <a:p>
            <a:pPr marL="57150" indent="0">
              <a:buNone/>
            </a:pPr>
            <a:endParaRPr lang="en-IN" dirty="0"/>
          </a:p>
          <a:p>
            <a:pPr marL="57150" indent="0">
              <a:buNone/>
            </a:pPr>
            <a:r>
              <a:rPr lang="en-IN" sz="1200" dirty="0"/>
              <a:t>  Fig 12 Camera and UV sensor placement</a:t>
            </a:r>
          </a:p>
        </p:txBody>
      </p:sp>
      <p:sp>
        <p:nvSpPr>
          <p:cNvPr id="4" name="Text Placeholder 3">
            <a:extLst>
              <a:ext uri="{FF2B5EF4-FFF2-40B4-BE49-F238E27FC236}">
                <a16:creationId xmlns:a16="http://schemas.microsoft.com/office/drawing/2014/main" id="{F00213A3-EFE4-F072-6625-9AA7103999F6}"/>
              </a:ext>
            </a:extLst>
          </p:cNvPr>
          <p:cNvSpPr>
            <a:spLocks noGrp="1"/>
          </p:cNvSpPr>
          <p:nvPr>
            <p:ph type="body" idx="2"/>
          </p:nvPr>
        </p:nvSpPr>
        <p:spPr/>
        <p:txBody>
          <a:bodyPr/>
          <a:lstStyle/>
          <a:p>
            <a:pPr marL="57150" indent="0">
              <a:buNone/>
            </a:pPr>
            <a:endParaRPr lang="en-US" dirty="0"/>
          </a:p>
          <a:p>
            <a:pPr marL="57150" indent="0">
              <a:buNone/>
            </a:pPr>
            <a:endParaRPr lang="en-IN" dirty="0"/>
          </a:p>
          <a:p>
            <a:pPr marL="57150" indent="0">
              <a:buNone/>
            </a:pPr>
            <a:endParaRPr lang="en-IN" dirty="0"/>
          </a:p>
          <a:p>
            <a:pPr marL="57150" indent="0">
              <a:buNone/>
            </a:pPr>
            <a:endParaRPr lang="en-IN" dirty="0"/>
          </a:p>
          <a:p>
            <a:pPr marL="57150" indent="0">
              <a:buNone/>
            </a:pPr>
            <a:endParaRPr lang="en-IN" dirty="0"/>
          </a:p>
          <a:p>
            <a:pPr marL="57150" indent="0">
              <a:buNone/>
            </a:pPr>
            <a:endParaRPr lang="en-IN" dirty="0"/>
          </a:p>
          <a:p>
            <a:pPr marL="57150" indent="0">
              <a:buNone/>
            </a:pPr>
            <a:endParaRPr lang="en-IN" dirty="0"/>
          </a:p>
          <a:p>
            <a:pPr marL="57150" indent="0">
              <a:buNone/>
            </a:pPr>
            <a:r>
              <a:rPr lang="en-IN" sz="1200" dirty="0"/>
              <a:t>                 Fig 13 Top View of Robot</a:t>
            </a:r>
          </a:p>
        </p:txBody>
      </p:sp>
      <p:pic>
        <p:nvPicPr>
          <p:cNvPr id="6" name="Picture 5">
            <a:extLst>
              <a:ext uri="{FF2B5EF4-FFF2-40B4-BE49-F238E27FC236}">
                <a16:creationId xmlns:a16="http://schemas.microsoft.com/office/drawing/2014/main" id="{050F3379-0D15-50D8-757B-84ABDA2EE3B0}"/>
              </a:ext>
            </a:extLst>
          </p:cNvPr>
          <p:cNvPicPr>
            <a:picLocks noChangeAspect="1"/>
          </p:cNvPicPr>
          <p:nvPr/>
        </p:nvPicPr>
        <p:blipFill rotWithShape="1">
          <a:blip r:embed="rId2"/>
          <a:srcRect l="33126" t="3560" r="33042" b="9736"/>
          <a:stretch/>
        </p:blipFill>
        <p:spPr>
          <a:xfrm rot="16200000">
            <a:off x="5457955" y="690144"/>
            <a:ext cx="2228592" cy="3886202"/>
          </a:xfrm>
          <a:prstGeom prst="rect">
            <a:avLst/>
          </a:prstGeom>
        </p:spPr>
      </p:pic>
      <p:pic>
        <p:nvPicPr>
          <p:cNvPr id="15" name="Picture 14">
            <a:extLst>
              <a:ext uri="{FF2B5EF4-FFF2-40B4-BE49-F238E27FC236}">
                <a16:creationId xmlns:a16="http://schemas.microsoft.com/office/drawing/2014/main" id="{1E3419A5-1329-74A3-6556-F44749728501}"/>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33000"/>
                    </a14:imgEffect>
                  </a14:imgLayer>
                </a14:imgProps>
              </a:ext>
            </a:extLst>
          </a:blip>
          <a:srcRect l="9749" t="24080" r="5091" b="8190"/>
          <a:stretch/>
        </p:blipFill>
        <p:spPr>
          <a:xfrm>
            <a:off x="591705" y="1518949"/>
            <a:ext cx="3923146" cy="2393484"/>
          </a:xfrm>
          <a:prstGeom prst="rect">
            <a:avLst/>
          </a:prstGeom>
        </p:spPr>
      </p:pic>
    </p:spTree>
    <p:extLst>
      <p:ext uri="{BB962C8B-B14F-4D97-AF65-F5344CB8AC3E}">
        <p14:creationId xmlns:p14="http://schemas.microsoft.com/office/powerpoint/2010/main" val="16776207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25276-5B42-7F85-80D7-6D7D308AE9F9}"/>
              </a:ext>
            </a:extLst>
          </p:cNvPr>
          <p:cNvSpPr>
            <a:spLocks noGrp="1"/>
          </p:cNvSpPr>
          <p:nvPr>
            <p:ph type="title"/>
          </p:nvPr>
        </p:nvSpPr>
        <p:spPr/>
        <p:txBody>
          <a:bodyPr/>
          <a:lstStyle/>
          <a:p>
            <a:r>
              <a:rPr lang="en-US" dirty="0">
                <a:solidFill>
                  <a:schemeClr val="accent1">
                    <a:lumMod val="75000"/>
                  </a:schemeClr>
                </a:solidFill>
              </a:rPr>
              <a:t>PROTOTYPE ASSEMBLY</a:t>
            </a:r>
            <a:endParaRPr lang="en-IN" dirty="0">
              <a:solidFill>
                <a:schemeClr val="accent1">
                  <a:lumMod val="75000"/>
                </a:schemeClr>
              </a:solidFill>
            </a:endParaRPr>
          </a:p>
        </p:txBody>
      </p:sp>
      <p:sp>
        <p:nvSpPr>
          <p:cNvPr id="3" name="Text Placeholder 2">
            <a:extLst>
              <a:ext uri="{FF2B5EF4-FFF2-40B4-BE49-F238E27FC236}">
                <a16:creationId xmlns:a16="http://schemas.microsoft.com/office/drawing/2014/main" id="{A8BCC68A-C09D-A880-1847-6FF524DC1FF9}"/>
              </a:ext>
            </a:extLst>
          </p:cNvPr>
          <p:cNvSpPr>
            <a:spLocks noGrp="1"/>
          </p:cNvSpPr>
          <p:nvPr>
            <p:ph type="body" idx="1"/>
          </p:nvPr>
        </p:nvSpPr>
        <p:spPr/>
        <p:txBody>
          <a:bodyPr/>
          <a:lstStyle/>
          <a:p>
            <a:endParaRPr lang="en-US" dirty="0"/>
          </a:p>
          <a:p>
            <a:endParaRPr lang="en-IN" dirty="0"/>
          </a:p>
          <a:p>
            <a:endParaRPr lang="en-IN" dirty="0"/>
          </a:p>
          <a:p>
            <a:endParaRPr lang="en-IN" dirty="0"/>
          </a:p>
          <a:p>
            <a:endParaRPr lang="en-IN" dirty="0"/>
          </a:p>
          <a:p>
            <a:endParaRPr lang="en-IN" dirty="0"/>
          </a:p>
          <a:p>
            <a:endParaRPr lang="en-IN" dirty="0"/>
          </a:p>
          <a:p>
            <a:pPr marL="57150" indent="0">
              <a:buNone/>
            </a:pPr>
            <a:r>
              <a:rPr lang="en-IN" sz="1200" dirty="0"/>
              <a:t>       Fig 14 Top view of Robot</a:t>
            </a:r>
          </a:p>
        </p:txBody>
      </p:sp>
      <p:sp>
        <p:nvSpPr>
          <p:cNvPr id="4" name="Text Placeholder 3">
            <a:extLst>
              <a:ext uri="{FF2B5EF4-FFF2-40B4-BE49-F238E27FC236}">
                <a16:creationId xmlns:a16="http://schemas.microsoft.com/office/drawing/2014/main" id="{04C6FA2D-E263-B1BE-4438-B1EB425D3FC1}"/>
              </a:ext>
            </a:extLst>
          </p:cNvPr>
          <p:cNvSpPr>
            <a:spLocks noGrp="1"/>
          </p:cNvSpPr>
          <p:nvPr>
            <p:ph type="body" idx="2"/>
          </p:nvPr>
        </p:nvSpPr>
        <p:spPr/>
        <p:txBody>
          <a:bodyPr/>
          <a:lstStyle/>
          <a:p>
            <a:endParaRPr lang="en-US" dirty="0"/>
          </a:p>
          <a:p>
            <a:endParaRPr lang="en-IN" dirty="0"/>
          </a:p>
          <a:p>
            <a:endParaRPr lang="en-IN" dirty="0"/>
          </a:p>
          <a:p>
            <a:endParaRPr lang="en-IN" dirty="0"/>
          </a:p>
          <a:p>
            <a:endParaRPr lang="en-IN" dirty="0"/>
          </a:p>
          <a:p>
            <a:endParaRPr lang="en-IN" dirty="0"/>
          </a:p>
          <a:p>
            <a:endParaRPr lang="en-IN" dirty="0"/>
          </a:p>
          <a:p>
            <a:pPr marL="57150" indent="0">
              <a:buNone/>
            </a:pPr>
            <a:r>
              <a:rPr lang="en-IN" sz="1200" dirty="0"/>
              <a:t>          Fig 15 BLDC motor with Suction</a:t>
            </a:r>
          </a:p>
        </p:txBody>
      </p:sp>
      <p:pic>
        <p:nvPicPr>
          <p:cNvPr id="6" name="Picture 5">
            <a:extLst>
              <a:ext uri="{FF2B5EF4-FFF2-40B4-BE49-F238E27FC236}">
                <a16:creationId xmlns:a16="http://schemas.microsoft.com/office/drawing/2014/main" id="{3DA861FD-DE0A-9088-F5B5-092E2AD351D0}"/>
              </a:ext>
            </a:extLst>
          </p:cNvPr>
          <p:cNvPicPr>
            <a:picLocks noChangeAspect="1"/>
          </p:cNvPicPr>
          <p:nvPr/>
        </p:nvPicPr>
        <p:blipFill rotWithShape="1">
          <a:blip r:embed="rId2"/>
          <a:srcRect t="3206" r="17941" b="2951"/>
          <a:stretch/>
        </p:blipFill>
        <p:spPr>
          <a:xfrm rot="5400000">
            <a:off x="1292863" y="690964"/>
            <a:ext cx="2557774" cy="3900156"/>
          </a:xfrm>
          <a:prstGeom prst="rect">
            <a:avLst/>
          </a:prstGeom>
        </p:spPr>
      </p:pic>
      <p:pic>
        <p:nvPicPr>
          <p:cNvPr id="8" name="Picture 7">
            <a:extLst>
              <a:ext uri="{FF2B5EF4-FFF2-40B4-BE49-F238E27FC236}">
                <a16:creationId xmlns:a16="http://schemas.microsoft.com/office/drawing/2014/main" id="{85D7C321-890B-5FFB-E805-E948FA54FB2F}"/>
              </a:ext>
            </a:extLst>
          </p:cNvPr>
          <p:cNvPicPr>
            <a:picLocks noChangeAspect="1"/>
          </p:cNvPicPr>
          <p:nvPr/>
        </p:nvPicPr>
        <p:blipFill rotWithShape="1">
          <a:blip r:embed="rId3"/>
          <a:srcRect l="6475" t="4226" r="1366" b="14754"/>
          <a:stretch/>
        </p:blipFill>
        <p:spPr>
          <a:xfrm>
            <a:off x="4636128" y="1362154"/>
            <a:ext cx="3879222" cy="2557775"/>
          </a:xfrm>
          <a:prstGeom prst="rect">
            <a:avLst/>
          </a:prstGeom>
        </p:spPr>
      </p:pic>
    </p:spTree>
    <p:extLst>
      <p:ext uri="{BB962C8B-B14F-4D97-AF65-F5344CB8AC3E}">
        <p14:creationId xmlns:p14="http://schemas.microsoft.com/office/powerpoint/2010/main" val="1824431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3724D5-06B0-CF8B-EC9D-6846E8F79E58}"/>
              </a:ext>
            </a:extLst>
          </p:cNvPr>
          <p:cNvSpPr>
            <a:spLocks noGrp="1"/>
          </p:cNvSpPr>
          <p:nvPr>
            <p:ph type="body" idx="1"/>
          </p:nvPr>
        </p:nvSpPr>
        <p:spPr/>
        <p:txBody>
          <a:bodyPr/>
          <a:lstStyle/>
          <a:p>
            <a:endParaRPr lang="en-US" dirty="0"/>
          </a:p>
          <a:p>
            <a:endParaRPr lang="en-IN" dirty="0"/>
          </a:p>
          <a:p>
            <a:endParaRPr lang="en-IN" dirty="0"/>
          </a:p>
          <a:p>
            <a:endParaRPr lang="en-IN" dirty="0"/>
          </a:p>
          <a:p>
            <a:endParaRPr lang="en-IN" dirty="0"/>
          </a:p>
          <a:p>
            <a:endParaRPr lang="en-IN" dirty="0"/>
          </a:p>
          <a:p>
            <a:endParaRPr lang="en-IN" dirty="0"/>
          </a:p>
          <a:p>
            <a:pPr marL="57150" indent="0">
              <a:buNone/>
            </a:pPr>
            <a:r>
              <a:rPr lang="en-IN" sz="1200" dirty="0"/>
              <a:t>                      Fig 16 Left Top view of Robot</a:t>
            </a:r>
          </a:p>
        </p:txBody>
      </p:sp>
      <p:sp>
        <p:nvSpPr>
          <p:cNvPr id="4" name="Text Placeholder 3">
            <a:extLst>
              <a:ext uri="{FF2B5EF4-FFF2-40B4-BE49-F238E27FC236}">
                <a16:creationId xmlns:a16="http://schemas.microsoft.com/office/drawing/2014/main" id="{54FCCD08-C080-0C0A-A496-08B4E1318534}"/>
              </a:ext>
            </a:extLst>
          </p:cNvPr>
          <p:cNvSpPr>
            <a:spLocks noGrp="1"/>
          </p:cNvSpPr>
          <p:nvPr>
            <p:ph type="body" idx="2"/>
          </p:nvPr>
        </p:nvSpPr>
        <p:spPr/>
        <p:txBody>
          <a:bodyPr/>
          <a:lstStyle/>
          <a:p>
            <a:endParaRPr lang="en-US" dirty="0"/>
          </a:p>
          <a:p>
            <a:endParaRPr lang="en-IN" dirty="0"/>
          </a:p>
          <a:p>
            <a:endParaRPr lang="en-IN" dirty="0"/>
          </a:p>
          <a:p>
            <a:endParaRPr lang="en-IN" dirty="0"/>
          </a:p>
          <a:p>
            <a:endParaRPr lang="en-IN" dirty="0"/>
          </a:p>
          <a:p>
            <a:endParaRPr lang="en-IN" dirty="0"/>
          </a:p>
          <a:p>
            <a:endParaRPr lang="en-IN" dirty="0"/>
          </a:p>
          <a:p>
            <a:pPr marL="57150" indent="0">
              <a:buNone/>
            </a:pPr>
            <a:r>
              <a:rPr lang="en-IN" sz="1200" dirty="0"/>
              <a:t>                   Fig 17 Side view of Robot</a:t>
            </a:r>
          </a:p>
        </p:txBody>
      </p:sp>
      <p:pic>
        <p:nvPicPr>
          <p:cNvPr id="6" name="Picture 5">
            <a:extLst>
              <a:ext uri="{FF2B5EF4-FFF2-40B4-BE49-F238E27FC236}">
                <a16:creationId xmlns:a16="http://schemas.microsoft.com/office/drawing/2014/main" id="{5571CDEB-34C4-00AF-281A-174074E74D09}"/>
              </a:ext>
            </a:extLst>
          </p:cNvPr>
          <p:cNvPicPr>
            <a:picLocks noChangeAspect="1"/>
          </p:cNvPicPr>
          <p:nvPr/>
        </p:nvPicPr>
        <p:blipFill rotWithShape="1">
          <a:blip r:embed="rId2"/>
          <a:srcRect l="6393" t="23657" r="13440" b="7436"/>
          <a:stretch/>
        </p:blipFill>
        <p:spPr>
          <a:xfrm>
            <a:off x="628651" y="1319096"/>
            <a:ext cx="3886200" cy="2505308"/>
          </a:xfrm>
          <a:prstGeom prst="rect">
            <a:avLst/>
          </a:prstGeom>
        </p:spPr>
      </p:pic>
      <p:pic>
        <p:nvPicPr>
          <p:cNvPr id="8" name="Picture 7">
            <a:extLst>
              <a:ext uri="{FF2B5EF4-FFF2-40B4-BE49-F238E27FC236}">
                <a16:creationId xmlns:a16="http://schemas.microsoft.com/office/drawing/2014/main" id="{FD6F311B-17D5-B624-7085-BE741638FBC1}"/>
              </a:ext>
            </a:extLst>
          </p:cNvPr>
          <p:cNvPicPr>
            <a:picLocks noChangeAspect="1"/>
          </p:cNvPicPr>
          <p:nvPr/>
        </p:nvPicPr>
        <p:blipFill rotWithShape="1">
          <a:blip r:embed="rId3"/>
          <a:srcRect l="10000" t="4372" r="10120" b="26995"/>
          <a:stretch/>
        </p:blipFill>
        <p:spPr>
          <a:xfrm>
            <a:off x="4629150" y="1319096"/>
            <a:ext cx="3886200" cy="2504314"/>
          </a:xfrm>
          <a:prstGeom prst="rect">
            <a:avLst/>
          </a:prstGeom>
        </p:spPr>
      </p:pic>
    </p:spTree>
    <p:extLst>
      <p:ext uri="{BB962C8B-B14F-4D97-AF65-F5344CB8AC3E}">
        <p14:creationId xmlns:p14="http://schemas.microsoft.com/office/powerpoint/2010/main" val="35389212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64F5200-2D36-58AD-310F-828C9637478C}"/>
              </a:ext>
            </a:extLst>
          </p:cNvPr>
          <p:cNvPicPr>
            <a:picLocks noChangeAspect="1"/>
          </p:cNvPicPr>
          <p:nvPr/>
        </p:nvPicPr>
        <p:blipFill>
          <a:blip r:embed="rId2"/>
          <a:stretch>
            <a:fillRect/>
          </a:stretch>
        </p:blipFill>
        <p:spPr>
          <a:xfrm>
            <a:off x="1911246" y="1386590"/>
            <a:ext cx="4609475" cy="3102964"/>
          </a:xfrm>
          <a:prstGeom prst="rect">
            <a:avLst/>
          </a:prstGeom>
        </p:spPr>
      </p:pic>
      <p:sp>
        <p:nvSpPr>
          <p:cNvPr id="3" name="Text Placeholder 2">
            <a:extLst>
              <a:ext uri="{FF2B5EF4-FFF2-40B4-BE49-F238E27FC236}">
                <a16:creationId xmlns:a16="http://schemas.microsoft.com/office/drawing/2014/main" id="{F847200F-2533-3018-5076-DFC7594DDEF4}"/>
              </a:ext>
            </a:extLst>
          </p:cNvPr>
          <p:cNvSpPr>
            <a:spLocks noGrp="1"/>
          </p:cNvSpPr>
          <p:nvPr>
            <p:ph type="body" idx="1"/>
          </p:nvPr>
        </p:nvSpPr>
        <p:spPr>
          <a:xfrm>
            <a:off x="628649" y="837498"/>
            <a:ext cx="6843947" cy="3934384"/>
          </a:xfrm>
        </p:spPr>
        <p:txBody>
          <a:bodyPr/>
          <a:lstStyle/>
          <a:p>
            <a:endParaRPr lang="en-US" dirty="0"/>
          </a:p>
          <a:p>
            <a:endParaRPr lang="en-IN" dirty="0"/>
          </a:p>
          <a:p>
            <a:endParaRPr lang="en-IN" dirty="0"/>
          </a:p>
          <a:p>
            <a:endParaRPr lang="en-IN" dirty="0"/>
          </a:p>
          <a:p>
            <a:endParaRPr lang="en-IN" dirty="0"/>
          </a:p>
          <a:p>
            <a:endParaRPr lang="en-IN" dirty="0"/>
          </a:p>
          <a:p>
            <a:endParaRPr lang="en-IN" dirty="0"/>
          </a:p>
          <a:p>
            <a:pPr marL="57150" indent="0">
              <a:buNone/>
            </a:pPr>
            <a:r>
              <a:rPr lang="en-IN" sz="1200" dirty="0"/>
              <a:t>                      </a:t>
            </a:r>
          </a:p>
          <a:p>
            <a:pPr marL="57150" indent="0">
              <a:buNone/>
            </a:pPr>
            <a:endParaRPr lang="en-IN" sz="1200" dirty="0"/>
          </a:p>
          <a:p>
            <a:pPr marL="57150" indent="0">
              <a:buNone/>
            </a:pPr>
            <a:r>
              <a:rPr lang="en-IN" sz="1200" dirty="0"/>
              <a:t>                                                                   Fig 18 Suction part</a:t>
            </a:r>
          </a:p>
        </p:txBody>
      </p:sp>
    </p:spTree>
    <p:extLst>
      <p:ext uri="{BB962C8B-B14F-4D97-AF65-F5344CB8AC3E}">
        <p14:creationId xmlns:p14="http://schemas.microsoft.com/office/powerpoint/2010/main" val="39982720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FDD324-9BE3-1357-45F3-D2113802D7B9}"/>
              </a:ext>
            </a:extLst>
          </p:cNvPr>
          <p:cNvSpPr>
            <a:spLocks noGrp="1"/>
          </p:cNvSpPr>
          <p:nvPr>
            <p:ph type="title"/>
          </p:nvPr>
        </p:nvSpPr>
        <p:spPr/>
        <p:txBody>
          <a:bodyPr/>
          <a:lstStyle/>
          <a:p>
            <a:r>
              <a:rPr lang="en-IN" dirty="0">
                <a:solidFill>
                  <a:schemeClr val="accent5">
                    <a:lumMod val="75000"/>
                  </a:schemeClr>
                </a:solidFill>
              </a:rPr>
              <a:t>Arduino setup</a:t>
            </a:r>
            <a:endParaRPr lang="en-IN" dirty="0"/>
          </a:p>
        </p:txBody>
      </p:sp>
      <p:pic>
        <p:nvPicPr>
          <p:cNvPr id="7" name="Picture 6">
            <a:extLst>
              <a:ext uri="{FF2B5EF4-FFF2-40B4-BE49-F238E27FC236}">
                <a16:creationId xmlns:a16="http://schemas.microsoft.com/office/drawing/2014/main" id="{489A285D-E04C-C3B6-7FA7-2860325432EC}"/>
              </a:ext>
            </a:extLst>
          </p:cNvPr>
          <p:cNvPicPr>
            <a:picLocks noChangeAspect="1"/>
          </p:cNvPicPr>
          <p:nvPr/>
        </p:nvPicPr>
        <p:blipFill>
          <a:blip r:embed="rId2"/>
          <a:stretch>
            <a:fillRect/>
          </a:stretch>
        </p:blipFill>
        <p:spPr>
          <a:xfrm>
            <a:off x="359764" y="869430"/>
            <a:ext cx="8401987" cy="3972394"/>
          </a:xfrm>
          <a:prstGeom prst="rect">
            <a:avLst/>
          </a:prstGeom>
        </p:spPr>
      </p:pic>
    </p:spTree>
    <p:extLst>
      <p:ext uri="{BB962C8B-B14F-4D97-AF65-F5344CB8AC3E}">
        <p14:creationId xmlns:p14="http://schemas.microsoft.com/office/powerpoint/2010/main" val="2610833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CD2E1-E5DF-502F-06B2-DF15DEA5BFFD}"/>
              </a:ext>
            </a:extLst>
          </p:cNvPr>
          <p:cNvSpPr>
            <a:spLocks noGrp="1"/>
          </p:cNvSpPr>
          <p:nvPr>
            <p:ph type="title"/>
          </p:nvPr>
        </p:nvSpPr>
        <p:spPr/>
        <p:txBody>
          <a:bodyPr>
            <a:normAutofit/>
          </a:bodyPr>
          <a:lstStyle/>
          <a:p>
            <a:r>
              <a:rPr lang="en-US" sz="2800" dirty="0">
                <a:solidFill>
                  <a:schemeClr val="accent1">
                    <a:lumMod val="75000"/>
                  </a:schemeClr>
                </a:solidFill>
              </a:rPr>
              <a:t>Conclusion</a:t>
            </a:r>
            <a:endParaRPr lang="en-IN" sz="2800" dirty="0">
              <a:solidFill>
                <a:schemeClr val="accent1">
                  <a:lumMod val="75000"/>
                </a:schemeClr>
              </a:solidFill>
            </a:endParaRPr>
          </a:p>
        </p:txBody>
      </p:sp>
      <p:sp>
        <p:nvSpPr>
          <p:cNvPr id="3" name="Text Placeholder 2">
            <a:extLst>
              <a:ext uri="{FF2B5EF4-FFF2-40B4-BE49-F238E27FC236}">
                <a16:creationId xmlns:a16="http://schemas.microsoft.com/office/drawing/2014/main" id="{99BD4F74-33F0-2D61-E43E-FBF243C34828}"/>
              </a:ext>
            </a:extLst>
          </p:cNvPr>
          <p:cNvSpPr>
            <a:spLocks noGrp="1"/>
          </p:cNvSpPr>
          <p:nvPr>
            <p:ph type="body" idx="1"/>
          </p:nvPr>
        </p:nvSpPr>
        <p:spPr>
          <a:xfrm>
            <a:off x="134911" y="837498"/>
            <a:ext cx="8806721" cy="1950672"/>
          </a:xfrm>
        </p:spPr>
        <p:txBody>
          <a:bodyPr>
            <a:normAutofit/>
          </a:bodyPr>
          <a:lstStyle/>
          <a:p>
            <a:pPr marL="57150" indent="0">
              <a:buNone/>
            </a:pPr>
            <a:r>
              <a:rPr lang="en-IN" sz="1400" dirty="0"/>
              <a:t>Our journey began with meticulous collection and preparation of a diverse dataset, categorizing debris into "solid" and "liquid." Transfer learning with MobileNetV2 on ImageNet expedited model development, while quantization-aware training reduced model size for edge deployment. Integration with Edge Impulse enabled real-time inference on the ESP32 CAM, facilitating applications like environmental monitoring. Further enhancements could include refining the model architecture, exploring additional optimization techniques, and integrating real-time sensor data for advanced anomaly detection in disaster response scenarios.</a:t>
            </a:r>
          </a:p>
        </p:txBody>
      </p:sp>
    </p:spTree>
    <p:extLst>
      <p:ext uri="{BB962C8B-B14F-4D97-AF65-F5344CB8AC3E}">
        <p14:creationId xmlns:p14="http://schemas.microsoft.com/office/powerpoint/2010/main" val="24258846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63;p14">
            <a:extLst>
              <a:ext uri="{FF2B5EF4-FFF2-40B4-BE49-F238E27FC236}">
                <a16:creationId xmlns:a16="http://schemas.microsoft.com/office/drawing/2014/main" id="{DF222157-9B8C-BF4D-253D-3A2878830C3A}"/>
              </a:ext>
            </a:extLst>
          </p:cNvPr>
          <p:cNvSpPr txBox="1">
            <a:spLocks/>
          </p:cNvSpPr>
          <p:nvPr/>
        </p:nvSpPr>
        <p:spPr>
          <a:xfrm>
            <a:off x="-1" y="72829"/>
            <a:ext cx="9144001" cy="590843"/>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Arial"/>
                <a:ea typeface="Arial"/>
                <a:cs typeface="Arial"/>
                <a:sym typeface="Arial"/>
              </a:defRPr>
            </a:lvl9pPr>
          </a:lstStyle>
          <a:p>
            <a:pPr lvl="6">
              <a:buSzPts val="990"/>
            </a:pPr>
            <a:r>
              <a:rPr lang="en-IN" sz="2800" b="1" dirty="0">
                <a:latin typeface="Times New Roman" panose="02020603050405020304" pitchFamily="18" charset="0"/>
                <a:cs typeface="Times New Roman" panose="02020603050405020304" pitchFamily="18" charset="0"/>
              </a:rPr>
              <a:t>  </a:t>
            </a:r>
            <a:r>
              <a:rPr lang="en-IN" sz="2800" b="1" dirty="0">
                <a:solidFill>
                  <a:schemeClr val="accent1">
                    <a:lumMod val="75000"/>
                  </a:schemeClr>
                </a:solidFill>
                <a:latin typeface="Times New Roman" panose="02020603050405020304" pitchFamily="18" charset="0"/>
                <a:cs typeface="Times New Roman" panose="02020603050405020304" pitchFamily="18" charset="0"/>
              </a:rPr>
              <a:t>References</a:t>
            </a:r>
            <a:r>
              <a:rPr lang="en-IN" sz="2800" b="1" dirty="0">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1FB09188-7E07-46D3-DB2E-0C070DDAC475}"/>
              </a:ext>
            </a:extLst>
          </p:cNvPr>
          <p:cNvSpPr txBox="1"/>
          <p:nvPr/>
        </p:nvSpPr>
        <p:spPr>
          <a:xfrm>
            <a:off x="716279" y="969840"/>
            <a:ext cx="7547187" cy="4185761"/>
          </a:xfrm>
          <a:prstGeom prst="rect">
            <a:avLst/>
          </a:prstGeom>
          <a:noFill/>
        </p:spPr>
        <p:txBody>
          <a:bodyPr wrap="square">
            <a:spAutoFit/>
          </a:bodyPr>
          <a:lstStyle/>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Ramalingam, B., Lakshmanan, A. K., Ilyas, M., Le, A. V., &amp; Elara, M. R. (2018). Cascaded machine-learning technique for debris classification in floor-cleaning robot application. Applied Sciences, 8(12), 2649.</a:t>
            </a:r>
          </a:p>
          <a:p>
            <a:pPr marL="285750" indent="-285750">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Yin, J., </a:t>
            </a:r>
            <a:r>
              <a:rPr lang="en-IN" sz="1400" dirty="0" err="1">
                <a:latin typeface="Times New Roman" panose="02020603050405020304" pitchFamily="18" charset="0"/>
                <a:cs typeface="Times New Roman" panose="02020603050405020304" pitchFamily="18" charset="0"/>
              </a:rPr>
              <a:t>Apuroop</a:t>
            </a:r>
            <a:r>
              <a:rPr lang="en-IN" sz="1400" dirty="0">
                <a:latin typeface="Times New Roman" panose="02020603050405020304" pitchFamily="18" charset="0"/>
                <a:cs typeface="Times New Roman" panose="02020603050405020304" pitchFamily="18" charset="0"/>
              </a:rPr>
              <a:t>, K. G. S., </a:t>
            </a:r>
            <a:r>
              <a:rPr lang="en-IN" sz="1400" dirty="0" err="1">
                <a:latin typeface="Times New Roman" panose="02020603050405020304" pitchFamily="18" charset="0"/>
                <a:cs typeface="Times New Roman" panose="02020603050405020304" pitchFamily="18" charset="0"/>
              </a:rPr>
              <a:t>Tamilselvam</a:t>
            </a:r>
            <a:r>
              <a:rPr lang="en-IN" sz="1400" dirty="0">
                <a:latin typeface="Times New Roman" panose="02020603050405020304" pitchFamily="18" charset="0"/>
                <a:cs typeface="Times New Roman" panose="02020603050405020304" pitchFamily="18" charset="0"/>
              </a:rPr>
              <a:t>, Y. K., Mohan, R. E., Ramalingam, B., &amp; Le, A. V. (2020). Table cleaning task by human support robot using deep learning technique. Sensors, 20(6), 1698. </a:t>
            </a:r>
          </a:p>
          <a:p>
            <a:pPr marL="285750" indent="-285750">
              <a:buFont typeface="Arial" panose="020B0604020202020204" pitchFamily="34" charset="0"/>
              <a:buChar char="•"/>
            </a:pPr>
            <a:r>
              <a:rPr lang="en-IN" kern="100" dirty="0">
                <a:effectLst/>
                <a:latin typeface="Calibri" panose="020F0502020204030204" pitchFamily="34" charset="0"/>
                <a:ea typeface="Calibri" panose="020F0502020204030204" pitchFamily="34" charset="0"/>
                <a:cs typeface="Times New Roman" panose="02020603050405020304" pitchFamily="18" charset="0"/>
              </a:rPr>
              <a:t>R. Gopalakrishnan, U. Ramani, K. U. Maheswari and M. </a:t>
            </a:r>
            <a:r>
              <a:rPr lang="en-IN" kern="100" dirty="0" err="1">
                <a:effectLst/>
                <a:latin typeface="Calibri" panose="020F0502020204030204" pitchFamily="34" charset="0"/>
                <a:ea typeface="Calibri" panose="020F0502020204030204" pitchFamily="34" charset="0"/>
                <a:cs typeface="Times New Roman" panose="02020603050405020304" pitchFamily="18" charset="0"/>
              </a:rPr>
              <a:t>Thilagaraj</a:t>
            </a:r>
            <a:r>
              <a:rPr lang="en-IN" kern="100" dirty="0">
                <a:effectLst/>
                <a:latin typeface="Calibri" panose="020F0502020204030204" pitchFamily="34" charset="0"/>
                <a:ea typeface="Calibri" panose="020F0502020204030204" pitchFamily="34" charset="0"/>
                <a:cs typeface="Times New Roman" panose="02020603050405020304" pitchFamily="18" charset="0"/>
              </a:rPr>
              <a:t>, "Design and Development of Controller Based Automatic Ground Cleaning Robot," 2022 6th International Conference on Computing Methodologies and Communication (ICCMC), Erode, India, 2022, pp. 491-494, doi:10.1109/ICCMC53470.2022.9753828.</a:t>
            </a:r>
          </a:p>
          <a:p>
            <a:pPr marL="285750" indent="-285750">
              <a:buFont typeface="Arial" panose="020B0604020202020204" pitchFamily="34" charset="0"/>
              <a:buChar char="•"/>
            </a:pPr>
            <a:r>
              <a:rPr lang="nl-NL" kern="100" dirty="0">
                <a:effectLst/>
                <a:latin typeface="Times New Roman" panose="02020603050405020304" pitchFamily="18" charset="0"/>
                <a:ea typeface="Calibri" panose="020F0502020204030204" pitchFamily="34" charset="0"/>
                <a:cs typeface="Times New Roman" panose="02020603050405020304" pitchFamily="18" charset="0"/>
              </a:rPr>
              <a:t>Prassler, E., Ritter, A., Schaeffer, C. et al. </a:t>
            </a: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 Short History of Cleaning Robots. Autonomous Robots 9, 211–226 (2000).</a:t>
            </a:r>
          </a:p>
          <a:p>
            <a:pPr marL="285750" indent="-285750">
              <a:buFont typeface="Arial" panose="020B0604020202020204" pitchFamily="34" charset="0"/>
              <a:buChar char="•"/>
            </a:pP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Mbunge</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Elliot, et al. "Application of deep learning and machine learning models to detect COVID-19 face masks-A review." </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Sustainable Operations and Computers</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2 (2021): 235-245.</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Zhao, Zhong-Qiu, et al. "Object detection with deep learning: A review." </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IEEE transactions on neural networks and learning systems</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30.11 (2019): 3212-3232.</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34030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43A6AEF-3BDF-B78A-8BC2-A47E39179158}"/>
              </a:ext>
            </a:extLst>
          </p:cNvPr>
          <p:cNvSpPr txBox="1"/>
          <p:nvPr/>
        </p:nvSpPr>
        <p:spPr>
          <a:xfrm>
            <a:off x="487180" y="1061512"/>
            <a:ext cx="8342027" cy="4462760"/>
          </a:xfrm>
          <a:prstGeom prst="rect">
            <a:avLst/>
          </a:prstGeom>
          <a:noFill/>
        </p:spPr>
        <p:txBody>
          <a:bodyPr wrap="square">
            <a:spAutoFit/>
          </a:bodyPr>
          <a:lstStyle/>
          <a:p>
            <a:pPr marL="285750" indent="-285750">
              <a:buFont typeface="Arial" panose="020B0604020202020204" pitchFamily="34" charset="0"/>
              <a:buChar char="•"/>
            </a:pP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Ferentinos</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Konstantinos P. "Deep learning models for plant disease detection and diagnosis." </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Computers and electronics in agriculture</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145 (2018): 311-318.</a:t>
            </a:r>
          </a:p>
          <a:p>
            <a:pPr marL="285750" indent="-285750">
              <a:buFont typeface="Arial" panose="020B0604020202020204" pitchFamily="34" charset="0"/>
              <a:buChar char="•"/>
            </a:pP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Zech, John R., et al. "Variable generalization performance of a deep learning model to detect pneumonia in chest radiographs: a cross-sectional study." </a:t>
            </a:r>
            <a:r>
              <a:rPr lang="en-IN" i="1"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PLoS</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medicine</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15.11 (2018): e1002683.</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Sankar, M.; Mudgal, D.;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Jalinder</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M.M.; et al: Green leaf disease detection using raspberry pi. In: 2019 1st International Conference on Innovations in Information and Communication Technology (ICIICT), pp. 1–6. IEEE (2019)</a:t>
            </a:r>
          </a:p>
          <a:p>
            <a:pPr marL="285750" indent="-285750">
              <a:buFont typeface="Arial" panose="020B0604020202020204" pitchFamily="34" charset="0"/>
              <a:buChar char="•"/>
            </a:pP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Venu, D. N. "IOT Surveillance Robot Using ESP-32 Wi-Fi CAM &amp; Arduino." </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IJFANS International Journal of Food and Nutritional Sciences</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11.5 (2022): 198-205.</a:t>
            </a:r>
          </a:p>
          <a:p>
            <a:pPr marL="285750" indent="-285750">
              <a:buFont typeface="Arial" panose="020B0604020202020204" pitchFamily="34" charset="0"/>
              <a:buChar char="•"/>
            </a:pP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Sanchez-</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Iborra</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Ramon, and Antonio F.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Skarmeta</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Tinyml</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-enabled frugal smart objects: Challenges and opportunities." </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IEEE Circuits and Systems Magazine</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20.3 (2020): 4-18.</a:t>
            </a:r>
          </a:p>
          <a:p>
            <a:pPr marL="285750" indent="-285750">
              <a:buFont typeface="Arial" panose="020B0604020202020204" pitchFamily="34" charset="0"/>
              <a:buChar char="•"/>
            </a:pP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Rakib, Abdul Fattah, et al. "A lightweight quantized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cnn</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model for plant disease recognition." Arabian Journal for Science and Engineering 49.3 (2024): 4097-4108.</a:t>
            </a:r>
          </a:p>
          <a:p>
            <a:pPr marL="285750" indent="-285750">
              <a:buFont typeface="Arial" panose="020B0604020202020204" pitchFamily="34" charset="0"/>
              <a:buChar char="•"/>
            </a:pPr>
            <a:r>
              <a:rPr lang="en-IN"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A. Paul, N. </a:t>
            </a:r>
            <a:r>
              <a:rPr lang="en-IN"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Rakhaine</a:t>
            </a:r>
            <a:r>
              <a:rPr lang="en-IN"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N. J. </a:t>
            </a:r>
            <a:r>
              <a:rPr lang="en-IN"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Ohee</a:t>
            </a:r>
            <a:r>
              <a:rPr lang="en-IN"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and A. </a:t>
            </a:r>
            <a:r>
              <a:rPr lang="en-IN"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Ahammad</a:t>
            </a:r>
            <a:r>
              <a:rPr lang="en-IN"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 Comprehensive Android App Based Solution for Automated Attendance and Management in Institutions Using IoT and </a:t>
            </a:r>
            <a:r>
              <a:rPr lang="en-IN"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TinyML</a:t>
            </a:r>
            <a:r>
              <a:rPr lang="en-IN"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2023 International Conference on Information and Communication Technology for Sustainable Development (ICICT4SD), Dhaka, Bangladesh, 2023, pp. 382-387, </a:t>
            </a:r>
            <a:r>
              <a:rPr lang="en-IN"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doi</a:t>
            </a:r>
            <a:r>
              <a:rPr lang="en-IN"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10.1109/ICICT4SD59951.2023.10303506</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70832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43A6AEF-3BDF-B78A-8BC2-A47E39179158}"/>
              </a:ext>
            </a:extLst>
          </p:cNvPr>
          <p:cNvSpPr txBox="1"/>
          <p:nvPr/>
        </p:nvSpPr>
        <p:spPr>
          <a:xfrm>
            <a:off x="487180" y="1061512"/>
            <a:ext cx="8342027" cy="4247317"/>
          </a:xfrm>
          <a:prstGeom prst="rect">
            <a:avLst/>
          </a:prstGeom>
          <a:noFill/>
        </p:spPr>
        <p:txBody>
          <a:bodyPr wrap="square">
            <a:spAutoFit/>
          </a:bodyPr>
          <a:lstStyle/>
          <a:p>
            <a:pPr marL="285750" indent="-285750">
              <a:buFont typeface="Arial" panose="020B0604020202020204" pitchFamily="34" charset="0"/>
              <a:buChar char="•"/>
            </a:pP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K. Dong, C. Zhou, Y.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Ruan</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and Y. Li, "MobileNetV2 Model for Image Classification," 2020 2nd International Conference on Information Technology and Computer Application (ITCA), Guangzhou, China, 2020, pp. 476-480,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doi</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10.1109/ITCA52113.2020.00106.</a:t>
            </a:r>
          </a:p>
          <a:p>
            <a:pPr marL="285750" indent="-285750">
              <a:buFont typeface="Arial" panose="020B0604020202020204" pitchFamily="34" charset="0"/>
              <a:buChar char="•"/>
            </a:pP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Gulzar, Yonis. "Fruit image classification model based on MobileNetV2 with deep transfer learning technique." Sustainability 15.3 (2023): 1906.</a:t>
            </a:r>
          </a:p>
          <a:p>
            <a:pPr marL="285750" indent="-285750">
              <a:buFont typeface="Arial" panose="020B0604020202020204" pitchFamily="34" charset="0"/>
              <a:buChar char="•"/>
            </a:pP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Indraswari</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Rarasmaya</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Rika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Rokhana</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and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Wiwiet</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Herulambang</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"Melanoma image classification based on MobileNetV2 network." Procedia computer science 197 (2022): 198-207</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Warden, Pete, and Daniel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Situnayake</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t>
            </a:r>
            <a:r>
              <a:rPr lang="en-IN" i="1"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Tinyml</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Machine learning with </a:t>
            </a:r>
            <a:r>
              <a:rPr lang="en-IN" i="1"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tensorflow</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lite on </a:t>
            </a:r>
            <a:r>
              <a:rPr lang="en-IN" i="1"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arduino</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and ultra-low-power microcontrollers</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O'Reilly Media, 2019.</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Zim, Md Ziaul Haque.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TinyML</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analysis of Xtensa LX6 microprocessor for neural network applications by ESP32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SoC.</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t>
            </a:r>
            <a:r>
              <a:rPr lang="en-IN" i="1"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arXiv</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preprint arXiv:2106.10652</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(2021).</a:t>
            </a:r>
          </a:p>
          <a:p>
            <a:pPr marL="285750" indent="-285750">
              <a:buFont typeface="Arial" panose="020B0604020202020204" pitchFamily="34" charset="0"/>
              <a:buChar char="•"/>
            </a:pP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Mach, Václav, et al. "Brushless DC motor control on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arduino</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platform." </a:t>
            </a:r>
            <a:r>
              <a:rPr lang="en-IN" i="1"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Przeglad</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a:t>
            </a:r>
            <a:r>
              <a:rPr lang="en-IN" i="1"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elektrotechniczny</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(2018).</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Sudharsan</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Bharath, Simone Salerno, and Rajiv Ranjan. "</a:t>
            </a:r>
            <a:r>
              <a:rPr lang="en-IN" kern="100" dirty="0" err="1">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TinyML</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-CAM: 80 FPS image recognition in 1 kB RAM." </a:t>
            </a:r>
            <a:r>
              <a:rPr lang="en-IN" i="1"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Proceedings of the 28th Annual International Conference on Mobile Computing And Networking</a:t>
            </a:r>
            <a:r>
              <a:rPr lang="en-IN" kern="100" dirty="0">
                <a:solidFill>
                  <a:srgbClr val="222222"/>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 2022.</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58020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58;p21"/>
          <p:cNvSpPr txBox="1">
            <a:spLocks/>
          </p:cNvSpPr>
          <p:nvPr/>
        </p:nvSpPr>
        <p:spPr>
          <a:xfrm>
            <a:off x="2290192" y="2353988"/>
            <a:ext cx="4720207" cy="60595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marL="0" marR="0" lvl="0" indent="0" defTabSz="914400" rtl="0" eaLnBrk="1" fontAlgn="auto" latinLnBrk="0" hangingPunct="1">
              <a:lnSpc>
                <a:spcPct val="100000"/>
              </a:lnSpc>
              <a:spcBef>
                <a:spcPts val="0"/>
              </a:spcBef>
              <a:spcAft>
                <a:spcPts val="0"/>
              </a:spcAft>
              <a:buClr>
                <a:srgbClr val="000000"/>
              </a:buClr>
              <a:buSzPts val="5200"/>
              <a:buFont typeface="Arial"/>
              <a:buNone/>
              <a:tabLst/>
              <a:defRPr/>
            </a:pPr>
            <a:r>
              <a:rPr kumimoji="0" lang="en-IN" sz="5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Thank you…</a:t>
            </a:r>
            <a:endParaRPr kumimoji="0" lang="en-IN" sz="5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85442807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8625</TotalTime>
  <Words>3727</Words>
  <Application>Microsoft Office PowerPoint</Application>
  <PresentationFormat>On-screen Show (16:9)</PresentationFormat>
  <Paragraphs>453</Paragraphs>
  <Slides>47</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47</vt:i4>
      </vt:variant>
    </vt:vector>
  </HeadingPairs>
  <TitlesOfParts>
    <vt:vector size="53" baseType="lpstr">
      <vt:lpstr>Arial</vt:lpstr>
      <vt:lpstr>Calibri</vt:lpstr>
      <vt:lpstr>Söhne</vt:lpstr>
      <vt:lpstr>Times New Roman</vt:lpstr>
      <vt:lpstr>Simple Light</vt:lpstr>
      <vt:lpstr>Office Theme</vt:lpstr>
      <vt:lpstr>AUTONOMOUS HOUSE CLEANING ROBOT WITH DEBRIS CLASSIFICATION FEATURE USING ADVANCED ML ALGORITHMS</vt:lpstr>
      <vt:lpstr>PowerPoint Presentation</vt:lpstr>
      <vt:lpstr>PowerPoint Presentation</vt:lpstr>
      <vt:lpstr>Problem Statement</vt:lpstr>
      <vt:lpstr>Objectives</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Hardware Components:</vt:lpstr>
      <vt:lpstr>PowerPoint Presentation</vt:lpstr>
      <vt:lpstr>Software requirements:</vt:lpstr>
      <vt:lpstr>Methodology</vt:lpstr>
      <vt:lpstr>PowerPoint Presentation</vt:lpstr>
      <vt:lpstr>CNN Framework:</vt:lpstr>
      <vt:lpstr>Detailed Workflow: </vt:lpstr>
      <vt:lpstr>PowerPoint Presentation</vt:lpstr>
      <vt:lpstr>PowerPoint Presentation</vt:lpstr>
      <vt:lpstr>TRAINING ML MODEL:</vt:lpstr>
      <vt:lpstr>PowerPoint Presentation</vt:lpstr>
      <vt:lpstr>PowerPoint Presentation</vt:lpstr>
      <vt:lpstr>PowerPoint Presentation</vt:lpstr>
      <vt:lpstr>PowerPoint Presentation</vt:lpstr>
      <vt:lpstr>PowerPoint Presentation</vt:lpstr>
      <vt:lpstr>Model Layer outline:</vt:lpstr>
      <vt:lpstr>PowerPoint Presentation</vt:lpstr>
      <vt:lpstr>PowerPoint Presentation</vt:lpstr>
      <vt:lpstr>PowerPoint Presentation</vt:lpstr>
      <vt:lpstr>PowerPoint Presentation</vt:lpstr>
      <vt:lpstr>PowerPoint Presentation</vt:lpstr>
      <vt:lpstr>ROBOT LAYOUT DESIGN</vt:lpstr>
      <vt:lpstr>PowerPoint Presentation</vt:lpstr>
      <vt:lpstr>PROTOTYPE ASSEMBLY</vt:lpstr>
      <vt:lpstr>PowerPoint Presentation</vt:lpstr>
      <vt:lpstr>PowerPoint Presentation</vt:lpstr>
      <vt:lpstr>Arduino setup</vt:lpstr>
      <vt:lpstr>Conclusion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FIBER REINFORCED POLYMER</dc:title>
  <dc:creator>USER</dc:creator>
  <cp:lastModifiedBy>SIDDARTHA ROYAL</cp:lastModifiedBy>
  <cp:revision>121</cp:revision>
  <dcterms:modified xsi:type="dcterms:W3CDTF">2024-05-17T01:31:22Z</dcterms:modified>
</cp:coreProperties>
</file>